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94" r:id="rId3"/>
    <p:sldId id="296" r:id="rId4"/>
    <p:sldId id="321" r:id="rId5"/>
    <p:sldId id="322" r:id="rId6"/>
    <p:sldId id="270" r:id="rId7"/>
    <p:sldId id="323" r:id="rId8"/>
    <p:sldId id="325" r:id="rId9"/>
    <p:sldId id="327" r:id="rId10"/>
    <p:sldId id="326" r:id="rId11"/>
    <p:sldId id="328" r:id="rId12"/>
    <p:sldId id="271" r:id="rId13"/>
    <p:sldId id="281" r:id="rId14"/>
    <p:sldId id="282" r:id="rId15"/>
    <p:sldId id="283" r:id="rId16"/>
    <p:sldId id="284" r:id="rId17"/>
    <p:sldId id="285" r:id="rId18"/>
    <p:sldId id="320" r:id="rId19"/>
    <p:sldId id="302" r:id="rId20"/>
    <p:sldId id="304" r:id="rId21"/>
    <p:sldId id="314" r:id="rId22"/>
    <p:sldId id="324" r:id="rId23"/>
    <p:sldId id="300" r:id="rId24"/>
    <p:sldId id="305" r:id="rId25"/>
    <p:sldId id="306" r:id="rId26"/>
    <p:sldId id="318" r:id="rId27"/>
    <p:sldId id="307" r:id="rId2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5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DDE3AAA-BF80-4234-BD71-1D4FD1E577CD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5C1EB61-07A8-4C92-8AC7-0BAA94D072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1EB61-07A8-4C92-8AC7-0BAA94D0722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E56C-0C9F-48AD-8604-9B0492195E08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CAF68-6AA9-4847-8C24-283D922DCFC9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3061-E1A9-4295-8EB8-5DAB6AA7C10D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E288E-6FCE-432F-8A86-D1519E259088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7508-FBE9-4866-8F94-853449BFAB4F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4FAB-F25B-4C5A-8DE6-BCC10DA65C1C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EA629-2C9A-4631-B406-D8FB1F15D4B0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D346-3FBF-45A3-9C8F-683B28788D3B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8BB76-560C-469F-A85A-AA88F20B2B56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9A23B-CF2C-4623-89EC-2A9DBF6CAB99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9A6A9-5CA0-458F-96AA-4519991C89AB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9035E-1304-42C8-8A51-E8D9D3C6A398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25541-9199-4CEB-864F-D0EC7E5FE63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1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u="sng"/>
              <a:t>Class 24</a:t>
            </a:r>
            <a:br>
              <a:rPr lang="en-US" u="sng"/>
            </a:br>
            <a:r>
              <a:rPr lang="en-US" u="sng"/>
              <a:t>Firms, CEOs, </a:t>
            </a:r>
            <a:r>
              <a:rPr lang="en-US" u="sng" dirty="0"/>
              <a:t>and Taxes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35814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What explain financial structure</a:t>
            </a:r>
          </a:p>
          <a:p>
            <a:pPr marL="514350" indent="-514350" algn="l">
              <a:buAutoNum type="arabicPeriod"/>
            </a:pPr>
            <a:r>
              <a:rPr lang="en-US" b="1" dirty="0"/>
              <a:t>Compensation</a:t>
            </a:r>
          </a:p>
          <a:p>
            <a:pPr marL="971550" lvl="1" indent="-514350" algn="l">
              <a:buAutoNum type="arabicPeriod"/>
            </a:pPr>
            <a:r>
              <a:rPr lang="en-US" b="1" dirty="0"/>
              <a:t>Schemes</a:t>
            </a:r>
          </a:p>
          <a:p>
            <a:pPr marL="971550" lvl="1" indent="-514350" algn="l">
              <a:buAutoNum type="arabicPeriod"/>
            </a:pPr>
            <a:r>
              <a:rPr lang="en-US" b="1" dirty="0"/>
              <a:t>CEOs</a:t>
            </a:r>
          </a:p>
          <a:p>
            <a:pPr marL="971550" lvl="1" indent="-514350" algn="l">
              <a:buAutoNum type="arabicPeriod"/>
            </a:pPr>
            <a:r>
              <a:rPr lang="en-US" b="1" dirty="0"/>
              <a:t>Example </a:t>
            </a:r>
          </a:p>
          <a:p>
            <a:pPr algn="l"/>
            <a:r>
              <a:rPr lang="en-US" b="1" dirty="0"/>
              <a:t>2. Taxes and balance sheets</a:t>
            </a:r>
          </a:p>
          <a:p>
            <a:pPr algn="l"/>
            <a:r>
              <a:rPr lang="en-US" b="1" dirty="0"/>
              <a:t>	Debt and equity</a:t>
            </a:r>
          </a:p>
          <a:p>
            <a:pPr algn="l"/>
            <a:r>
              <a:rPr lang="en-US" b="1" dirty="0"/>
              <a:t>	Accounting and depreciation</a:t>
            </a:r>
          </a:p>
          <a:p>
            <a:pPr algn="l"/>
            <a:r>
              <a:rPr lang="en-US" b="1" dirty="0"/>
              <a:t>4. Financial Regulation</a:t>
            </a:r>
          </a:p>
          <a:p>
            <a:pPr algn="l"/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1E523-4A3A-1803-1097-B7143620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Firm as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439A7-1255-8735-CADA-8104AAE7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Tasks and outcomes</a:t>
            </a:r>
          </a:p>
          <a:p>
            <a:r>
              <a:rPr lang="en-US" dirty="0"/>
              <a:t>Compensation depends what the supervisor can observe.</a:t>
            </a:r>
          </a:p>
          <a:p>
            <a:endParaRPr lang="en-US" dirty="0"/>
          </a:p>
          <a:p>
            <a:r>
              <a:rPr lang="en-US" dirty="0"/>
              <a:t>Wages</a:t>
            </a:r>
          </a:p>
          <a:p>
            <a:r>
              <a:rPr lang="en-US" dirty="0"/>
              <a:t>Promotion and bonuses</a:t>
            </a:r>
          </a:p>
          <a:p>
            <a:r>
              <a:rPr lang="en-US" dirty="0"/>
              <a:t>(call) Stock options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6E89E-9763-CBBE-9420-165B0829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5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48D7-1260-90D4-962C-E070AD80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pay wages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C825B-ED6E-8EAF-CD00-8F6FE8D16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Cost of wages</a:t>
            </a:r>
          </a:p>
          <a:p>
            <a:pPr lvl="1"/>
            <a:r>
              <a:rPr lang="en-US" dirty="0"/>
              <a:t>Monitoring is necessary</a:t>
            </a:r>
          </a:p>
          <a:p>
            <a:r>
              <a:rPr lang="en-US" dirty="0"/>
              <a:t>When to offer wages</a:t>
            </a:r>
          </a:p>
          <a:p>
            <a:pPr lvl="2"/>
            <a:r>
              <a:rPr lang="en-US" dirty="0"/>
              <a:t>Routine tasks that are easily described</a:t>
            </a:r>
          </a:p>
          <a:p>
            <a:pPr lvl="2"/>
            <a:r>
              <a:rPr lang="en-US" dirty="0"/>
              <a:t>Individual output is easily observable</a:t>
            </a:r>
          </a:p>
          <a:p>
            <a:r>
              <a:rPr lang="en-US" dirty="0"/>
              <a:t>Benefits of wages</a:t>
            </a:r>
          </a:p>
          <a:p>
            <a:pPr lvl="1"/>
            <a:r>
              <a:rPr lang="en-US" dirty="0"/>
              <a:t>Low risk for the employee</a:t>
            </a:r>
          </a:p>
          <a:p>
            <a:pPr lvl="1"/>
            <a:r>
              <a:rPr lang="en-US" dirty="0"/>
              <a:t>Less sharing of upside (for stockholders)</a:t>
            </a:r>
          </a:p>
          <a:p>
            <a:r>
              <a:rPr lang="en-US" dirty="0"/>
              <a:t>Note piece work and wages here are equivalent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D116E-08AE-11BB-B7AA-477D34E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78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3878-5D0F-24D7-5EE5-B8E7FEDA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bonuses and Promotions?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4C133-218B-023B-3755-B92FCBDC4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Cost of Bonuses</a:t>
            </a:r>
          </a:p>
          <a:p>
            <a:pPr lvl="1"/>
            <a:r>
              <a:rPr lang="en-US" dirty="0"/>
              <a:t>Expensive and sharing of upside</a:t>
            </a:r>
          </a:p>
          <a:p>
            <a:r>
              <a:rPr lang="en-US" dirty="0"/>
              <a:t>Cost of promotions</a:t>
            </a:r>
          </a:p>
          <a:p>
            <a:pPr lvl="1"/>
            <a:r>
              <a:rPr lang="en-US" dirty="0"/>
              <a:t>Limit recruiting to key jobs to insiders</a:t>
            </a:r>
          </a:p>
          <a:p>
            <a:r>
              <a:rPr lang="en-US" dirty="0"/>
              <a:t>When to pay B&amp;P ?</a:t>
            </a:r>
          </a:p>
          <a:p>
            <a:pPr lvl="1"/>
            <a:r>
              <a:rPr lang="en-US" dirty="0"/>
              <a:t>Tasks hard to describe (contract incomplete)</a:t>
            </a:r>
          </a:p>
          <a:p>
            <a:pPr lvl="1"/>
            <a:r>
              <a:rPr lang="en-US" dirty="0"/>
              <a:t>Effort hard to measure</a:t>
            </a:r>
          </a:p>
          <a:p>
            <a:pPr lvl="1"/>
            <a:r>
              <a:rPr lang="en-US" dirty="0"/>
              <a:t>Can monitor individual output.</a:t>
            </a:r>
          </a:p>
          <a:p>
            <a:r>
              <a:rPr lang="en-US" dirty="0"/>
              <a:t>Benefits of B&amp;P</a:t>
            </a:r>
          </a:p>
          <a:p>
            <a:pPr lvl="1"/>
            <a:r>
              <a:rPr lang="en-US" dirty="0"/>
              <a:t>Employe has target and get a non-linear payout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CE676-F5D9-E1B8-EBAA-160E5D95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547F-33AA-CD1C-BB0B-F307C82E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stock options?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CC45B-4841-C4BD-A63E-02C309CCE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Benefits of options</a:t>
            </a:r>
          </a:p>
          <a:p>
            <a:pPr lvl="1"/>
            <a:r>
              <a:rPr lang="en-US" dirty="0"/>
              <a:t>Focus employees on the upside of the firm</a:t>
            </a:r>
          </a:p>
          <a:p>
            <a:pPr lvl="1"/>
            <a:r>
              <a:rPr lang="en-US" dirty="0"/>
              <a:t>Reward risk taking</a:t>
            </a:r>
          </a:p>
          <a:p>
            <a:r>
              <a:rPr lang="en-US" dirty="0"/>
              <a:t>When to use options</a:t>
            </a:r>
          </a:p>
          <a:p>
            <a:pPr lvl="1"/>
            <a:r>
              <a:rPr lang="en-US" dirty="0"/>
              <a:t>Employees with a lot of discretion/authority</a:t>
            </a:r>
          </a:p>
          <a:p>
            <a:pPr lvl="1"/>
            <a:r>
              <a:rPr lang="en-US" dirty="0"/>
              <a:t>Hard to monitor individual effort</a:t>
            </a:r>
          </a:p>
          <a:p>
            <a:r>
              <a:rPr lang="en-US" dirty="0"/>
              <a:t>Cost of stock options</a:t>
            </a:r>
          </a:p>
          <a:p>
            <a:pPr lvl="1"/>
            <a:r>
              <a:rPr lang="en-US" dirty="0"/>
              <a:t>Dilute equity</a:t>
            </a:r>
          </a:p>
          <a:p>
            <a:pPr lvl="1"/>
            <a:r>
              <a:rPr lang="en-US" dirty="0"/>
              <a:t>Reward every option holder based on aggregate not individual performance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13987-A798-7906-09C4-BAF8EC5F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30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3: The CEO as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Shareholders do not manage the firm they</a:t>
            </a:r>
          </a:p>
          <a:p>
            <a:pPr lvl="1"/>
            <a:r>
              <a:rPr lang="en-US" dirty="0"/>
              <a:t>Delegate to management to the board of directors who appoints the executive officers (CEO…)</a:t>
            </a:r>
          </a:p>
          <a:p>
            <a:pPr lvl="1"/>
            <a:r>
              <a:rPr lang="en-US" dirty="0"/>
              <a:t>They can vote out the board of directors but most often they cannot fire the Executive officers directly.</a:t>
            </a:r>
          </a:p>
          <a:p>
            <a:r>
              <a:rPr lang="en-US" dirty="0"/>
              <a:t>Management has (temporary) control </a:t>
            </a:r>
          </a:p>
          <a:p>
            <a:pPr lvl="1"/>
            <a:r>
              <a:rPr lang="en-US" dirty="0"/>
              <a:t>But it does not own the firm.</a:t>
            </a:r>
          </a:p>
          <a:p>
            <a:pPr lvl="1"/>
            <a:r>
              <a:rPr lang="en-US" dirty="0"/>
              <a:t>So it faces incentive problems: it has to work to make the company profitable, but if it gets a wage it does not care about outcomes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FF12-80FD-7B49-170D-528D3896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Incentives for decision maker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A7550-40AD-3A59-F465-15D18EB96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Example based on the financial structure of the Citroën company—the first European company to introduced the assembly line </a:t>
            </a:r>
          </a:p>
          <a:p>
            <a:r>
              <a:rPr lang="en-US" dirty="0"/>
              <a:t>In 1928 Citroën had 800,000 shares outstanding, with a par value of 500 francs. They pay a minimum dividend of 35 francs (7%).</a:t>
            </a:r>
          </a:p>
          <a:p>
            <a:pPr lvl="1"/>
            <a:r>
              <a:rPr lang="en-US" dirty="0"/>
              <a:t>André </a:t>
            </a:r>
            <a:r>
              <a:rPr lang="en-US" dirty="0" err="1"/>
              <a:t>Citroën,the</a:t>
            </a:r>
            <a:r>
              <a:rPr lang="en-US" dirty="0"/>
              <a:t> founder, owns 200,000 shares</a:t>
            </a:r>
          </a:p>
          <a:p>
            <a:pPr lvl="1"/>
            <a:r>
              <a:rPr lang="en-US" dirty="0"/>
              <a:t>And via founders’ shares has the right to 30% of the profit above the dividend.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5FB43-FD7A-FFFD-0EB9-7AD4BB33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1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307E4-8306-48EB-DF84-37400DA9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281FF-26F1-AB34-7B13-CE70333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7638"/>
            <a:ext cx="8458200" cy="470852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dirty="0"/>
              <a:t>Financial structure</a:t>
            </a:r>
          </a:p>
          <a:p>
            <a:r>
              <a:rPr lang="en-US" dirty="0"/>
              <a:t>300 million of debt (D)</a:t>
            </a:r>
          </a:p>
          <a:p>
            <a:pPr lvl="1"/>
            <a:r>
              <a:rPr lang="en-US" dirty="0"/>
              <a:t>Gets payoff first and is fully paid when cash flow (</a:t>
            </a:r>
            <a:r>
              <a:rPr lang="el-GR" dirty="0"/>
              <a:t>π</a:t>
            </a:r>
            <a:r>
              <a:rPr lang="en-US" dirty="0"/>
              <a:t>= </a:t>
            </a:r>
            <a:r>
              <a:rPr lang="en-US" dirty="0" err="1"/>
              <a:t>rD</a:t>
            </a:r>
            <a:r>
              <a:rPr lang="en-US" dirty="0"/>
              <a:t>)</a:t>
            </a:r>
          </a:p>
          <a:p>
            <a:r>
              <a:rPr lang="en-US" dirty="0"/>
              <a:t>400 million in equity (E)</a:t>
            </a:r>
          </a:p>
          <a:p>
            <a:pPr lvl="1"/>
            <a:r>
              <a:rPr lang="en-US" dirty="0"/>
              <a:t>Gets payoff second if </a:t>
            </a:r>
            <a:r>
              <a:rPr lang="el-GR" dirty="0"/>
              <a:t>π </a:t>
            </a:r>
            <a:r>
              <a:rPr lang="en-US" dirty="0"/>
              <a:t>&gt;</a:t>
            </a:r>
            <a:r>
              <a:rPr lang="en-US" dirty="0" err="1"/>
              <a:t>rD</a:t>
            </a:r>
            <a:r>
              <a:rPr lang="en-US" dirty="0"/>
              <a:t>, minimum dividend fully paid when </a:t>
            </a:r>
            <a:r>
              <a:rPr lang="el-GR" dirty="0"/>
              <a:t>π</a:t>
            </a:r>
            <a:r>
              <a:rPr lang="en-US" dirty="0"/>
              <a:t>= rD+0.07E +min  </a:t>
            </a:r>
          </a:p>
          <a:p>
            <a:r>
              <a:rPr lang="en-US" dirty="0"/>
              <a:t>Founder’s shares</a:t>
            </a:r>
          </a:p>
          <a:p>
            <a:pPr lvl="1"/>
            <a:r>
              <a:rPr lang="en-US" dirty="0"/>
              <a:t>Gets payoff second if </a:t>
            </a:r>
            <a:r>
              <a:rPr lang="el-GR" dirty="0"/>
              <a:t>π </a:t>
            </a:r>
            <a:r>
              <a:rPr lang="en-US" dirty="0"/>
              <a:t>&gt;rD+0.07E</a:t>
            </a:r>
          </a:p>
          <a:p>
            <a:pPr lvl="1"/>
            <a:r>
              <a:rPr lang="en-US" dirty="0"/>
              <a:t>then gets 0.3</a:t>
            </a:r>
            <a:r>
              <a:rPr lang="el-GR" dirty="0"/>
              <a:t>π</a:t>
            </a:r>
            <a:r>
              <a:rPr lang="en-US" dirty="0"/>
              <a:t>-rD-0.07E</a:t>
            </a:r>
          </a:p>
          <a:p>
            <a:r>
              <a:rPr lang="en-US" dirty="0"/>
              <a:t>Both of the last two are options </a:t>
            </a:r>
          </a:p>
          <a:p>
            <a:pPr lvl="1"/>
            <a:r>
              <a:rPr lang="en-US" dirty="0"/>
              <a:t>Different strike prices (on cash flows)</a:t>
            </a:r>
          </a:p>
          <a:p>
            <a:pPr lvl="1"/>
            <a:r>
              <a:rPr lang="en-US" dirty="0"/>
              <a:t>Notice pays off do not have slope of 1 (as in standard option).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01527-66E7-BB59-9619-B97E6635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8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FA0D-14DB-59E0-E64C-F0CED697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dirty="0"/>
              <a:t>Lazard Frères is the investment bank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FD6C9-BF7C-2C8C-833E-C52014750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dirty="0"/>
              <a:t>They own the debt</a:t>
            </a:r>
          </a:p>
          <a:p>
            <a:r>
              <a:rPr lang="en-US" dirty="0"/>
              <a:t>Andre Citroen has all his wealth in the firm, and wants to diversify</a:t>
            </a:r>
          </a:p>
          <a:p>
            <a:r>
              <a:rPr lang="en-US" dirty="0"/>
              <a:t>Design the public offering</a:t>
            </a:r>
          </a:p>
          <a:p>
            <a:pPr marL="971550" lvl="1" indent="-514350">
              <a:buAutoNum type="arabicParenR"/>
            </a:pPr>
            <a:r>
              <a:rPr lang="en-US" dirty="0"/>
              <a:t>Citroën has control (66% of the votes) but has to keep 85% of his shares and keep control</a:t>
            </a:r>
          </a:p>
          <a:p>
            <a:pPr marL="971550" lvl="1" indent="-514350">
              <a:buAutoNum type="arabicParenR"/>
            </a:pPr>
            <a:r>
              <a:rPr lang="en-US" dirty="0"/>
              <a:t>Transform the founder’s rights into 750,000 share that Citroën can put on the market</a:t>
            </a:r>
          </a:p>
          <a:p>
            <a:pPr marL="971550" lvl="1" indent="-514350">
              <a:buAutoNum type="arabicParenR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478A3-295E-0AC0-294A-4D32DE16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4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F830-41BC-B139-F79C-9F1BBEAA1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incentives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4188A-9762-D572-9B4F-4D469FBD1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When Citroën sells stock, he increases the relative importance of the high strike price option</a:t>
            </a:r>
          </a:p>
          <a:p>
            <a:pPr lvl="1"/>
            <a:r>
              <a:rPr lang="en-US" dirty="0"/>
              <a:t>More risk-taking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Citroën sells founders’ shares, he increases the relative importance of the low strike price option.</a:t>
            </a:r>
          </a:p>
          <a:p>
            <a:pPr lvl="1"/>
            <a:r>
              <a:rPr lang="en-US" dirty="0"/>
              <a:t>less risk-taking</a:t>
            </a:r>
          </a:p>
          <a:p>
            <a:r>
              <a:rPr lang="en-US" dirty="0"/>
              <a:t>Changes in portfolio affect incentives Lazard Frères wants the second outcome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0513B-EDF8-2466-F6DE-1F6E3E4F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5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F9021-43D6-FB80-4C94-7EEF5BA3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C7515-B20A-B3E3-5BED-B84100CC2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17638"/>
            <a:ext cx="8382000" cy="47085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1934, the firm is in great difficult, and André Citroën pledges all his shares to Michelin his primary creditor to secure one more loan </a:t>
            </a:r>
          </a:p>
          <a:p>
            <a:r>
              <a:rPr lang="en-US" dirty="0"/>
              <a:t>Then, Citroën still owns 178,000 shares of the firm and 200,000 founder’s shares. So he sold about </a:t>
            </a:r>
          </a:p>
          <a:p>
            <a:pPr lvl="1"/>
            <a:r>
              <a:rPr lang="en-US" dirty="0"/>
              <a:t>10% of his equity (the low strike option)</a:t>
            </a:r>
          </a:p>
          <a:p>
            <a:pPr lvl="1"/>
            <a:r>
              <a:rPr lang="en-US" dirty="0"/>
              <a:t>73.3% of his founders shares (the high strike option)</a:t>
            </a:r>
          </a:p>
          <a:p>
            <a:r>
              <a:rPr lang="en-US" dirty="0"/>
              <a:t>Good for the bondholders.</a:t>
            </a:r>
          </a:p>
          <a:p>
            <a:r>
              <a:rPr lang="en-US" dirty="0" err="1"/>
              <a:t>Note:Citroën</a:t>
            </a:r>
            <a:r>
              <a:rPr lang="en-US" dirty="0"/>
              <a:t> still goes bankrupt because of the Great Depression. Michelin exercise their option on André Citroën’s shares and own the firm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33A29-4989-8407-4627-2EE00597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75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problem of control in large firms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Ideally firms work to maximize shareholder value</a:t>
            </a:r>
          </a:p>
          <a:p>
            <a:pPr lvl="1"/>
            <a:r>
              <a:rPr lang="en-US" dirty="0"/>
              <a:t>Management is the agent of the shareholder</a:t>
            </a:r>
          </a:p>
          <a:p>
            <a:pPr lvl="1"/>
            <a:r>
              <a:rPr lang="en-US" dirty="0"/>
              <a:t>In practice management is in control</a:t>
            </a:r>
          </a:p>
          <a:p>
            <a:r>
              <a:rPr lang="en-US" dirty="0"/>
              <a:t>Current board and current CEO chose new board members and as long as firms are reasonably profitable, shareholder votes are pro-forma</a:t>
            </a:r>
          </a:p>
          <a:p>
            <a:r>
              <a:rPr lang="en-US" dirty="0"/>
              <a:t>Problem is that management does not want to maximize profit. It wants to maximize its return (value of option….likelihood of business, likelihood of remaining in job)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Pay for performance solve some of this but</a:t>
            </a:r>
          </a:p>
          <a:p>
            <a:r>
              <a:rPr lang="en-US" dirty="0"/>
              <a:t>Can induce either not enough risk taking</a:t>
            </a:r>
          </a:p>
          <a:p>
            <a:pPr lvl="1"/>
            <a:r>
              <a:rPr lang="en-US" dirty="0"/>
              <a:t>Management does not care enough about the up side return</a:t>
            </a:r>
          </a:p>
          <a:p>
            <a:pPr lvl="1"/>
            <a:r>
              <a:rPr lang="en-US" dirty="0"/>
              <a:t>Because management is risk averse</a:t>
            </a:r>
          </a:p>
          <a:p>
            <a:r>
              <a:rPr lang="en-US" dirty="0"/>
              <a:t>Can be too much risk taking</a:t>
            </a:r>
          </a:p>
          <a:p>
            <a:pPr lvl="1"/>
            <a:r>
              <a:rPr lang="en-US" dirty="0"/>
              <a:t>Management does not care enough about the down side</a:t>
            </a:r>
          </a:p>
          <a:p>
            <a:pPr lvl="1"/>
            <a:r>
              <a:rPr lang="en-US" dirty="0"/>
              <a:t>Lots of option that are not in the money (S&lt;K)</a:t>
            </a:r>
          </a:p>
          <a:p>
            <a:r>
              <a:rPr lang="en-US" dirty="0"/>
              <a:t>This is hard to fine tune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Also induces issues about the level of compensation.</a:t>
            </a:r>
          </a:p>
          <a:p>
            <a:r>
              <a:rPr lang="en-US" dirty="0"/>
              <a:t>Management’s private incentives are not to minimize compensation</a:t>
            </a:r>
          </a:p>
          <a:p>
            <a:r>
              <a:rPr lang="en-US" dirty="0"/>
              <a:t>Look at some figures and tables from</a:t>
            </a:r>
          </a:p>
          <a:p>
            <a:r>
              <a:rPr lang="en-US" sz="2000" b="1" dirty="0" err="1"/>
              <a:t>Carola</a:t>
            </a:r>
            <a:r>
              <a:rPr lang="en-US" sz="2000" b="1" dirty="0"/>
              <a:t> Frydman and Raven Saks.   Executive Compensation: A New View from a Long-Term Perspective, 1936-2005 . (</a:t>
            </a:r>
            <a:r>
              <a:rPr lang="en-US" sz="2000" b="1" dirty="0" err="1"/>
              <a:t>RevFinStudies</a:t>
            </a:r>
            <a:r>
              <a:rPr lang="en-US" sz="2000" b="1" dirty="0"/>
              <a:t> 2010)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450760"/>
            <a:ext cx="7286625" cy="530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1E6A6F-A894-C71B-1762-01EA593A11FB}"/>
              </a:ext>
            </a:extLst>
          </p:cNvPr>
          <p:cNvSpPr txBox="1"/>
          <p:nvPr/>
        </p:nvSpPr>
        <p:spPr>
          <a:xfrm>
            <a:off x="76200" y="5756185"/>
            <a:ext cx="563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Frydman, Carola, and Raven E. Saks. "Executive compensation: A new view from a long-term perspective, 1936–2005." </a:t>
            </a:r>
            <a:r>
              <a:rPr lang="en-US" i="1" dirty="0"/>
              <a:t>The Review of Financial Studies</a:t>
            </a:r>
            <a:r>
              <a:rPr lang="en-US" dirty="0"/>
              <a:t> 23.5 (2010)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533400"/>
            <a:ext cx="641244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FDA4A3-FE3A-600A-D133-185E8128A7EC}"/>
              </a:ext>
            </a:extLst>
          </p:cNvPr>
          <p:cNvSpPr txBox="1"/>
          <p:nvPr/>
        </p:nvSpPr>
        <p:spPr>
          <a:xfrm>
            <a:off x="1905000" y="5462757"/>
            <a:ext cx="563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Frydman, Carola, and Raven E. Saks. "Executive compensation: A new view from a long-term perspective, 1936–2005." </a:t>
            </a:r>
            <a:r>
              <a:rPr lang="en-US" i="1" dirty="0"/>
              <a:t>The Review of Financial Studies</a:t>
            </a:r>
            <a:r>
              <a:rPr lang="en-US" dirty="0"/>
              <a:t> 23.5 (2010)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838200"/>
            <a:ext cx="7334250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8736-E148-D3D9-29B5-2AF2654E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and Finance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19DBC-6C6E-F2F6-58B3-5336B29BA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C9A38-B373-C466-5F69-3EE588CE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66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E3DB-81B5-9480-2E78-7B5C6C8A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Pyramids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060B6-C062-DCC8-7571-AA9ADB4B0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profits are taxed affects organizations</a:t>
            </a:r>
          </a:p>
          <a:p>
            <a:r>
              <a:rPr lang="en-US" dirty="0"/>
              <a:t>Company A worth $102 million wants to control a supplier B worth $100 million</a:t>
            </a:r>
          </a:p>
          <a:p>
            <a:pPr lvl="1"/>
            <a:r>
              <a:rPr lang="en-US" dirty="0"/>
              <a:t>1. issue $51M and buy 51% of B</a:t>
            </a:r>
          </a:p>
          <a:p>
            <a:pPr lvl="1"/>
            <a:r>
              <a:rPr lang="en-US" dirty="0"/>
              <a:t>2 issue $100M and buy 100% of B</a:t>
            </a:r>
          </a:p>
          <a:p>
            <a:r>
              <a:rPr lang="en-US" dirty="0"/>
              <a:t>Which do you choose?</a:t>
            </a:r>
          </a:p>
          <a:p>
            <a:r>
              <a:rPr lang="en-US" dirty="0"/>
              <a:t>Key part of General Electric early 20</a:t>
            </a:r>
            <a:r>
              <a:rPr lang="en-US" baseline="30000" dirty="0"/>
              <a:t>th</a:t>
            </a:r>
            <a:r>
              <a:rPr lang="en-US" dirty="0"/>
              <a:t> century expansion, ruled out by reforms in the 1930s,</a:t>
            </a:r>
          </a:p>
          <a:p>
            <a:pPr lvl="1"/>
            <a:r>
              <a:rPr lang="en-US" dirty="0"/>
              <a:t>Tender offer have to be made for all of the stock.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5547F-C5BB-8A1B-58B2-6DFC6980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77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0467-0BE8-15DC-0B6E-C4A54A189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0DEB-EA67-E36F-DB49-F813DE9FA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1. issue $51M and buy 51% of B</a:t>
            </a:r>
          </a:p>
          <a:p>
            <a:pPr lvl="1"/>
            <a:r>
              <a:rPr lang="en-US" dirty="0"/>
              <a:t>Cheaper</a:t>
            </a:r>
          </a:p>
          <a:p>
            <a:pPr lvl="1"/>
            <a:r>
              <a:rPr lang="en-US" dirty="0"/>
              <a:t>But if profits from B are taxed at B and then again at A </a:t>
            </a:r>
          </a:p>
          <a:p>
            <a:pPr lvl="2"/>
            <a:r>
              <a:rPr lang="en-US" dirty="0"/>
              <a:t>not so good.</a:t>
            </a:r>
          </a:p>
          <a:p>
            <a:r>
              <a:rPr lang="en-US" dirty="0"/>
              <a:t>2. issue $100M and buy 100% of B</a:t>
            </a:r>
          </a:p>
          <a:p>
            <a:pPr lvl="1"/>
            <a:r>
              <a:rPr lang="en-US" dirty="0"/>
              <a:t>More expensive</a:t>
            </a:r>
          </a:p>
          <a:p>
            <a:pPr lvl="1"/>
            <a:r>
              <a:rPr lang="en-US" dirty="0"/>
              <a:t>Avoids the double taxation of profits at A and B</a:t>
            </a:r>
          </a:p>
          <a:p>
            <a:r>
              <a:rPr lang="en-US" dirty="0"/>
              <a:t>Tax in US is 2. Tax in Korea, Japan, and Italy is 1.</a:t>
            </a:r>
          </a:p>
          <a:p>
            <a:pPr lvl="1"/>
            <a:r>
              <a:rPr lang="en-US" dirty="0"/>
              <a:t>Where are the pyramids?</a:t>
            </a:r>
          </a:p>
          <a:p>
            <a:r>
              <a:rPr lang="en-US" dirty="0"/>
              <a:t>Note: </a:t>
            </a:r>
          </a:p>
          <a:p>
            <a:pPr lvl="1"/>
            <a:r>
              <a:rPr lang="en-US" dirty="0"/>
              <a:t>it also matters how tender offers are made. In the US you can’t make a tender offer for 51% (more on regulation)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3BD69-C34E-0B71-15D0-B6944034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9780E5-4A0E-3581-6B3F-A51E864BD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59442"/>
            <a:ext cx="8103053" cy="57916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6CFF4-3DCD-887D-2BAF-FFB9C5FD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EDFAE-D61E-3DD1-EFA2-1579BC521BA9}"/>
              </a:ext>
            </a:extLst>
          </p:cNvPr>
          <p:cNvSpPr txBox="1"/>
          <p:nvPr/>
        </p:nvSpPr>
        <p:spPr>
          <a:xfrm>
            <a:off x="1447800" y="6052227"/>
            <a:ext cx="579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ffectLst/>
                <a:latin typeface="Arial" panose="020B0604020202020204" pitchFamily="34" charset="0"/>
              </a:rPr>
              <a:t>The History of Corporate Ownership in Italy 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Alexander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Aganin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and Paolo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Volpin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2005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30317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8939-C38B-5126-8D1B-DC6F17E40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dollar saved is a dollar 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28BED-FA10-9277-304F-51FF21CD7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1174-04BE-3F08-1960-C2F69F27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58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AE29-4F71-578F-0978-377B6C5B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and balance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95C23-3C8C-3B21-03CD-5898E584A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Debt and Equity</a:t>
            </a:r>
          </a:p>
          <a:p>
            <a:pPr lvl="1"/>
            <a:r>
              <a:rPr lang="en-US" dirty="0"/>
              <a:t>Cash flow to debt is cost (not taxed as a corporation)</a:t>
            </a:r>
          </a:p>
          <a:p>
            <a:pPr lvl="1"/>
            <a:r>
              <a:rPr lang="en-US" dirty="0"/>
              <a:t>Cash flow to equity is profit</a:t>
            </a:r>
          </a:p>
          <a:p>
            <a:r>
              <a:rPr lang="en-US" dirty="0"/>
              <a:t>Depreciation</a:t>
            </a:r>
          </a:p>
          <a:p>
            <a:pPr lvl="1"/>
            <a:r>
              <a:rPr lang="en-US" dirty="0"/>
              <a:t>Depreciation is a cost. The rate is something government has to agree to</a:t>
            </a:r>
          </a:p>
          <a:p>
            <a:r>
              <a:rPr lang="en-US" dirty="0"/>
              <a:t>Compensation </a:t>
            </a:r>
          </a:p>
          <a:p>
            <a:pPr lvl="1"/>
            <a:r>
              <a:rPr lang="en-US" dirty="0"/>
              <a:t>Some forms of compensation taxed as income</a:t>
            </a:r>
          </a:p>
          <a:p>
            <a:pPr lvl="1"/>
            <a:r>
              <a:rPr lang="en-US" dirty="0"/>
              <a:t>Some forms of compensation taxes as capital gains</a:t>
            </a:r>
          </a:p>
          <a:p>
            <a:pPr lvl="2"/>
            <a:r>
              <a:rPr lang="en-US" dirty="0"/>
              <a:t>Carried interest provisions for privately held firms.</a:t>
            </a:r>
          </a:p>
          <a:p>
            <a:pPr lvl="1"/>
            <a:r>
              <a:rPr lang="en-US" dirty="0"/>
              <a:t>Some forms of compensation are costs</a:t>
            </a:r>
          </a:p>
          <a:p>
            <a:pPr lvl="2"/>
            <a:r>
              <a:rPr lang="en-US" dirty="0"/>
              <a:t>Health care expenses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7F9FF-663B-B280-0845-A9CB2C71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73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20E09-7D24-4316-E51D-78F2673F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and debt and equity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DE41D-F1C7-967F-D201-C56ED9CDF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Interest is a cost,     Dividend is a profits</a:t>
            </a:r>
          </a:p>
          <a:p>
            <a:r>
              <a:rPr lang="en-US" dirty="0"/>
              <a:t>Firm market value $2 billion and $100 million in profits </a:t>
            </a:r>
          </a:p>
          <a:p>
            <a:pPr lvl="1"/>
            <a:r>
              <a:rPr lang="en-US" dirty="0"/>
              <a:t>Owes 21 million to government. </a:t>
            </a:r>
          </a:p>
          <a:p>
            <a:pPr lvl="1"/>
            <a:r>
              <a:rPr lang="en-US" dirty="0"/>
              <a:t>Net payment to investors $79M; Dividend yield= 3.95%.</a:t>
            </a:r>
          </a:p>
          <a:p>
            <a:r>
              <a:rPr lang="en-US" dirty="0"/>
              <a:t>It borrows $1 billion dollars and buys back $1 billion of equity.  Interest rate is 5%. Cost of debt 50 million</a:t>
            </a:r>
          </a:p>
          <a:p>
            <a:r>
              <a:rPr lang="en-US" dirty="0"/>
              <a:t>Net profit is 50 million =&gt; tax liability has gone down to 10.5 million. Net payment to shareholders $39.5M</a:t>
            </a:r>
          </a:p>
          <a:p>
            <a:r>
              <a:rPr lang="en-US" dirty="0"/>
              <a:t>Income to investors goes up.</a:t>
            </a:r>
          </a:p>
          <a:p>
            <a:pPr lvl="1"/>
            <a:r>
              <a:rPr lang="en-US" dirty="0"/>
              <a:t>50 (bonds) +39.5 (equity)=89.5</a:t>
            </a:r>
          </a:p>
          <a:p>
            <a:r>
              <a:rPr lang="en-US" dirty="0"/>
              <a:t>If can borrow at dividend yield </a:t>
            </a:r>
          </a:p>
          <a:p>
            <a:pPr lvl="1"/>
            <a:r>
              <a:rPr lang="en-US" dirty="0"/>
              <a:t>Stock price goes up. (interest charge is $39.5 net income to shareholders is $47.8m)</a:t>
            </a:r>
          </a:p>
          <a:p>
            <a:r>
              <a:rPr lang="en-US" dirty="0"/>
              <a:t>Why not all debt?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53185-CF4D-0248-B57E-FBE7711B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00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2C0D-3BC7-DB4F-06EC-3BFF988A6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and debt and equity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52DB7-9EB1-0CEC-F9C0-C2B9E25D2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</a:t>
            </a:r>
          </a:p>
          <a:p>
            <a:r>
              <a:rPr lang="en-US" dirty="0"/>
              <a:t>Increasing leverage here is simply tax avoidance</a:t>
            </a:r>
          </a:p>
          <a:p>
            <a:pPr lvl="1"/>
            <a:r>
              <a:rPr lang="en-US" dirty="0"/>
              <a:t>Not efficient because total profits of the company are constant</a:t>
            </a:r>
          </a:p>
          <a:p>
            <a:pPr lvl="1"/>
            <a:r>
              <a:rPr lang="en-US" dirty="0"/>
              <a:t>Has a cost. Increased risk of bankruptcy.</a:t>
            </a:r>
          </a:p>
          <a:p>
            <a:r>
              <a:rPr lang="en-US" dirty="0"/>
              <a:t>Quite different from the leverage arguments we saw earlier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2D509-E52F-F507-1CED-09ADF48C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27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E405-7248-F397-91B1-384C9ADA9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Dividends vs stock buybacks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7E453-B80E-9FEA-7A9A-1726130E8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 dirty="0"/>
              <a:t>Another tax arbitrage</a:t>
            </a:r>
          </a:p>
          <a:p>
            <a:pPr lvl="1"/>
            <a:r>
              <a:rPr lang="en-US" dirty="0"/>
              <a:t>Firm level</a:t>
            </a:r>
          </a:p>
          <a:p>
            <a:pPr lvl="2"/>
            <a:r>
              <a:rPr lang="en-US" dirty="0"/>
              <a:t>Dividends are taxed as profits</a:t>
            </a:r>
          </a:p>
          <a:p>
            <a:pPr lvl="2"/>
            <a:r>
              <a:rPr lang="en-US" dirty="0"/>
              <a:t>Retained earnings are taxed as profits. Can use to buy back stock.</a:t>
            </a:r>
          </a:p>
          <a:p>
            <a:pPr lvl="1"/>
            <a:r>
              <a:rPr lang="en-US" dirty="0"/>
              <a:t>Individual level</a:t>
            </a:r>
          </a:p>
          <a:p>
            <a:pPr lvl="2"/>
            <a:r>
              <a:rPr lang="en-US" dirty="0"/>
              <a:t>Dividends taxes as income taxes (20+%)</a:t>
            </a:r>
          </a:p>
          <a:p>
            <a:pPr lvl="2"/>
            <a:r>
              <a:rPr lang="en-US" dirty="0"/>
              <a:t>Stock buybacks are taxed at capital gains (20%)</a:t>
            </a:r>
          </a:p>
          <a:p>
            <a:r>
              <a:rPr lang="en-US" dirty="0"/>
              <a:t>Again no efficiency gain, just tax avoidance.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BAA9-1D45-2F04-2CBC-06B20849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16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A790-7846-9C2B-E7A0-3265B046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Depreciation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CDCAA-502A-0A20-ECA7-A3032CBEA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Depreciation is a cost (not a fiction)</a:t>
            </a:r>
          </a:p>
          <a:p>
            <a:r>
              <a:rPr lang="en-US" dirty="0"/>
              <a:t>Example Solar panels </a:t>
            </a:r>
          </a:p>
          <a:p>
            <a:pPr lvl="1"/>
            <a:r>
              <a:rPr lang="en-US" dirty="0"/>
              <a:t>Fail at 0.05% initially. Degrade at 0.5% a year. (inverters are another pb)</a:t>
            </a:r>
          </a:p>
          <a:p>
            <a:pPr lvl="1"/>
            <a:r>
              <a:rPr lang="en-US" dirty="0"/>
              <a:t>Install a solar field of 100,000 panels. Replace 50 a year (no big deal).  Budget for this (cost)</a:t>
            </a:r>
          </a:p>
          <a:p>
            <a:pPr lvl="1"/>
            <a:r>
              <a:rPr lang="en-US" dirty="0"/>
              <a:t>Output is falling from degradation so the (technical) value of the field is falling.  Need to deal with this loss.</a:t>
            </a:r>
          </a:p>
          <a:p>
            <a:pPr lvl="1"/>
            <a:r>
              <a:rPr lang="en-US" dirty="0"/>
              <a:t>Both losses are depreciation.</a:t>
            </a:r>
          </a:p>
          <a:p>
            <a:r>
              <a:rPr lang="en-US" dirty="0"/>
              <a:t>Ideally measure cost of replacement due to failure and the technical output due to degradation and draw down the residual value of the investment.</a:t>
            </a:r>
          </a:p>
          <a:p>
            <a:r>
              <a:rPr lang="en-US" dirty="0"/>
              <a:t>In practice, industry sets depreciation schedules with the government.</a:t>
            </a:r>
          </a:p>
          <a:p>
            <a:pPr lvl="1"/>
            <a:r>
              <a:rPr lang="en-US" dirty="0"/>
              <a:t>Why is this a good idea.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91E7C-E74A-3DD9-7AE9-2615A9AE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25541-9199-4CEB-864F-D0EC7E5FE63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97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1649</Words>
  <Application>Microsoft Office PowerPoint</Application>
  <PresentationFormat>On-screen Show (4:3)</PresentationFormat>
  <Paragraphs>221</Paragraphs>
  <Slides>27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Class 24 Firms, CEOs, and Taxes</vt:lpstr>
      <vt:lpstr>Firm as hierarchy</vt:lpstr>
      <vt:lpstr>Why pay wages</vt:lpstr>
      <vt:lpstr>Why use bonuses and Promotions?</vt:lpstr>
      <vt:lpstr>Why use stock options?</vt:lpstr>
      <vt:lpstr>Part 3: The CEO as an Agent</vt:lpstr>
      <vt:lpstr>Example: Incentives for decision maker</vt:lpstr>
      <vt:lpstr>Income rights</vt:lpstr>
      <vt:lpstr>Lazard Frères is the investment bank</vt:lpstr>
      <vt:lpstr>incentives</vt:lpstr>
      <vt:lpstr>What happens</vt:lpstr>
      <vt:lpstr>The problem of control in large firms</vt:lpstr>
      <vt:lpstr>Management in control</vt:lpstr>
      <vt:lpstr>Management in control</vt:lpstr>
      <vt:lpstr>PowerPoint Presentation</vt:lpstr>
      <vt:lpstr>PowerPoint Presentation</vt:lpstr>
      <vt:lpstr>PowerPoint Presentation</vt:lpstr>
      <vt:lpstr>Taxes and Finance</vt:lpstr>
      <vt:lpstr>Pyramids</vt:lpstr>
      <vt:lpstr>Taxes matter</vt:lpstr>
      <vt:lpstr>PowerPoint Presentation</vt:lpstr>
      <vt:lpstr>A dollar saved is a dollar earned</vt:lpstr>
      <vt:lpstr>Taxes and balance sheets</vt:lpstr>
      <vt:lpstr>Taxes and debt and equity</vt:lpstr>
      <vt:lpstr>Taxes and debt and equity</vt:lpstr>
      <vt:lpstr>Dividends vs stock buybacks</vt:lpstr>
      <vt:lpstr>Depreciation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16 Firms as portfolio of projects</dc:title>
  <dc:creator>Jean-Laurent</dc:creator>
  <cp:lastModifiedBy>Rosenthal, Jean-Laurent</cp:lastModifiedBy>
  <cp:revision>28</cp:revision>
  <dcterms:created xsi:type="dcterms:W3CDTF">2013-11-16T16:18:09Z</dcterms:created>
  <dcterms:modified xsi:type="dcterms:W3CDTF">2026-03-06T16:20:46Z</dcterms:modified>
</cp:coreProperties>
</file>