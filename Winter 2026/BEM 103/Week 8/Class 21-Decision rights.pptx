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9" r:id="rId3"/>
    <p:sldId id="351" r:id="rId4"/>
    <p:sldId id="261" r:id="rId5"/>
    <p:sldId id="262" r:id="rId6"/>
    <p:sldId id="340" r:id="rId7"/>
    <p:sldId id="260" r:id="rId8"/>
    <p:sldId id="309" r:id="rId9"/>
    <p:sldId id="341" r:id="rId10"/>
    <p:sldId id="257" r:id="rId11"/>
    <p:sldId id="263" r:id="rId12"/>
    <p:sldId id="355" r:id="rId13"/>
    <p:sldId id="342" r:id="rId14"/>
    <p:sldId id="324" r:id="rId15"/>
    <p:sldId id="343" r:id="rId16"/>
    <p:sldId id="344" r:id="rId17"/>
    <p:sldId id="326" r:id="rId18"/>
    <p:sldId id="325" r:id="rId19"/>
    <p:sldId id="327" r:id="rId20"/>
    <p:sldId id="345" r:id="rId21"/>
    <p:sldId id="347" r:id="rId22"/>
    <p:sldId id="348" r:id="rId23"/>
    <p:sldId id="349" r:id="rId24"/>
    <p:sldId id="352" r:id="rId25"/>
    <p:sldId id="346" r:id="rId26"/>
    <p:sldId id="353" r:id="rId27"/>
    <p:sldId id="331" r:id="rId28"/>
    <p:sldId id="329" r:id="rId29"/>
    <p:sldId id="332" r:id="rId30"/>
    <p:sldId id="333" r:id="rId31"/>
    <p:sldId id="336" r:id="rId32"/>
    <p:sldId id="350" r:id="rId33"/>
    <p:sldId id="334" r:id="rId3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entha\Dropbox\power%20in%20the%20firm\US%20firm%20typ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entha\Dropbox\BEM103\Data\Class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entha\Dropbox\BEM103\Data\Class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entha\Dropbox\BEM103\Data\Class%2021%20Decisi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entha\Dropbox\BEM103\Data\Class%2021%20Decisio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entha\Dropbox\BEM103\Data\Class%2021%20Decisio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>
                <a:solidFill>
                  <a:sysClr val="windowText" lastClr="000000"/>
                </a:solidFill>
              </a:rPr>
              <a:t>Firms</a:t>
            </a:r>
            <a:r>
              <a:rPr lang="en-US" sz="2000" baseline="0" dirty="0">
                <a:solidFill>
                  <a:sysClr val="windowText" lastClr="000000"/>
                </a:solidFill>
              </a:rPr>
              <a:t> Filing Tax Returns</a:t>
            </a:r>
          </a:p>
          <a:p>
            <a:pPr>
              <a:defRPr sz="2000">
                <a:solidFill>
                  <a:sysClr val="windowText" lastClr="000000"/>
                </a:solidFill>
              </a:defRPr>
            </a:pPr>
            <a:r>
              <a:rPr lang="en-US" sz="2000" baseline="0" dirty="0">
                <a:solidFill>
                  <a:sysClr val="windowText" lastClr="000000"/>
                </a:solidFill>
              </a:rPr>
              <a:t>by legal status 1960-2019</a:t>
            </a:r>
            <a:endParaRPr lang="en-US" sz="2000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3155542189170798"/>
          <c:y val="0.65404113997396796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5548505370588785E-2"/>
          <c:y val="1.9533032214537435E-2"/>
          <c:w val="0.88173472571808043"/>
          <c:h val="0.86728909845232782"/>
        </c:manualLayout>
      </c:layout>
      <c:areaChart>
        <c:grouping val="stacked"/>
        <c:varyColors val="0"/>
        <c:ser>
          <c:idx val="0"/>
          <c:order val="0"/>
          <c:tx>
            <c:strRef>
              <c:f>Sheet1!$N$42</c:f>
              <c:strCache>
                <c:ptCount val="1"/>
                <c:pt idx="0">
                  <c:v>  C-Corp</c:v>
                </c:pt>
              </c:strCache>
            </c:strRef>
          </c:tx>
          <c:spPr>
            <a:pattFill prst="dkVert">
              <a:fgClr>
                <a:schemeClr val="bg2">
                  <a:lumMod val="2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cat>
            <c:numRef>
              <c:f>Sheet1!$M$43:$M$104</c:f>
              <c:numCache>
                <c:formatCode>General</c:formatCode>
                <c:ptCount val="62"/>
                <c:pt idx="0">
                  <c:v>1960</c:v>
                </c:pt>
                <c:pt idx="1">
                  <c:v>1960</c:v>
                </c:pt>
                <c:pt idx="2">
                  <c:v>1960</c:v>
                </c:pt>
                <c:pt idx="3">
                  <c:v>1961</c:v>
                </c:pt>
                <c:pt idx="4">
                  <c:v>1962</c:v>
                </c:pt>
                <c:pt idx="5">
                  <c:v>1963</c:v>
                </c:pt>
                <c:pt idx="6">
                  <c:v>1964</c:v>
                </c:pt>
                <c:pt idx="7">
                  <c:v>1965</c:v>
                </c:pt>
                <c:pt idx="8">
                  <c:v>1966</c:v>
                </c:pt>
                <c:pt idx="9">
                  <c:v>1967</c:v>
                </c:pt>
                <c:pt idx="10">
                  <c:v>1968</c:v>
                </c:pt>
                <c:pt idx="11">
                  <c:v>1969</c:v>
                </c:pt>
                <c:pt idx="12">
                  <c:v>1970</c:v>
                </c:pt>
                <c:pt idx="13">
                  <c:v>1971</c:v>
                </c:pt>
                <c:pt idx="14">
                  <c:v>1972</c:v>
                </c:pt>
                <c:pt idx="15">
                  <c:v>1973</c:v>
                </c:pt>
                <c:pt idx="16">
                  <c:v>1974</c:v>
                </c:pt>
                <c:pt idx="17">
                  <c:v>1975</c:v>
                </c:pt>
                <c:pt idx="18">
                  <c:v>1976</c:v>
                </c:pt>
                <c:pt idx="19">
                  <c:v>1977</c:v>
                </c:pt>
                <c:pt idx="20">
                  <c:v>1978</c:v>
                </c:pt>
                <c:pt idx="21">
                  <c:v>1979</c:v>
                </c:pt>
                <c:pt idx="22">
                  <c:v>1980</c:v>
                </c:pt>
                <c:pt idx="23">
                  <c:v>1981</c:v>
                </c:pt>
                <c:pt idx="24">
                  <c:v>1982</c:v>
                </c:pt>
                <c:pt idx="25">
                  <c:v>1983</c:v>
                </c:pt>
                <c:pt idx="26">
                  <c:v>1984</c:v>
                </c:pt>
                <c:pt idx="27">
                  <c:v>1985</c:v>
                </c:pt>
                <c:pt idx="28">
                  <c:v>1986</c:v>
                </c:pt>
                <c:pt idx="29">
                  <c:v>1987</c:v>
                </c:pt>
                <c:pt idx="30">
                  <c:v>1988</c:v>
                </c:pt>
                <c:pt idx="31">
                  <c:v>1989</c:v>
                </c:pt>
                <c:pt idx="32">
                  <c:v>1990</c:v>
                </c:pt>
                <c:pt idx="33">
                  <c:v>1991</c:v>
                </c:pt>
                <c:pt idx="34">
                  <c:v>1992</c:v>
                </c:pt>
                <c:pt idx="35">
                  <c:v>1993</c:v>
                </c:pt>
                <c:pt idx="36">
                  <c:v>1994</c:v>
                </c:pt>
                <c:pt idx="37">
                  <c:v>1995</c:v>
                </c:pt>
                <c:pt idx="38">
                  <c:v>1996</c:v>
                </c:pt>
                <c:pt idx="39">
                  <c:v>1997</c:v>
                </c:pt>
                <c:pt idx="40">
                  <c:v>1998</c:v>
                </c:pt>
                <c:pt idx="41">
                  <c:v>1999</c:v>
                </c:pt>
                <c:pt idx="42">
                  <c:v>2000</c:v>
                </c:pt>
                <c:pt idx="43">
                  <c:v>2001</c:v>
                </c:pt>
                <c:pt idx="44">
                  <c:v>2002</c:v>
                </c:pt>
                <c:pt idx="45">
                  <c:v>2003</c:v>
                </c:pt>
                <c:pt idx="46">
                  <c:v>2004</c:v>
                </c:pt>
                <c:pt idx="47">
                  <c:v>2005</c:v>
                </c:pt>
                <c:pt idx="48">
                  <c:v>2006</c:v>
                </c:pt>
                <c:pt idx="49">
                  <c:v>2007</c:v>
                </c:pt>
                <c:pt idx="50">
                  <c:v>2008</c:v>
                </c:pt>
                <c:pt idx="51">
                  <c:v>2009</c:v>
                </c:pt>
                <c:pt idx="52">
                  <c:v>2010</c:v>
                </c:pt>
                <c:pt idx="53">
                  <c:v>2011</c:v>
                </c:pt>
                <c:pt idx="54">
                  <c:v>2012</c:v>
                </c:pt>
                <c:pt idx="55">
                  <c:v>2013</c:v>
                </c:pt>
                <c:pt idx="56">
                  <c:v>2014</c:v>
                </c:pt>
                <c:pt idx="57">
                  <c:v>2015</c:v>
                </c:pt>
                <c:pt idx="58">
                  <c:v>2016</c:v>
                </c:pt>
                <c:pt idx="59">
                  <c:v>2017</c:v>
                </c:pt>
                <c:pt idx="60">
                  <c:v>2018</c:v>
                </c:pt>
                <c:pt idx="61">
                  <c:v>2019</c:v>
                </c:pt>
              </c:numCache>
            </c:numRef>
          </c:cat>
          <c:val>
            <c:numRef>
              <c:f>Sheet1!$N$43:$N$104</c:f>
              <c:numCache>
                <c:formatCode>0.00%</c:formatCode>
                <c:ptCount val="62"/>
                <c:pt idx="0">
                  <c:v>0.48679445392267651</c:v>
                </c:pt>
                <c:pt idx="1">
                  <c:v>0.49417943816604365</c:v>
                </c:pt>
                <c:pt idx="2">
                  <c:v>0.50470224406501452</c:v>
                </c:pt>
                <c:pt idx="3">
                  <c:v>0.50921074630903251</c:v>
                </c:pt>
                <c:pt idx="4">
                  <c:v>0.52011818802003251</c:v>
                </c:pt>
                <c:pt idx="5">
                  <c:v>0.52684960775772505</c:v>
                </c:pt>
                <c:pt idx="6">
                  <c:v>0.52954400815097247</c:v>
                </c:pt>
                <c:pt idx="7">
                  <c:v>0.53484418536520695</c:v>
                </c:pt>
                <c:pt idx="8">
                  <c:v>0.53812465893481032</c:v>
                </c:pt>
                <c:pt idx="9">
                  <c:v>0.54642593881771395</c:v>
                </c:pt>
                <c:pt idx="10">
                  <c:v>0.53860480322975091</c:v>
                </c:pt>
                <c:pt idx="11">
                  <c:v>0.55239233114279251</c:v>
                </c:pt>
                <c:pt idx="12">
                  <c:v>0.54120410053774393</c:v>
                </c:pt>
                <c:pt idx="13">
                  <c:v>0.54648315680153803</c:v>
                </c:pt>
                <c:pt idx="14">
                  <c:v>0.54366415523258216</c:v>
                </c:pt>
                <c:pt idx="15">
                  <c:v>0.54066531193758194</c:v>
                </c:pt>
                <c:pt idx="16">
                  <c:v>0.53920331871280336</c:v>
                </c:pt>
                <c:pt idx="17">
                  <c:v>0.53773757637464681</c:v>
                </c:pt>
                <c:pt idx="18">
                  <c:v>0.53183577510011348</c:v>
                </c:pt>
                <c:pt idx="19">
                  <c:v>0.53417695421739264</c:v>
                </c:pt>
                <c:pt idx="20">
                  <c:v>0.52565318244355486</c:v>
                </c:pt>
                <c:pt idx="21">
                  <c:v>0.52948186994718116</c:v>
                </c:pt>
                <c:pt idx="22">
                  <c:v>0.52935143386911909</c:v>
                </c:pt>
                <c:pt idx="23">
                  <c:v>0.53147026788694018</c:v>
                </c:pt>
                <c:pt idx="24">
                  <c:v>0.53189995736627638</c:v>
                </c:pt>
                <c:pt idx="25">
                  <c:v>0.51772867522205168</c:v>
                </c:pt>
                <c:pt idx="26">
                  <c:v>0.51292850252704225</c:v>
                </c:pt>
                <c:pt idx="27">
                  <c:v>0.51143278602202202</c:v>
                </c:pt>
                <c:pt idx="28">
                  <c:v>0.50712612981823713</c:v>
                </c:pt>
                <c:pt idx="29">
                  <c:v>0.47227169783773026</c:v>
                </c:pt>
                <c:pt idx="30">
                  <c:v>0.44193654862130477</c:v>
                </c:pt>
                <c:pt idx="31">
                  <c:v>0.4189406590541907</c:v>
                </c:pt>
                <c:pt idx="32">
                  <c:v>0.40635393978079304</c:v>
                </c:pt>
                <c:pt idx="33">
                  <c:v>0.39572470343921384</c:v>
                </c:pt>
                <c:pt idx="34">
                  <c:v>0.38919316011727051</c:v>
                </c:pt>
                <c:pt idx="35">
                  <c:v>0.3797955743864912</c:v>
                </c:pt>
                <c:pt idx="36">
                  <c:v>0.39727270437540296</c:v>
                </c:pt>
                <c:pt idx="37">
                  <c:v>0.38332325637354631</c:v>
                </c:pt>
                <c:pt idx="38">
                  <c:v>0.37020232673759568</c:v>
                </c:pt>
                <c:pt idx="39">
                  <c:v>0.34903852545561637</c:v>
                </c:pt>
                <c:pt idx="40">
                  <c:v>0.33721958392263757</c:v>
                </c:pt>
                <c:pt idx="41">
                  <c:v>0.32157518410923491</c:v>
                </c:pt>
                <c:pt idx="42">
                  <c:v>0.30759746932641657</c:v>
                </c:pt>
                <c:pt idx="43">
                  <c:v>0.29570601900901905</c:v>
                </c:pt>
                <c:pt idx="44">
                  <c:v>0.28130146893428848</c:v>
                </c:pt>
                <c:pt idx="45">
                  <c:v>0.26484943119824306</c:v>
                </c:pt>
                <c:pt idx="46">
                  <c:v>0.2516558620143366</c:v>
                </c:pt>
                <c:pt idx="47">
                  <c:v>0.23558966207233248</c:v>
                </c:pt>
                <c:pt idx="48">
                  <c:v>0.22394763445622376</c:v>
                </c:pt>
                <c:pt idx="49">
                  <c:v>0.20958365160157338</c:v>
                </c:pt>
                <c:pt idx="50">
                  <c:v>0.19984784104749051</c:v>
                </c:pt>
                <c:pt idx="51">
                  <c:v>0.19626139915559121</c:v>
                </c:pt>
                <c:pt idx="52">
                  <c:v>0.19011652194208123</c:v>
                </c:pt>
                <c:pt idx="53">
                  <c:v>0.18673134275616393</c:v>
                </c:pt>
                <c:pt idx="54">
                  <c:v>0.1808656966563543</c:v>
                </c:pt>
                <c:pt idx="55">
                  <c:v>0.17807702229045186</c:v>
                </c:pt>
                <c:pt idx="56">
                  <c:v>0.1720772808120469</c:v>
                </c:pt>
                <c:pt idx="57">
                  <c:v>0.16960034796443713</c:v>
                </c:pt>
                <c:pt idx="58">
                  <c:v>0.16333739707359551</c:v>
                </c:pt>
                <c:pt idx="59">
                  <c:v>0.15985462945732756</c:v>
                </c:pt>
                <c:pt idx="60">
                  <c:v>0.14830106616853658</c:v>
                </c:pt>
                <c:pt idx="61">
                  <c:v>0.14104484881345977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E-4D51-B24E-8DDD9990C6C8}"/>
            </c:ext>
          </c:extLst>
        </c:ser>
        <c:ser>
          <c:idx val="1"/>
          <c:order val="1"/>
          <c:tx>
            <c:strRef>
              <c:f>Sheet1!$O$42</c:f>
              <c:strCache>
                <c:ptCount val="1"/>
                <c:pt idx="0">
                  <c:v>     S Corporations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cat>
            <c:numRef>
              <c:f>Sheet1!$M$43:$M$104</c:f>
              <c:numCache>
                <c:formatCode>General</c:formatCode>
                <c:ptCount val="62"/>
                <c:pt idx="0">
                  <c:v>1960</c:v>
                </c:pt>
                <c:pt idx="1">
                  <c:v>1960</c:v>
                </c:pt>
                <c:pt idx="2">
                  <c:v>1960</c:v>
                </c:pt>
                <c:pt idx="3">
                  <c:v>1961</c:v>
                </c:pt>
                <c:pt idx="4">
                  <c:v>1962</c:v>
                </c:pt>
                <c:pt idx="5">
                  <c:v>1963</c:v>
                </c:pt>
                <c:pt idx="6">
                  <c:v>1964</c:v>
                </c:pt>
                <c:pt idx="7">
                  <c:v>1965</c:v>
                </c:pt>
                <c:pt idx="8">
                  <c:v>1966</c:v>
                </c:pt>
                <c:pt idx="9">
                  <c:v>1967</c:v>
                </c:pt>
                <c:pt idx="10">
                  <c:v>1968</c:v>
                </c:pt>
                <c:pt idx="11">
                  <c:v>1969</c:v>
                </c:pt>
                <c:pt idx="12">
                  <c:v>1970</c:v>
                </c:pt>
                <c:pt idx="13">
                  <c:v>1971</c:v>
                </c:pt>
                <c:pt idx="14">
                  <c:v>1972</c:v>
                </c:pt>
                <c:pt idx="15">
                  <c:v>1973</c:v>
                </c:pt>
                <c:pt idx="16">
                  <c:v>1974</c:v>
                </c:pt>
                <c:pt idx="17">
                  <c:v>1975</c:v>
                </c:pt>
                <c:pt idx="18">
                  <c:v>1976</c:v>
                </c:pt>
                <c:pt idx="19">
                  <c:v>1977</c:v>
                </c:pt>
                <c:pt idx="20">
                  <c:v>1978</c:v>
                </c:pt>
                <c:pt idx="21">
                  <c:v>1979</c:v>
                </c:pt>
                <c:pt idx="22">
                  <c:v>1980</c:v>
                </c:pt>
                <c:pt idx="23">
                  <c:v>1981</c:v>
                </c:pt>
                <c:pt idx="24">
                  <c:v>1982</c:v>
                </c:pt>
                <c:pt idx="25">
                  <c:v>1983</c:v>
                </c:pt>
                <c:pt idx="26">
                  <c:v>1984</c:v>
                </c:pt>
                <c:pt idx="27">
                  <c:v>1985</c:v>
                </c:pt>
                <c:pt idx="28">
                  <c:v>1986</c:v>
                </c:pt>
                <c:pt idx="29">
                  <c:v>1987</c:v>
                </c:pt>
                <c:pt idx="30">
                  <c:v>1988</c:v>
                </c:pt>
                <c:pt idx="31">
                  <c:v>1989</c:v>
                </c:pt>
                <c:pt idx="32">
                  <c:v>1990</c:v>
                </c:pt>
                <c:pt idx="33">
                  <c:v>1991</c:v>
                </c:pt>
                <c:pt idx="34">
                  <c:v>1992</c:v>
                </c:pt>
                <c:pt idx="35">
                  <c:v>1993</c:v>
                </c:pt>
                <c:pt idx="36">
                  <c:v>1994</c:v>
                </c:pt>
                <c:pt idx="37">
                  <c:v>1995</c:v>
                </c:pt>
                <c:pt idx="38">
                  <c:v>1996</c:v>
                </c:pt>
                <c:pt idx="39">
                  <c:v>1997</c:v>
                </c:pt>
                <c:pt idx="40">
                  <c:v>1998</c:v>
                </c:pt>
                <c:pt idx="41">
                  <c:v>1999</c:v>
                </c:pt>
                <c:pt idx="42">
                  <c:v>2000</c:v>
                </c:pt>
                <c:pt idx="43">
                  <c:v>2001</c:v>
                </c:pt>
                <c:pt idx="44">
                  <c:v>2002</c:v>
                </c:pt>
                <c:pt idx="45">
                  <c:v>2003</c:v>
                </c:pt>
                <c:pt idx="46">
                  <c:v>2004</c:v>
                </c:pt>
                <c:pt idx="47">
                  <c:v>2005</c:v>
                </c:pt>
                <c:pt idx="48">
                  <c:v>2006</c:v>
                </c:pt>
                <c:pt idx="49">
                  <c:v>2007</c:v>
                </c:pt>
                <c:pt idx="50">
                  <c:v>2008</c:v>
                </c:pt>
                <c:pt idx="51">
                  <c:v>2009</c:v>
                </c:pt>
                <c:pt idx="52">
                  <c:v>2010</c:v>
                </c:pt>
                <c:pt idx="53">
                  <c:v>2011</c:v>
                </c:pt>
                <c:pt idx="54">
                  <c:v>2012</c:v>
                </c:pt>
                <c:pt idx="55">
                  <c:v>2013</c:v>
                </c:pt>
                <c:pt idx="56">
                  <c:v>2014</c:v>
                </c:pt>
                <c:pt idx="57">
                  <c:v>2015</c:v>
                </c:pt>
                <c:pt idx="58">
                  <c:v>2016</c:v>
                </c:pt>
                <c:pt idx="59">
                  <c:v>2017</c:v>
                </c:pt>
                <c:pt idx="60">
                  <c:v>2018</c:v>
                </c:pt>
                <c:pt idx="61">
                  <c:v>2019</c:v>
                </c:pt>
              </c:numCache>
            </c:numRef>
          </c:cat>
          <c:val>
            <c:numRef>
              <c:f>Sheet1!$O$43:$O$104</c:f>
              <c:numCache>
                <c:formatCode>0.00%</c:formatCode>
                <c:ptCount val="62"/>
                <c:pt idx="0">
                  <c:v>2.2602883108453205E-2</c:v>
                </c:pt>
                <c:pt idx="1">
                  <c:v>3.6639196329557068E-2</c:v>
                </c:pt>
                <c:pt idx="2">
                  <c:v>4.3351845676443707E-2</c:v>
                </c:pt>
                <c:pt idx="3">
                  <c:v>4.9805283733442542E-2</c:v>
                </c:pt>
                <c:pt idx="4">
                  <c:v>5.6206120925015327E-2</c:v>
                </c:pt>
                <c:pt idx="5">
                  <c:v>6.1897348254454025E-2</c:v>
                </c:pt>
                <c:pt idx="6">
                  <c:v>6.8761851079224126E-2</c:v>
                </c:pt>
                <c:pt idx="7">
                  <c:v>7.416404534266817E-2</c:v>
                </c:pt>
                <c:pt idx="8">
                  <c:v>7.6043581074723851E-2</c:v>
                </c:pt>
                <c:pt idx="9">
                  <c:v>8.2270216095352552E-2</c:v>
                </c:pt>
                <c:pt idx="10">
                  <c:v>8.8296829334843896E-2</c:v>
                </c:pt>
                <c:pt idx="11">
                  <c:v>9.063776372551148E-2</c:v>
                </c:pt>
                <c:pt idx="12">
                  <c:v>9.8967562394055991E-2</c:v>
                </c:pt>
                <c:pt idx="13">
                  <c:v>9.734110281237511E-2</c:v>
                </c:pt>
                <c:pt idx="14">
                  <c:v>0.10264862883685376</c:v>
                </c:pt>
                <c:pt idx="15">
                  <c:v>0.10635370658361648</c:v>
                </c:pt>
                <c:pt idx="16">
                  <c:v>0.11000038967532121</c:v>
                </c:pt>
                <c:pt idx="17">
                  <c:v>0.11573877182496049</c:v>
                </c:pt>
                <c:pt idx="18">
                  <c:v>0.12322404448945319</c:v>
                </c:pt>
                <c:pt idx="19">
                  <c:v>0.12611724788935244</c:v>
                </c:pt>
                <c:pt idx="20">
                  <c:v>0.13256368985769895</c:v>
                </c:pt>
                <c:pt idx="21">
                  <c:v>0.13352057249440993</c:v>
                </c:pt>
                <c:pt idx="22">
                  <c:v>0.13334068425149723</c:v>
                </c:pt>
                <c:pt idx="23">
                  <c:v>0.1267256926290721</c:v>
                </c:pt>
                <c:pt idx="24">
                  <c:v>0.12707214423306257</c:v>
                </c:pt>
                <c:pt idx="25">
                  <c:v>0.14277090523079497</c:v>
                </c:pt>
                <c:pt idx="26">
                  <c:v>0.14567756553152633</c:v>
                </c:pt>
                <c:pt idx="27">
                  <c:v>0.14521635914885364</c:v>
                </c:pt>
                <c:pt idx="28">
                  <c:v>0.1610093176083954</c:v>
                </c:pt>
                <c:pt idx="29">
                  <c:v>0.21442380061317445</c:v>
                </c:pt>
                <c:pt idx="30">
                  <c:v>0.24097811131765673</c:v>
                </c:pt>
                <c:pt idx="31">
                  <c:v>0.27037045411319377</c:v>
                </c:pt>
                <c:pt idx="32">
                  <c:v>0.29886878605072048</c:v>
                </c:pt>
                <c:pt idx="33">
                  <c:v>0.31933587984056061</c:v>
                </c:pt>
                <c:pt idx="34">
                  <c:v>0.33347883811351092</c:v>
                </c:pt>
                <c:pt idx="35">
                  <c:v>0.35004351831193131</c:v>
                </c:pt>
                <c:pt idx="36">
                  <c:v>0.34675106672325473</c:v>
                </c:pt>
                <c:pt idx="37">
                  <c:v>0.35558962435923502</c:v>
                </c:pt>
                <c:pt idx="38">
                  <c:v>0.3666168439892612</c:v>
                </c:pt>
                <c:pt idx="39">
                  <c:v>0.37909474995787412</c:v>
                </c:pt>
                <c:pt idx="40">
                  <c:v>0.38603783817808268</c:v>
                </c:pt>
                <c:pt idx="41">
                  <c:v>0.39660200715222949</c:v>
                </c:pt>
                <c:pt idx="42">
                  <c:v>0.40272693495906459</c:v>
                </c:pt>
                <c:pt idx="43">
                  <c:v>0.4109254251821895</c:v>
                </c:pt>
                <c:pt idx="44">
                  <c:v>0.42009198035845252</c:v>
                </c:pt>
                <c:pt idx="45">
                  <c:v>0.42969951820915309</c:v>
                </c:pt>
                <c:pt idx="46">
                  <c:v>0.43410272525978916</c:v>
                </c:pt>
                <c:pt idx="47">
                  <c:v>0.43676793581700374</c:v>
                </c:pt>
                <c:pt idx="48">
                  <c:v>0.44069219596545983</c:v>
                </c:pt>
                <c:pt idx="49">
                  <c:v>0.44504306883160455</c:v>
                </c:pt>
                <c:pt idx="50">
                  <c:v>0.45033267813655764</c:v>
                </c:pt>
                <c:pt idx="51">
                  <c:v>0.46451581723595892</c:v>
                </c:pt>
                <c:pt idx="52">
                  <c:v>0.46538352907749281</c:v>
                </c:pt>
                <c:pt idx="53">
                  <c:v>0.46651279171969556</c:v>
                </c:pt>
                <c:pt idx="54">
                  <c:v>0.4651072667605039</c:v>
                </c:pt>
                <c:pt idx="55">
                  <c:v>0.4652052775815102</c:v>
                </c:pt>
                <c:pt idx="56">
                  <c:v>0.46486727834237729</c:v>
                </c:pt>
                <c:pt idx="57">
                  <c:v>0.4662665269599704</c:v>
                </c:pt>
                <c:pt idx="58">
                  <c:v>0.46977089773400016</c:v>
                </c:pt>
                <c:pt idx="59">
                  <c:v>0.47230742252379448</c:v>
                </c:pt>
                <c:pt idx="60">
                  <c:v>0.47885751477362593</c:v>
                </c:pt>
                <c:pt idx="61">
                  <c:v>0.49900892538211666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8E-4D51-B24E-8DDD9990C6C8}"/>
            </c:ext>
          </c:extLst>
        </c:ser>
        <c:ser>
          <c:idx val="2"/>
          <c:order val="2"/>
          <c:tx>
            <c:strRef>
              <c:f>Sheet1!$P$42</c:f>
              <c:strCache>
                <c:ptCount val="1"/>
                <c:pt idx="0">
                  <c:v>General Partnership</c:v>
                </c:pt>
              </c:strCache>
            </c:strRef>
          </c:tx>
          <c:spPr>
            <a:pattFill prst="dkHorz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  <a:effectLst/>
          </c:spPr>
          <c:cat>
            <c:numRef>
              <c:f>Sheet1!$M$43:$M$104</c:f>
              <c:numCache>
                <c:formatCode>General</c:formatCode>
                <c:ptCount val="62"/>
                <c:pt idx="0">
                  <c:v>1960</c:v>
                </c:pt>
                <c:pt idx="1">
                  <c:v>1960</c:v>
                </c:pt>
                <c:pt idx="2">
                  <c:v>1960</c:v>
                </c:pt>
                <c:pt idx="3">
                  <c:v>1961</c:v>
                </c:pt>
                <c:pt idx="4">
                  <c:v>1962</c:v>
                </c:pt>
                <c:pt idx="5">
                  <c:v>1963</c:v>
                </c:pt>
                <c:pt idx="6">
                  <c:v>1964</c:v>
                </c:pt>
                <c:pt idx="7">
                  <c:v>1965</c:v>
                </c:pt>
                <c:pt idx="8">
                  <c:v>1966</c:v>
                </c:pt>
                <c:pt idx="9">
                  <c:v>1967</c:v>
                </c:pt>
                <c:pt idx="10">
                  <c:v>1968</c:v>
                </c:pt>
                <c:pt idx="11">
                  <c:v>1969</c:v>
                </c:pt>
                <c:pt idx="12">
                  <c:v>1970</c:v>
                </c:pt>
                <c:pt idx="13">
                  <c:v>1971</c:v>
                </c:pt>
                <c:pt idx="14">
                  <c:v>1972</c:v>
                </c:pt>
                <c:pt idx="15">
                  <c:v>1973</c:v>
                </c:pt>
                <c:pt idx="16">
                  <c:v>1974</c:v>
                </c:pt>
                <c:pt idx="17">
                  <c:v>1975</c:v>
                </c:pt>
                <c:pt idx="18">
                  <c:v>1976</c:v>
                </c:pt>
                <c:pt idx="19">
                  <c:v>1977</c:v>
                </c:pt>
                <c:pt idx="20">
                  <c:v>1978</c:v>
                </c:pt>
                <c:pt idx="21">
                  <c:v>1979</c:v>
                </c:pt>
                <c:pt idx="22">
                  <c:v>1980</c:v>
                </c:pt>
                <c:pt idx="23">
                  <c:v>1981</c:v>
                </c:pt>
                <c:pt idx="24">
                  <c:v>1982</c:v>
                </c:pt>
                <c:pt idx="25">
                  <c:v>1983</c:v>
                </c:pt>
                <c:pt idx="26">
                  <c:v>1984</c:v>
                </c:pt>
                <c:pt idx="27">
                  <c:v>1985</c:v>
                </c:pt>
                <c:pt idx="28">
                  <c:v>1986</c:v>
                </c:pt>
                <c:pt idx="29">
                  <c:v>1987</c:v>
                </c:pt>
                <c:pt idx="30">
                  <c:v>1988</c:v>
                </c:pt>
                <c:pt idx="31">
                  <c:v>1989</c:v>
                </c:pt>
                <c:pt idx="32">
                  <c:v>1990</c:v>
                </c:pt>
                <c:pt idx="33">
                  <c:v>1991</c:v>
                </c:pt>
                <c:pt idx="34">
                  <c:v>1992</c:v>
                </c:pt>
                <c:pt idx="35">
                  <c:v>1993</c:v>
                </c:pt>
                <c:pt idx="36">
                  <c:v>1994</c:v>
                </c:pt>
                <c:pt idx="37">
                  <c:v>1995</c:v>
                </c:pt>
                <c:pt idx="38">
                  <c:v>1996</c:v>
                </c:pt>
                <c:pt idx="39">
                  <c:v>1997</c:v>
                </c:pt>
                <c:pt idx="40">
                  <c:v>1998</c:v>
                </c:pt>
                <c:pt idx="41">
                  <c:v>1999</c:v>
                </c:pt>
                <c:pt idx="42">
                  <c:v>2000</c:v>
                </c:pt>
                <c:pt idx="43">
                  <c:v>2001</c:v>
                </c:pt>
                <c:pt idx="44">
                  <c:v>2002</c:v>
                </c:pt>
                <c:pt idx="45">
                  <c:v>2003</c:v>
                </c:pt>
                <c:pt idx="46">
                  <c:v>2004</c:v>
                </c:pt>
                <c:pt idx="47">
                  <c:v>2005</c:v>
                </c:pt>
                <c:pt idx="48">
                  <c:v>2006</c:v>
                </c:pt>
                <c:pt idx="49">
                  <c:v>2007</c:v>
                </c:pt>
                <c:pt idx="50">
                  <c:v>2008</c:v>
                </c:pt>
                <c:pt idx="51">
                  <c:v>2009</c:v>
                </c:pt>
                <c:pt idx="52">
                  <c:v>2010</c:v>
                </c:pt>
                <c:pt idx="53">
                  <c:v>2011</c:v>
                </c:pt>
                <c:pt idx="54">
                  <c:v>2012</c:v>
                </c:pt>
                <c:pt idx="55">
                  <c:v>2013</c:v>
                </c:pt>
                <c:pt idx="56">
                  <c:v>2014</c:v>
                </c:pt>
                <c:pt idx="57">
                  <c:v>2015</c:v>
                </c:pt>
                <c:pt idx="58">
                  <c:v>2016</c:v>
                </c:pt>
                <c:pt idx="59">
                  <c:v>2017</c:v>
                </c:pt>
                <c:pt idx="60">
                  <c:v>2018</c:v>
                </c:pt>
                <c:pt idx="61">
                  <c:v>2019</c:v>
                </c:pt>
              </c:numCache>
            </c:numRef>
          </c:cat>
          <c:val>
            <c:numRef>
              <c:f>Sheet1!$P$43:$P$104</c:f>
              <c:numCache>
                <c:formatCode>0.00%</c:formatCode>
                <c:ptCount val="62"/>
                <c:pt idx="0">
                  <c:v>0.49060266296887028</c:v>
                </c:pt>
                <c:pt idx="1">
                  <c:v>0.46918136550439926</c:v>
                </c:pt>
                <c:pt idx="2">
                  <c:v>0.45194591025854175</c:v>
                </c:pt>
                <c:pt idx="3">
                  <c:v>0.44098396995752498</c:v>
                </c:pt>
                <c:pt idx="4">
                  <c:v>0.42367569105495217</c:v>
                </c:pt>
                <c:pt idx="5">
                  <c:v>0.41125304398782092</c:v>
                </c:pt>
                <c:pt idx="6">
                  <c:v>0.40169414076980342</c:v>
                </c:pt>
                <c:pt idx="7">
                  <c:v>0.39099176929212492</c:v>
                </c:pt>
                <c:pt idx="8">
                  <c:v>0.38583175999046587</c:v>
                </c:pt>
                <c:pt idx="9">
                  <c:v>0.37130384508693354</c:v>
                </c:pt>
                <c:pt idx="10">
                  <c:v>0.3730983674354052</c:v>
                </c:pt>
                <c:pt idx="11">
                  <c:v>0.35696990513169607</c:v>
                </c:pt>
                <c:pt idx="12">
                  <c:v>0.35982833706820005</c:v>
                </c:pt>
                <c:pt idx="13">
                  <c:v>0.35617574038608685</c:v>
                </c:pt>
                <c:pt idx="14">
                  <c:v>0.35368721593056407</c:v>
                </c:pt>
                <c:pt idx="15">
                  <c:v>0.34736877505722269</c:v>
                </c:pt>
                <c:pt idx="16">
                  <c:v>0.33873584042069083</c:v>
                </c:pt>
                <c:pt idx="17">
                  <c:v>0.32827188324758189</c:v>
                </c:pt>
                <c:pt idx="18">
                  <c:v>0.32086668485053832</c:v>
                </c:pt>
                <c:pt idx="19">
                  <c:v>0.31167339413333489</c:v>
                </c:pt>
                <c:pt idx="20">
                  <c:v>0.30892488817303881</c:v>
                </c:pt>
                <c:pt idx="21">
                  <c:v>0.30170234470762403</c:v>
                </c:pt>
                <c:pt idx="22">
                  <c:v>0.29566289308668153</c:v>
                </c:pt>
                <c:pt idx="23">
                  <c:v>0.29307766441793226</c:v>
                </c:pt>
                <c:pt idx="24">
                  <c:v>0.29015435750212776</c:v>
                </c:pt>
                <c:pt idx="25">
                  <c:v>0.28885512498536864</c:v>
                </c:pt>
                <c:pt idx="26">
                  <c:v>0.29046617088640198</c:v>
                </c:pt>
                <c:pt idx="27">
                  <c:v>0.28829300350194781</c:v>
                </c:pt>
                <c:pt idx="28">
                  <c:v>0.27864858139007814</c:v>
                </c:pt>
                <c:pt idx="29">
                  <c:v>0.26345627429699475</c:v>
                </c:pt>
                <c:pt idx="30">
                  <c:v>0.26242746357413044</c:v>
                </c:pt>
                <c:pt idx="31">
                  <c:v>0.25489646927519088</c:v>
                </c:pt>
                <c:pt idx="32">
                  <c:v>0.24055349922649685</c:v>
                </c:pt>
                <c:pt idx="33">
                  <c:v>0.23404167702430964</c:v>
                </c:pt>
                <c:pt idx="34">
                  <c:v>0.22675659198292944</c:v>
                </c:pt>
                <c:pt idx="35">
                  <c:v>0.21619157335265518</c:v>
                </c:pt>
                <c:pt idx="36">
                  <c:v>0.19906341843874173</c:v>
                </c:pt>
                <c:pt idx="37">
                  <c:v>0.19213263866444419</c:v>
                </c:pt>
                <c:pt idx="38">
                  <c:v>0.17837446554638561</c:v>
                </c:pt>
                <c:pt idx="39">
                  <c:v>0.16716826075059787</c:v>
                </c:pt>
                <c:pt idx="40">
                  <c:v>0.15149799365594935</c:v>
                </c:pt>
                <c:pt idx="41">
                  <c:v>0.13831407244360469</c:v>
                </c:pt>
                <c:pt idx="42">
                  <c:v>0.13185892326841925</c:v>
                </c:pt>
                <c:pt idx="43">
                  <c:v>0.12183442152601617</c:v>
                </c:pt>
                <c:pt idx="44">
                  <c:v>0.11204208088747342</c:v>
                </c:pt>
                <c:pt idx="45">
                  <c:v>0.10498454918215659</c:v>
                </c:pt>
                <c:pt idx="46">
                  <c:v>9.6922062145073276E-2</c:v>
                </c:pt>
                <c:pt idx="47">
                  <c:v>9.3036156285292437E-2</c:v>
                </c:pt>
                <c:pt idx="48">
                  <c:v>8.8227402264655239E-2</c:v>
                </c:pt>
                <c:pt idx="49">
                  <c:v>8.270984733832569E-2</c:v>
                </c:pt>
                <c:pt idx="50">
                  <c:v>7.9336149304359824E-2</c:v>
                </c:pt>
                <c:pt idx="51">
                  <c:v>7.0800690846913691E-2</c:v>
                </c:pt>
                <c:pt idx="52">
                  <c:v>6.6580487747127826E-2</c:v>
                </c:pt>
                <c:pt idx="53">
                  <c:v>6.5725393236494956E-2</c:v>
                </c:pt>
                <c:pt idx="54">
                  <c:v>6.447839430154978E-2</c:v>
                </c:pt>
                <c:pt idx="55">
                  <c:v>6.1532852465263729E-2</c:v>
                </c:pt>
                <c:pt idx="56">
                  <c:v>6.0938434119095809E-2</c:v>
                </c:pt>
                <c:pt idx="57">
                  <c:v>6.0509112038148072E-2</c:v>
                </c:pt>
                <c:pt idx="58">
                  <c:v>5.5805346398137223E-2</c:v>
                </c:pt>
                <c:pt idx="59">
                  <c:v>5.1594391081171725E-2</c:v>
                </c:pt>
                <c:pt idx="60">
                  <c:v>5.1824212882839532E-2</c:v>
                </c:pt>
                <c:pt idx="61">
                  <c:v>4.7840342433974885E-2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8E-4D51-B24E-8DDD9990C6C8}"/>
            </c:ext>
          </c:extLst>
        </c:ser>
        <c:ser>
          <c:idx val="3"/>
          <c:order val="3"/>
          <c:tx>
            <c:strRef>
              <c:f>Sheet1!$Q$42</c:f>
              <c:strCache>
                <c:ptCount val="1"/>
                <c:pt idx="0">
                  <c:v>Limited Partnership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  <a:effectLst/>
          </c:spPr>
          <c:cat>
            <c:numRef>
              <c:f>Sheet1!$M$43:$M$104</c:f>
              <c:numCache>
                <c:formatCode>General</c:formatCode>
                <c:ptCount val="62"/>
                <c:pt idx="0">
                  <c:v>1960</c:v>
                </c:pt>
                <c:pt idx="1">
                  <c:v>1960</c:v>
                </c:pt>
                <c:pt idx="2">
                  <c:v>1960</c:v>
                </c:pt>
                <c:pt idx="3">
                  <c:v>1961</c:v>
                </c:pt>
                <c:pt idx="4">
                  <c:v>1962</c:v>
                </c:pt>
                <c:pt idx="5">
                  <c:v>1963</c:v>
                </c:pt>
                <c:pt idx="6">
                  <c:v>1964</c:v>
                </c:pt>
                <c:pt idx="7">
                  <c:v>1965</c:v>
                </c:pt>
                <c:pt idx="8">
                  <c:v>1966</c:v>
                </c:pt>
                <c:pt idx="9">
                  <c:v>1967</c:v>
                </c:pt>
                <c:pt idx="10">
                  <c:v>1968</c:v>
                </c:pt>
                <c:pt idx="11">
                  <c:v>1969</c:v>
                </c:pt>
                <c:pt idx="12">
                  <c:v>1970</c:v>
                </c:pt>
                <c:pt idx="13">
                  <c:v>1971</c:v>
                </c:pt>
                <c:pt idx="14">
                  <c:v>1972</c:v>
                </c:pt>
                <c:pt idx="15">
                  <c:v>1973</c:v>
                </c:pt>
                <c:pt idx="16">
                  <c:v>1974</c:v>
                </c:pt>
                <c:pt idx="17">
                  <c:v>1975</c:v>
                </c:pt>
                <c:pt idx="18">
                  <c:v>1976</c:v>
                </c:pt>
                <c:pt idx="19">
                  <c:v>1977</c:v>
                </c:pt>
                <c:pt idx="20">
                  <c:v>1978</c:v>
                </c:pt>
                <c:pt idx="21">
                  <c:v>1979</c:v>
                </c:pt>
                <c:pt idx="22">
                  <c:v>1980</c:v>
                </c:pt>
                <c:pt idx="23">
                  <c:v>1981</c:v>
                </c:pt>
                <c:pt idx="24">
                  <c:v>1982</c:v>
                </c:pt>
                <c:pt idx="25">
                  <c:v>1983</c:v>
                </c:pt>
                <c:pt idx="26">
                  <c:v>1984</c:v>
                </c:pt>
                <c:pt idx="27">
                  <c:v>1985</c:v>
                </c:pt>
                <c:pt idx="28">
                  <c:v>1986</c:v>
                </c:pt>
                <c:pt idx="29">
                  <c:v>1987</c:v>
                </c:pt>
                <c:pt idx="30">
                  <c:v>1988</c:v>
                </c:pt>
                <c:pt idx="31">
                  <c:v>1989</c:v>
                </c:pt>
                <c:pt idx="32">
                  <c:v>1990</c:v>
                </c:pt>
                <c:pt idx="33">
                  <c:v>1991</c:v>
                </c:pt>
                <c:pt idx="34">
                  <c:v>1992</c:v>
                </c:pt>
                <c:pt idx="35">
                  <c:v>1993</c:v>
                </c:pt>
                <c:pt idx="36">
                  <c:v>1994</c:v>
                </c:pt>
                <c:pt idx="37">
                  <c:v>1995</c:v>
                </c:pt>
                <c:pt idx="38">
                  <c:v>1996</c:v>
                </c:pt>
                <c:pt idx="39">
                  <c:v>1997</c:v>
                </c:pt>
                <c:pt idx="40">
                  <c:v>1998</c:v>
                </c:pt>
                <c:pt idx="41">
                  <c:v>1999</c:v>
                </c:pt>
                <c:pt idx="42">
                  <c:v>2000</c:v>
                </c:pt>
                <c:pt idx="43">
                  <c:v>2001</c:v>
                </c:pt>
                <c:pt idx="44">
                  <c:v>2002</c:v>
                </c:pt>
                <c:pt idx="45">
                  <c:v>2003</c:v>
                </c:pt>
                <c:pt idx="46">
                  <c:v>2004</c:v>
                </c:pt>
                <c:pt idx="47">
                  <c:v>2005</c:v>
                </c:pt>
                <c:pt idx="48">
                  <c:v>2006</c:v>
                </c:pt>
                <c:pt idx="49">
                  <c:v>2007</c:v>
                </c:pt>
                <c:pt idx="50">
                  <c:v>2008</c:v>
                </c:pt>
                <c:pt idx="51">
                  <c:v>2009</c:v>
                </c:pt>
                <c:pt idx="52">
                  <c:v>2010</c:v>
                </c:pt>
                <c:pt idx="53">
                  <c:v>2011</c:v>
                </c:pt>
                <c:pt idx="54">
                  <c:v>2012</c:v>
                </c:pt>
                <c:pt idx="55">
                  <c:v>2013</c:v>
                </c:pt>
                <c:pt idx="56">
                  <c:v>2014</c:v>
                </c:pt>
                <c:pt idx="57">
                  <c:v>2015</c:v>
                </c:pt>
                <c:pt idx="58">
                  <c:v>2016</c:v>
                </c:pt>
                <c:pt idx="59">
                  <c:v>2017</c:v>
                </c:pt>
                <c:pt idx="60">
                  <c:v>2018</c:v>
                </c:pt>
                <c:pt idx="61">
                  <c:v>2019</c:v>
                </c:pt>
              </c:numCache>
            </c:numRef>
          </c:cat>
          <c:val>
            <c:numRef>
              <c:f>Sheet1!$Q$43:$Q$104</c:f>
              <c:numCache>
                <c:formatCode>0.00%</c:formatCode>
                <c:ptCount val="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5.6122064215789183E-3</c:v>
                </c:pt>
                <c:pt idx="16">
                  <c:v>1.206045119118462E-2</c:v>
                </c:pt>
                <c:pt idx="17">
                  <c:v>1.8251768552810844E-2</c:v>
                </c:pt>
                <c:pt idx="18">
                  <c:v>2.4073495559894936E-2</c:v>
                </c:pt>
                <c:pt idx="19">
                  <c:v>2.8032403759920006E-2</c:v>
                </c:pt>
                <c:pt idx="20">
                  <c:v>3.2858239525707461E-2</c:v>
                </c:pt>
                <c:pt idx="21">
                  <c:v>3.5295212850784942E-2</c:v>
                </c:pt>
                <c:pt idx="22">
                  <c:v>4.1644988792702155E-2</c:v>
                </c:pt>
                <c:pt idx="23">
                  <c:v>4.8726375066055497E-2</c:v>
                </c:pt>
                <c:pt idx="24">
                  <c:v>5.0873540898533312E-2</c:v>
                </c:pt>
                <c:pt idx="25">
                  <c:v>5.0645294561784716E-2</c:v>
                </c:pt>
                <c:pt idx="26">
                  <c:v>5.0927761055029476E-2</c:v>
                </c:pt>
                <c:pt idx="27">
                  <c:v>5.5057851327176555E-2</c:v>
                </c:pt>
                <c:pt idx="28">
                  <c:v>5.3215971183289301E-2</c:v>
                </c:pt>
                <c:pt idx="29">
                  <c:v>4.9848227252100551E-2</c:v>
                </c:pt>
                <c:pt idx="30">
                  <c:v>5.4657876486908077E-2</c:v>
                </c:pt>
                <c:pt idx="31">
                  <c:v>5.5792417557424652E-2</c:v>
                </c:pt>
                <c:pt idx="32">
                  <c:v>5.4223774941989634E-2</c:v>
                </c:pt>
                <c:pt idx="33">
                  <c:v>5.0897739695915899E-2</c:v>
                </c:pt>
                <c:pt idx="34">
                  <c:v>5.0571409786289157E-2</c:v>
                </c:pt>
                <c:pt idx="35">
                  <c:v>5.0778175161573701E-2</c:v>
                </c:pt>
                <c:pt idx="36">
                  <c:v>4.8719992063507023E-2</c:v>
                </c:pt>
                <c:pt idx="37">
                  <c:v>4.9374350440713539E-2</c:v>
                </c:pt>
                <c:pt idx="38">
                  <c:v>4.9567544993536841E-2</c:v>
                </c:pt>
                <c:pt idx="39">
                  <c:v>5.0738091520565923E-2</c:v>
                </c:pt>
                <c:pt idx="40">
                  <c:v>5.504163488326929E-2</c:v>
                </c:pt>
                <c:pt idx="41">
                  <c:v>5.7750222543228966E-2</c:v>
                </c:pt>
                <c:pt idx="42">
                  <c:v>5.6630276653920938E-2</c:v>
                </c:pt>
                <c:pt idx="43">
                  <c:v>6.0262189950394264E-2</c:v>
                </c:pt>
                <c:pt idx="44">
                  <c:v>6.0561260508868488E-2</c:v>
                </c:pt>
                <c:pt idx="45">
                  <c:v>6.0109474422727328E-2</c:v>
                </c:pt>
                <c:pt idx="46">
                  <c:v>6.0593778385809371E-2</c:v>
                </c:pt>
                <c:pt idx="47">
                  <c:v>6.0896287582920546E-2</c:v>
                </c:pt>
                <c:pt idx="48">
                  <c:v>6.1632473501112207E-2</c:v>
                </c:pt>
                <c:pt idx="49">
                  <c:v>5.9803011293465921E-2</c:v>
                </c:pt>
                <c:pt idx="50">
                  <c:v>5.9415824820167447E-2</c:v>
                </c:pt>
                <c:pt idx="51">
                  <c:v>4.4994332187367266E-2</c:v>
                </c:pt>
                <c:pt idx="52">
                  <c:v>4.2268899651544768E-2</c:v>
                </c:pt>
                <c:pt idx="53">
                  <c:v>4.4209749314714275E-2</c:v>
                </c:pt>
                <c:pt idx="54">
                  <c:v>4.4981268864265983E-2</c:v>
                </c:pt>
                <c:pt idx="55">
                  <c:v>4.5487297646948407E-2</c:v>
                </c:pt>
                <c:pt idx="56">
                  <c:v>4.3974128220958059E-2</c:v>
                </c:pt>
                <c:pt idx="57">
                  <c:v>4.2289815473278598E-2</c:v>
                </c:pt>
                <c:pt idx="58">
                  <c:v>4.331489492603989E-2</c:v>
                </c:pt>
                <c:pt idx="59">
                  <c:v>4.6777552666132913E-2</c:v>
                </c:pt>
                <c:pt idx="60">
                  <c:v>4.3879395387620986E-2</c:v>
                </c:pt>
                <c:pt idx="61">
                  <c:v>4.0863683765066293E-2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8E-4D51-B24E-8DDD9990C6C8}"/>
            </c:ext>
          </c:extLst>
        </c:ser>
        <c:ser>
          <c:idx val="4"/>
          <c:order val="4"/>
          <c:tx>
            <c:strRef>
              <c:f>Sheet1!$R$42</c:f>
              <c:strCache>
                <c:ptCount val="1"/>
                <c:pt idx="0">
                  <c:v>LLC</c:v>
                </c:pt>
              </c:strCache>
            </c:strRef>
          </c:tx>
          <c:spPr>
            <a:pattFill prst="pct10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  <a:effectLst/>
          </c:spPr>
          <c:cat>
            <c:numRef>
              <c:f>Sheet1!$M$43:$M$104</c:f>
              <c:numCache>
                <c:formatCode>General</c:formatCode>
                <c:ptCount val="62"/>
                <c:pt idx="0">
                  <c:v>1960</c:v>
                </c:pt>
                <c:pt idx="1">
                  <c:v>1960</c:v>
                </c:pt>
                <c:pt idx="2">
                  <c:v>1960</c:v>
                </c:pt>
                <c:pt idx="3">
                  <c:v>1961</c:v>
                </c:pt>
                <c:pt idx="4">
                  <c:v>1962</c:v>
                </c:pt>
                <c:pt idx="5">
                  <c:v>1963</c:v>
                </c:pt>
                <c:pt idx="6">
                  <c:v>1964</c:v>
                </c:pt>
                <c:pt idx="7">
                  <c:v>1965</c:v>
                </c:pt>
                <c:pt idx="8">
                  <c:v>1966</c:v>
                </c:pt>
                <c:pt idx="9">
                  <c:v>1967</c:v>
                </c:pt>
                <c:pt idx="10">
                  <c:v>1968</c:v>
                </c:pt>
                <c:pt idx="11">
                  <c:v>1969</c:v>
                </c:pt>
                <c:pt idx="12">
                  <c:v>1970</c:v>
                </c:pt>
                <c:pt idx="13">
                  <c:v>1971</c:v>
                </c:pt>
                <c:pt idx="14">
                  <c:v>1972</c:v>
                </c:pt>
                <c:pt idx="15">
                  <c:v>1973</c:v>
                </c:pt>
                <c:pt idx="16">
                  <c:v>1974</c:v>
                </c:pt>
                <c:pt idx="17">
                  <c:v>1975</c:v>
                </c:pt>
                <c:pt idx="18">
                  <c:v>1976</c:v>
                </c:pt>
                <c:pt idx="19">
                  <c:v>1977</c:v>
                </c:pt>
                <c:pt idx="20">
                  <c:v>1978</c:v>
                </c:pt>
                <c:pt idx="21">
                  <c:v>1979</c:v>
                </c:pt>
                <c:pt idx="22">
                  <c:v>1980</c:v>
                </c:pt>
                <c:pt idx="23">
                  <c:v>1981</c:v>
                </c:pt>
                <c:pt idx="24">
                  <c:v>1982</c:v>
                </c:pt>
                <c:pt idx="25">
                  <c:v>1983</c:v>
                </c:pt>
                <c:pt idx="26">
                  <c:v>1984</c:v>
                </c:pt>
                <c:pt idx="27">
                  <c:v>1985</c:v>
                </c:pt>
                <c:pt idx="28">
                  <c:v>1986</c:v>
                </c:pt>
                <c:pt idx="29">
                  <c:v>1987</c:v>
                </c:pt>
                <c:pt idx="30">
                  <c:v>1988</c:v>
                </c:pt>
                <c:pt idx="31">
                  <c:v>1989</c:v>
                </c:pt>
                <c:pt idx="32">
                  <c:v>1990</c:v>
                </c:pt>
                <c:pt idx="33">
                  <c:v>1991</c:v>
                </c:pt>
                <c:pt idx="34">
                  <c:v>1992</c:v>
                </c:pt>
                <c:pt idx="35">
                  <c:v>1993</c:v>
                </c:pt>
                <c:pt idx="36">
                  <c:v>1994</c:v>
                </c:pt>
                <c:pt idx="37">
                  <c:v>1995</c:v>
                </c:pt>
                <c:pt idx="38">
                  <c:v>1996</c:v>
                </c:pt>
                <c:pt idx="39">
                  <c:v>1997</c:v>
                </c:pt>
                <c:pt idx="40">
                  <c:v>1998</c:v>
                </c:pt>
                <c:pt idx="41">
                  <c:v>1999</c:v>
                </c:pt>
                <c:pt idx="42">
                  <c:v>2000</c:v>
                </c:pt>
                <c:pt idx="43">
                  <c:v>2001</c:v>
                </c:pt>
                <c:pt idx="44">
                  <c:v>2002</c:v>
                </c:pt>
                <c:pt idx="45">
                  <c:v>2003</c:v>
                </c:pt>
                <c:pt idx="46">
                  <c:v>2004</c:v>
                </c:pt>
                <c:pt idx="47">
                  <c:v>2005</c:v>
                </c:pt>
                <c:pt idx="48">
                  <c:v>2006</c:v>
                </c:pt>
                <c:pt idx="49">
                  <c:v>2007</c:v>
                </c:pt>
                <c:pt idx="50">
                  <c:v>2008</c:v>
                </c:pt>
                <c:pt idx="51">
                  <c:v>2009</c:v>
                </c:pt>
                <c:pt idx="52">
                  <c:v>2010</c:v>
                </c:pt>
                <c:pt idx="53">
                  <c:v>2011</c:v>
                </c:pt>
                <c:pt idx="54">
                  <c:v>2012</c:v>
                </c:pt>
                <c:pt idx="55">
                  <c:v>2013</c:v>
                </c:pt>
                <c:pt idx="56">
                  <c:v>2014</c:v>
                </c:pt>
                <c:pt idx="57">
                  <c:v>2015</c:v>
                </c:pt>
                <c:pt idx="58">
                  <c:v>2016</c:v>
                </c:pt>
                <c:pt idx="59">
                  <c:v>2017</c:v>
                </c:pt>
                <c:pt idx="60">
                  <c:v>2018</c:v>
                </c:pt>
                <c:pt idx="61">
                  <c:v>2019</c:v>
                </c:pt>
              </c:numCache>
            </c:numRef>
          </c:cat>
          <c:val>
            <c:numRef>
              <c:f>Sheet1!$R$43:$R$104</c:f>
              <c:numCache>
                <c:formatCode>0.00%</c:formatCode>
                <c:ptCount val="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3.1911587873486155E-3</c:v>
                </c:pt>
                <c:pt idx="36">
                  <c:v>8.1928183990935405E-3</c:v>
                </c:pt>
                <c:pt idx="37">
                  <c:v>1.9580130162060966E-2</c:v>
                </c:pt>
                <c:pt idx="38">
                  <c:v>3.5238818733220642E-2</c:v>
                </c:pt>
                <c:pt idx="39">
                  <c:v>5.3960372315345721E-2</c:v>
                </c:pt>
                <c:pt idx="40">
                  <c:v>7.020294936006112E-2</c:v>
                </c:pt>
                <c:pt idx="41">
                  <c:v>8.5758513751701987E-2</c:v>
                </c:pt>
                <c:pt idx="42">
                  <c:v>0.10118639579217863</c:v>
                </c:pt>
                <c:pt idx="43">
                  <c:v>0.111271944332381</c:v>
                </c:pt>
                <c:pt idx="44">
                  <c:v>0.12600320931091707</c:v>
                </c:pt>
                <c:pt idx="45">
                  <c:v>0.14035702698771998</c:v>
                </c:pt>
                <c:pt idx="46">
                  <c:v>0.15672557219499159</c:v>
                </c:pt>
                <c:pt idx="47">
                  <c:v>0.17370995824245081</c:v>
                </c:pt>
                <c:pt idx="48">
                  <c:v>0.18550029381254896</c:v>
                </c:pt>
                <c:pt idx="49">
                  <c:v>0.20286042093503046</c:v>
                </c:pt>
                <c:pt idx="50">
                  <c:v>0.21106750669142454</c:v>
                </c:pt>
                <c:pt idx="51">
                  <c:v>0.22342776057416894</c:v>
                </c:pt>
                <c:pt idx="52">
                  <c:v>0.23565056158175338</c:v>
                </c:pt>
                <c:pt idx="53">
                  <c:v>0.23682072297293127</c:v>
                </c:pt>
                <c:pt idx="54">
                  <c:v>0.24456737341732604</c:v>
                </c:pt>
                <c:pt idx="55">
                  <c:v>0.24969755001582583</c:v>
                </c:pt>
                <c:pt idx="56">
                  <c:v>0.25814287850552192</c:v>
                </c:pt>
                <c:pt idx="57">
                  <c:v>0.26133419756416582</c:v>
                </c:pt>
                <c:pt idx="58">
                  <c:v>0.2677714638682272</c:v>
                </c:pt>
                <c:pt idx="59">
                  <c:v>0.26946600427157341</c:v>
                </c:pt>
                <c:pt idx="60">
                  <c:v>0.27713781078737698</c:v>
                </c:pt>
                <c:pt idx="61">
                  <c:v>0.27124219960538226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8E-4D51-B24E-8DDD9990C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1506144"/>
        <c:axId val="1081506560"/>
      </c:areaChart>
      <c:lineChart>
        <c:grouping val="stacked"/>
        <c:varyColors val="0"/>
        <c:ser>
          <c:idx val="5"/>
          <c:order val="5"/>
          <c:tx>
            <c:strRef>
              <c:f>Sheet1!$S$42</c:f>
              <c:strCache>
                <c:ptCount val="1"/>
                <c:pt idx="0">
                  <c:v>ALL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Sheet1!$M$45:$M$104</c:f>
              <c:numCache>
                <c:formatCode>General</c:formatCode>
                <c:ptCount val="60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  <c:pt idx="58">
                  <c:v>2018</c:v>
                </c:pt>
                <c:pt idx="59">
                  <c:v>2019</c:v>
                </c:pt>
              </c:numCache>
            </c:numRef>
          </c:cat>
          <c:val>
            <c:numRef>
              <c:f>Sheet1!$S$45:$S$104</c:f>
              <c:numCache>
                <c:formatCode>#,##0</c:formatCode>
                <c:ptCount val="60"/>
                <c:pt idx="0">
                  <c:v>2081134</c:v>
                </c:pt>
                <c:pt idx="1">
                  <c:v>2129252</c:v>
                </c:pt>
                <c:pt idx="2">
                  <c:v>2200223</c:v>
                </c:pt>
                <c:pt idx="3">
                  <c:v>2247463</c:v>
                </c:pt>
                <c:pt idx="4">
                  <c:v>2295677</c:v>
                </c:pt>
                <c:pt idx="5">
                  <c:v>2338195</c:v>
                </c:pt>
                <c:pt idx="6">
                  <c:v>2391405</c:v>
                </c:pt>
                <c:pt idx="7">
                  <c:v>2440543</c:v>
                </c:pt>
                <c:pt idx="8">
                  <c:v>2459137</c:v>
                </c:pt>
                <c:pt idx="9">
                  <c:v>2579576</c:v>
                </c:pt>
                <c:pt idx="10">
                  <c:v>2601610</c:v>
                </c:pt>
                <c:pt idx="11">
                  <c:v>2692244</c:v>
                </c:pt>
                <c:pt idx="12">
                  <c:v>2804772</c:v>
                </c:pt>
                <c:pt idx="13">
                  <c:v>2943762</c:v>
                </c:pt>
                <c:pt idx="14">
                  <c:v>3028162</c:v>
                </c:pt>
                <c:pt idx="15">
                  <c:v>3096741</c:v>
                </c:pt>
                <c:pt idx="16">
                  <c:v>3178641</c:v>
                </c:pt>
                <c:pt idx="17">
                  <c:v>3395285</c:v>
                </c:pt>
                <c:pt idx="18">
                  <c:v>3610936</c:v>
                </c:pt>
                <c:pt idx="19">
                  <c:v>3856387</c:v>
                </c:pt>
                <c:pt idx="20">
                  <c:v>4090192</c:v>
                </c:pt>
                <c:pt idx="21">
                  <c:v>4272922</c:v>
                </c:pt>
                <c:pt idx="22">
                  <c:v>4440147</c:v>
                </c:pt>
                <c:pt idx="23">
                  <c:v>4540610</c:v>
                </c:pt>
                <c:pt idx="24">
                  <c:v>4814324</c:v>
                </c:pt>
                <c:pt idx="25">
                  <c:v>4990822</c:v>
                </c:pt>
                <c:pt idx="26">
                  <c:v>5131467</c:v>
                </c:pt>
                <c:pt idx="27">
                  <c:v>5260167</c:v>
                </c:pt>
                <c:pt idx="28">
                  <c:v>5217034</c:v>
                </c:pt>
                <c:pt idx="29">
                  <c:v>5263027</c:v>
                </c:pt>
                <c:pt idx="30">
                  <c:v>5270179</c:v>
                </c:pt>
                <c:pt idx="31">
                  <c:v>5318134</c:v>
                </c:pt>
                <c:pt idx="32">
                  <c:v>5353776</c:v>
                </c:pt>
                <c:pt idx="33">
                  <c:v>5432196</c:v>
                </c:pt>
                <c:pt idx="34">
                  <c:v>5836331</c:v>
                </c:pt>
                <c:pt idx="35">
                  <c:v>6055067</c:v>
                </c:pt>
                <c:pt idx="36">
                  <c:v>6285625</c:v>
                </c:pt>
                <c:pt idx="37">
                  <c:v>6468710</c:v>
                </c:pt>
                <c:pt idx="38">
                  <c:v>6704234</c:v>
                </c:pt>
                <c:pt idx="39">
                  <c:v>6872822</c:v>
                </c:pt>
                <c:pt idx="40">
                  <c:v>7102773</c:v>
                </c:pt>
                <c:pt idx="41">
                  <c:v>7267708</c:v>
                </c:pt>
                <c:pt idx="42">
                  <c:v>7508777</c:v>
                </c:pt>
                <c:pt idx="43">
                  <c:v>7776611</c:v>
                </c:pt>
                <c:pt idx="44">
                  <c:v>8104842</c:v>
                </c:pt>
                <c:pt idx="45">
                  <c:v>8434882</c:v>
                </c:pt>
                <c:pt idx="46">
                  <c:v>8787916</c:v>
                </c:pt>
                <c:pt idx="47">
                  <c:v>8965184</c:v>
                </c:pt>
                <c:pt idx="48">
                  <c:v>8993227</c:v>
                </c:pt>
                <c:pt idx="49">
                  <c:v>8814688</c:v>
                </c:pt>
                <c:pt idx="50">
                  <c:v>8869145</c:v>
                </c:pt>
                <c:pt idx="51">
                  <c:v>8914165</c:v>
                </c:pt>
                <c:pt idx="52">
                  <c:v>9041897</c:v>
                </c:pt>
                <c:pt idx="53">
                  <c:v>9152753</c:v>
                </c:pt>
                <c:pt idx="54">
                  <c:v>9422313</c:v>
                </c:pt>
                <c:pt idx="55">
                  <c:v>9623972</c:v>
                </c:pt>
                <c:pt idx="56">
                  <c:v>9775067</c:v>
                </c:pt>
                <c:pt idx="57">
                  <c:v>10005525.584899999</c:v>
                </c:pt>
                <c:pt idx="58">
                  <c:v>10180473</c:v>
                </c:pt>
                <c:pt idx="59">
                  <c:v>10068573.415100001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A8E-4D51-B24E-8DDD9990C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1475536"/>
        <c:axId val="1231476368"/>
      </c:lineChart>
      <c:catAx>
        <c:axId val="1081506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1506560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08150656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1506144"/>
        <c:crosses val="autoZero"/>
        <c:crossBetween val="between"/>
      </c:valAx>
      <c:valAx>
        <c:axId val="1231476368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1475536"/>
        <c:crosses val="max"/>
        <c:crossBetween val="between"/>
      </c:valAx>
      <c:catAx>
        <c:axId val="12314755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314763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7765301416827343E-2"/>
          <c:y val="0.92325662843424472"/>
          <c:w val="0.86972267242266732"/>
          <c:h val="7.67433715657551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Pure equity returns and effort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'debt equity'!$F$1</c:f>
              <c:strCache>
                <c:ptCount val="1"/>
                <c:pt idx="0">
                  <c:v>Investor</c:v>
                </c:pt>
              </c:strCache>
            </c:strRef>
          </c:tx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'debt equity'!$A$2:$A$44</c:f>
              <c:numCache>
                <c:formatCode>General</c:formatCode>
                <c:ptCount val="4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</c:numCache>
            </c:numRef>
          </c:xVal>
          <c:yVal>
            <c:numRef>
              <c:f>'debt equity'!$F$2:$F$44</c:f>
              <c:numCache>
                <c:formatCode>General</c:formatCode>
                <c:ptCount val="43"/>
                <c:pt idx="0">
                  <c:v>0</c:v>
                </c:pt>
                <c:pt idx="1">
                  <c:v>4.82</c:v>
                </c:pt>
                <c:pt idx="2">
                  <c:v>9.64</c:v>
                </c:pt>
                <c:pt idx="3">
                  <c:v>14.459999999999999</c:v>
                </c:pt>
                <c:pt idx="4">
                  <c:v>19.28</c:v>
                </c:pt>
                <c:pt idx="5">
                  <c:v>24.099999999999998</c:v>
                </c:pt>
                <c:pt idx="6">
                  <c:v>28.919999999999998</c:v>
                </c:pt>
                <c:pt idx="7">
                  <c:v>33.74</c:v>
                </c:pt>
                <c:pt idx="8">
                  <c:v>38.56</c:v>
                </c:pt>
                <c:pt idx="9">
                  <c:v>43.379999999999995</c:v>
                </c:pt>
                <c:pt idx="10">
                  <c:v>48.199999999999996</c:v>
                </c:pt>
                <c:pt idx="11">
                  <c:v>53.019999999999996</c:v>
                </c:pt>
                <c:pt idx="12">
                  <c:v>57.839999999999996</c:v>
                </c:pt>
                <c:pt idx="13">
                  <c:v>62.66</c:v>
                </c:pt>
                <c:pt idx="14">
                  <c:v>67.48</c:v>
                </c:pt>
                <c:pt idx="15">
                  <c:v>72.3</c:v>
                </c:pt>
                <c:pt idx="16">
                  <c:v>77.12</c:v>
                </c:pt>
                <c:pt idx="17">
                  <c:v>81.94</c:v>
                </c:pt>
                <c:pt idx="18">
                  <c:v>86.759999999999991</c:v>
                </c:pt>
                <c:pt idx="19">
                  <c:v>91.58</c:v>
                </c:pt>
                <c:pt idx="20">
                  <c:v>96.399999999999991</c:v>
                </c:pt>
                <c:pt idx="21">
                  <c:v>101.22</c:v>
                </c:pt>
                <c:pt idx="22">
                  <c:v>106.03999999999999</c:v>
                </c:pt>
                <c:pt idx="23">
                  <c:v>110.86</c:v>
                </c:pt>
                <c:pt idx="24">
                  <c:v>115.67999999999999</c:v>
                </c:pt>
                <c:pt idx="25">
                  <c:v>120.5</c:v>
                </c:pt>
                <c:pt idx="26">
                  <c:v>125.32</c:v>
                </c:pt>
                <c:pt idx="27">
                  <c:v>130.13999999999999</c:v>
                </c:pt>
                <c:pt idx="28">
                  <c:v>134.96</c:v>
                </c:pt>
                <c:pt idx="29">
                  <c:v>139.78</c:v>
                </c:pt>
                <c:pt idx="30">
                  <c:v>144.6</c:v>
                </c:pt>
                <c:pt idx="31">
                  <c:v>149.41999999999999</c:v>
                </c:pt>
                <c:pt idx="32">
                  <c:v>154.24</c:v>
                </c:pt>
                <c:pt idx="33">
                  <c:v>159.06</c:v>
                </c:pt>
                <c:pt idx="34">
                  <c:v>163.88</c:v>
                </c:pt>
                <c:pt idx="35">
                  <c:v>168.7</c:v>
                </c:pt>
                <c:pt idx="36">
                  <c:v>173.51999999999998</c:v>
                </c:pt>
                <c:pt idx="37">
                  <c:v>178.34</c:v>
                </c:pt>
                <c:pt idx="38">
                  <c:v>183.16</c:v>
                </c:pt>
                <c:pt idx="39">
                  <c:v>187.98</c:v>
                </c:pt>
                <c:pt idx="40">
                  <c:v>192.79999999999998</c:v>
                </c:pt>
                <c:pt idx="41">
                  <c:v>197.62</c:v>
                </c:pt>
                <c:pt idx="42">
                  <c:v>202.44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BAB-4D86-963F-7B1EAA6DE7EC}"/>
            </c:ext>
          </c:extLst>
        </c:ser>
        <c:ser>
          <c:idx val="1"/>
          <c:order val="1"/>
          <c:tx>
            <c:strRef>
              <c:f>'debt equity'!$G$1</c:f>
              <c:strCache>
                <c:ptCount val="1"/>
                <c:pt idx="0">
                  <c:v>Principal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'debt equity'!$A$2:$A$44</c:f>
              <c:numCache>
                <c:formatCode>General</c:formatCode>
                <c:ptCount val="4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</c:numCache>
            </c:numRef>
          </c:xVal>
          <c:yVal>
            <c:numRef>
              <c:f>'debt equity'!$G$2:$G$44</c:f>
              <c:numCache>
                <c:formatCode>General</c:formatCode>
                <c:ptCount val="43"/>
                <c:pt idx="0">
                  <c:v>0</c:v>
                </c:pt>
                <c:pt idx="1">
                  <c:v>5.18</c:v>
                </c:pt>
                <c:pt idx="2">
                  <c:v>10.36</c:v>
                </c:pt>
                <c:pt idx="3">
                  <c:v>15.540000000000001</c:v>
                </c:pt>
                <c:pt idx="4">
                  <c:v>20.72</c:v>
                </c:pt>
                <c:pt idx="5">
                  <c:v>25.900000000000002</c:v>
                </c:pt>
                <c:pt idx="6">
                  <c:v>31.080000000000002</c:v>
                </c:pt>
                <c:pt idx="7">
                  <c:v>36.26</c:v>
                </c:pt>
                <c:pt idx="8">
                  <c:v>41.44</c:v>
                </c:pt>
                <c:pt idx="9">
                  <c:v>46.620000000000005</c:v>
                </c:pt>
                <c:pt idx="10">
                  <c:v>51.800000000000004</c:v>
                </c:pt>
                <c:pt idx="11">
                  <c:v>56.980000000000004</c:v>
                </c:pt>
                <c:pt idx="12">
                  <c:v>62.160000000000004</c:v>
                </c:pt>
                <c:pt idx="13">
                  <c:v>67.34</c:v>
                </c:pt>
                <c:pt idx="14">
                  <c:v>72.52</c:v>
                </c:pt>
                <c:pt idx="15">
                  <c:v>77.7</c:v>
                </c:pt>
                <c:pt idx="16">
                  <c:v>82.88</c:v>
                </c:pt>
                <c:pt idx="17">
                  <c:v>88.06</c:v>
                </c:pt>
                <c:pt idx="18">
                  <c:v>93.240000000000009</c:v>
                </c:pt>
                <c:pt idx="19">
                  <c:v>98.42</c:v>
                </c:pt>
                <c:pt idx="20">
                  <c:v>103.60000000000001</c:v>
                </c:pt>
                <c:pt idx="21">
                  <c:v>108.78</c:v>
                </c:pt>
                <c:pt idx="22">
                  <c:v>113.96000000000001</c:v>
                </c:pt>
                <c:pt idx="23">
                  <c:v>119.14</c:v>
                </c:pt>
                <c:pt idx="24">
                  <c:v>124.32000000000001</c:v>
                </c:pt>
                <c:pt idx="25">
                  <c:v>129.5</c:v>
                </c:pt>
                <c:pt idx="26">
                  <c:v>134.68</c:v>
                </c:pt>
                <c:pt idx="27">
                  <c:v>139.86000000000001</c:v>
                </c:pt>
                <c:pt idx="28">
                  <c:v>145.04</c:v>
                </c:pt>
                <c:pt idx="29">
                  <c:v>150.22</c:v>
                </c:pt>
                <c:pt idx="30">
                  <c:v>155.4</c:v>
                </c:pt>
                <c:pt idx="31">
                  <c:v>160.58000000000001</c:v>
                </c:pt>
                <c:pt idx="32">
                  <c:v>165.76</c:v>
                </c:pt>
                <c:pt idx="33">
                  <c:v>170.94</c:v>
                </c:pt>
                <c:pt idx="34">
                  <c:v>176.12</c:v>
                </c:pt>
                <c:pt idx="35">
                  <c:v>181.3</c:v>
                </c:pt>
                <c:pt idx="36">
                  <c:v>186.48000000000002</c:v>
                </c:pt>
                <c:pt idx="37">
                  <c:v>191.66</c:v>
                </c:pt>
                <c:pt idx="38">
                  <c:v>196.84</c:v>
                </c:pt>
                <c:pt idx="39">
                  <c:v>202.02</c:v>
                </c:pt>
                <c:pt idx="40">
                  <c:v>207.20000000000002</c:v>
                </c:pt>
                <c:pt idx="41">
                  <c:v>212.38</c:v>
                </c:pt>
                <c:pt idx="42">
                  <c:v>217.56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BAB-4D86-963F-7B1EAA6DE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64977168"/>
        <c:axId val="1664983824"/>
      </c:scatterChart>
      <c:valAx>
        <c:axId val="1664977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983824"/>
        <c:crosses val="autoZero"/>
        <c:crossBetween val="midCat"/>
      </c:valAx>
      <c:valAx>
        <c:axId val="1664983824"/>
        <c:scaling>
          <c:orientation val="minMax"/>
          <c:max val="3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9771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</a:t>
            </a:r>
            <a:r>
              <a:rPr lang="en-US" baseline="0" dirty="0"/>
              <a:t>ebt financing</a:t>
            </a:r>
            <a:endParaRPr lang="en-US" dirty="0"/>
          </a:p>
        </c:rich>
      </c:tx>
      <c:layout>
        <c:manualLayout>
          <c:xMode val="edge"/>
          <c:yMode val="edge"/>
          <c:x val="0.33625678040244972"/>
          <c:y val="8.79629629629629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9247594050743664E-2"/>
          <c:y val="5.5972222222222236E-2"/>
          <c:w val="0.87119685039370076"/>
          <c:h val="0.73072506561679795"/>
        </c:manualLayout>
      </c:layout>
      <c:scatterChart>
        <c:scatterStyle val="lineMarker"/>
        <c:varyColors val="0"/>
        <c:ser>
          <c:idx val="0"/>
          <c:order val="0"/>
          <c:tx>
            <c:strRef>
              <c:f>'debt equity'!$B$1</c:f>
              <c:strCache>
                <c:ptCount val="1"/>
                <c:pt idx="0">
                  <c:v>Bond Holder</c:v>
                </c:pt>
              </c:strCache>
            </c:strRef>
          </c:tx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'debt equity'!$A$2:$A$44</c:f>
              <c:numCache>
                <c:formatCode>General</c:formatCode>
                <c:ptCount val="4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</c:numCache>
            </c:numRef>
          </c:xVal>
          <c:yVal>
            <c:numRef>
              <c:f>'debt equity'!$B$2:$B$44</c:f>
              <c:numCache>
                <c:formatCode>General</c:formatCode>
                <c:ptCount val="4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120</c:v>
                </c:pt>
                <c:pt idx="14">
                  <c:v>120</c:v>
                </c:pt>
                <c:pt idx="15">
                  <c:v>120</c:v>
                </c:pt>
                <c:pt idx="16">
                  <c:v>120</c:v>
                </c:pt>
                <c:pt idx="17">
                  <c:v>120</c:v>
                </c:pt>
                <c:pt idx="18">
                  <c:v>120</c:v>
                </c:pt>
                <c:pt idx="19">
                  <c:v>120</c:v>
                </c:pt>
                <c:pt idx="20">
                  <c:v>120</c:v>
                </c:pt>
                <c:pt idx="21">
                  <c:v>120</c:v>
                </c:pt>
                <c:pt idx="22">
                  <c:v>120</c:v>
                </c:pt>
                <c:pt idx="23">
                  <c:v>120</c:v>
                </c:pt>
                <c:pt idx="24">
                  <c:v>120</c:v>
                </c:pt>
                <c:pt idx="25">
                  <c:v>120</c:v>
                </c:pt>
                <c:pt idx="26">
                  <c:v>120</c:v>
                </c:pt>
                <c:pt idx="27">
                  <c:v>120</c:v>
                </c:pt>
                <c:pt idx="28">
                  <c:v>120</c:v>
                </c:pt>
                <c:pt idx="29">
                  <c:v>120</c:v>
                </c:pt>
                <c:pt idx="30">
                  <c:v>120</c:v>
                </c:pt>
                <c:pt idx="31">
                  <c:v>120</c:v>
                </c:pt>
                <c:pt idx="32">
                  <c:v>120</c:v>
                </c:pt>
                <c:pt idx="33">
                  <c:v>120</c:v>
                </c:pt>
                <c:pt idx="34">
                  <c:v>120</c:v>
                </c:pt>
                <c:pt idx="35">
                  <c:v>120</c:v>
                </c:pt>
                <c:pt idx="36">
                  <c:v>120</c:v>
                </c:pt>
                <c:pt idx="37">
                  <c:v>120</c:v>
                </c:pt>
                <c:pt idx="38">
                  <c:v>120</c:v>
                </c:pt>
                <c:pt idx="39">
                  <c:v>120</c:v>
                </c:pt>
                <c:pt idx="40">
                  <c:v>120</c:v>
                </c:pt>
                <c:pt idx="41">
                  <c:v>120</c:v>
                </c:pt>
                <c:pt idx="42">
                  <c:v>120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25C-441A-9F78-EB596207E2EA}"/>
            </c:ext>
          </c:extLst>
        </c:ser>
        <c:ser>
          <c:idx val="1"/>
          <c:order val="1"/>
          <c:tx>
            <c:strRef>
              <c:f>'debt equity'!$C$1</c:f>
              <c:strCache>
                <c:ptCount val="1"/>
                <c:pt idx="0">
                  <c:v>Owner</c:v>
                </c:pt>
              </c:strCache>
            </c:strRef>
          </c:tx>
          <c:spPr>
            <a:ln w="2540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'debt equity'!$A$2:$A$44</c:f>
              <c:numCache>
                <c:formatCode>General</c:formatCode>
                <c:ptCount val="4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</c:numCache>
            </c:numRef>
          </c:xVal>
          <c:yVal>
            <c:numRef>
              <c:f>'debt equity'!$C$2:$C$44</c:f>
              <c:numCache>
                <c:formatCode>General</c:formatCode>
                <c:ptCount val="4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10</c:v>
                </c:pt>
                <c:pt idx="14">
                  <c:v>20</c:v>
                </c:pt>
                <c:pt idx="15">
                  <c:v>30</c:v>
                </c:pt>
                <c:pt idx="16">
                  <c:v>40</c:v>
                </c:pt>
                <c:pt idx="17">
                  <c:v>50</c:v>
                </c:pt>
                <c:pt idx="18">
                  <c:v>60</c:v>
                </c:pt>
                <c:pt idx="19">
                  <c:v>70</c:v>
                </c:pt>
                <c:pt idx="20">
                  <c:v>80</c:v>
                </c:pt>
                <c:pt idx="21">
                  <c:v>90</c:v>
                </c:pt>
                <c:pt idx="22">
                  <c:v>100</c:v>
                </c:pt>
                <c:pt idx="23">
                  <c:v>110</c:v>
                </c:pt>
                <c:pt idx="24">
                  <c:v>120</c:v>
                </c:pt>
                <c:pt idx="25">
                  <c:v>130</c:v>
                </c:pt>
                <c:pt idx="26">
                  <c:v>140</c:v>
                </c:pt>
                <c:pt idx="27">
                  <c:v>150</c:v>
                </c:pt>
                <c:pt idx="28">
                  <c:v>160</c:v>
                </c:pt>
                <c:pt idx="29">
                  <c:v>170</c:v>
                </c:pt>
                <c:pt idx="30">
                  <c:v>180</c:v>
                </c:pt>
                <c:pt idx="31">
                  <c:v>190</c:v>
                </c:pt>
                <c:pt idx="32">
                  <c:v>200</c:v>
                </c:pt>
                <c:pt idx="33">
                  <c:v>210</c:v>
                </c:pt>
                <c:pt idx="34">
                  <c:v>220</c:v>
                </c:pt>
                <c:pt idx="35">
                  <c:v>230</c:v>
                </c:pt>
                <c:pt idx="36">
                  <c:v>240</c:v>
                </c:pt>
                <c:pt idx="37">
                  <c:v>250</c:v>
                </c:pt>
                <c:pt idx="38">
                  <c:v>260</c:v>
                </c:pt>
                <c:pt idx="39">
                  <c:v>270</c:v>
                </c:pt>
                <c:pt idx="40">
                  <c:v>280</c:v>
                </c:pt>
                <c:pt idx="41">
                  <c:v>290</c:v>
                </c:pt>
                <c:pt idx="42">
                  <c:v>300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25C-441A-9F78-EB596207E2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64977168"/>
        <c:axId val="1664983824"/>
      </c:scatterChart>
      <c:valAx>
        <c:axId val="1664977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983824"/>
        <c:crosses val="autoZero"/>
        <c:crossBetween val="midCat"/>
      </c:valAx>
      <c:valAx>
        <c:axId val="1664983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9771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q1=0.6</a:t>
            </a:r>
            <a:r>
              <a:rPr lang="en-US" baseline="0"/>
              <a:t> V1=5 </a:t>
            </a:r>
          </a:p>
          <a:p>
            <a:pPr>
              <a:defRPr/>
            </a:pPr>
            <a:r>
              <a:rPr lang="en-US" baseline="0"/>
              <a:t>q2=0.4 v2=7.2</a:t>
            </a:r>
          </a:p>
          <a:p>
            <a:pPr>
              <a:defRPr/>
            </a:pPr>
            <a:r>
              <a:rPr lang="en-US" baseline="0"/>
              <a:t>k=2.5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74759405074368"/>
          <c:y val="2.5428331875182269E-2"/>
          <c:w val="0.84264129483814521"/>
          <c:h val="0.76266951006124239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Sheet1!$E$18</c:f>
              <c:strCache>
                <c:ptCount val="1"/>
                <c:pt idx="0">
                  <c:v>no project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Sheet1!$D$19:$D$35</c:f>
              <c:numCache>
                <c:formatCode>General</c:formatCode>
                <c:ptCount val="17"/>
                <c:pt idx="0">
                  <c:v>4</c:v>
                </c:pt>
                <c:pt idx="1">
                  <c:v>3.75</c:v>
                </c:pt>
                <c:pt idx="2">
                  <c:v>3.5</c:v>
                </c:pt>
                <c:pt idx="3">
                  <c:v>3.25</c:v>
                </c:pt>
                <c:pt idx="4">
                  <c:v>3</c:v>
                </c:pt>
                <c:pt idx="5">
                  <c:v>2.75</c:v>
                </c:pt>
                <c:pt idx="6">
                  <c:v>2.5</c:v>
                </c:pt>
                <c:pt idx="7">
                  <c:v>2.25</c:v>
                </c:pt>
                <c:pt idx="8">
                  <c:v>2</c:v>
                </c:pt>
                <c:pt idx="9">
                  <c:v>1.75</c:v>
                </c:pt>
                <c:pt idx="10">
                  <c:v>1.5</c:v>
                </c:pt>
                <c:pt idx="11">
                  <c:v>1.25</c:v>
                </c:pt>
                <c:pt idx="12">
                  <c:v>1</c:v>
                </c:pt>
                <c:pt idx="13">
                  <c:v>0.75</c:v>
                </c:pt>
                <c:pt idx="14">
                  <c:v>0.5</c:v>
                </c:pt>
                <c:pt idx="15">
                  <c:v>0.25</c:v>
                </c:pt>
                <c:pt idx="16">
                  <c:v>0</c:v>
                </c:pt>
              </c:numCache>
            </c:numRef>
          </c:xVal>
          <c:yVal>
            <c:numRef>
              <c:f>Sheet1!$E$19:$E$35</c:f>
              <c:numCache>
                <c:formatCode>General</c:formatCode>
                <c:ptCount val="17"/>
                <c:pt idx="0">
                  <c:v>4</c:v>
                </c:pt>
                <c:pt idx="1">
                  <c:v>3.75</c:v>
                </c:pt>
                <c:pt idx="2">
                  <c:v>3.5</c:v>
                </c:pt>
                <c:pt idx="3">
                  <c:v>3.25</c:v>
                </c:pt>
                <c:pt idx="4">
                  <c:v>3</c:v>
                </c:pt>
                <c:pt idx="5">
                  <c:v>2.75</c:v>
                </c:pt>
                <c:pt idx="6">
                  <c:v>2.5</c:v>
                </c:pt>
                <c:pt idx="7">
                  <c:v>2.25</c:v>
                </c:pt>
                <c:pt idx="8">
                  <c:v>2</c:v>
                </c:pt>
                <c:pt idx="9">
                  <c:v>1.75</c:v>
                </c:pt>
                <c:pt idx="10">
                  <c:v>1.5</c:v>
                </c:pt>
                <c:pt idx="11">
                  <c:v>1.25</c:v>
                </c:pt>
                <c:pt idx="12">
                  <c:v>1</c:v>
                </c:pt>
                <c:pt idx="13">
                  <c:v>0.75</c:v>
                </c:pt>
                <c:pt idx="14">
                  <c:v>0.5</c:v>
                </c:pt>
                <c:pt idx="15">
                  <c:v>0.25</c:v>
                </c:pt>
                <c:pt idx="16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85-40AD-8085-AED0E2C82E39}"/>
            </c:ext>
          </c:extLst>
        </c:ser>
        <c:ser>
          <c:idx val="1"/>
          <c:order val="1"/>
          <c:tx>
            <c:strRef>
              <c:f>Sheet1!$F$18</c:f>
              <c:strCache>
                <c:ptCount val="1"/>
                <c:pt idx="0">
                  <c:v>Project 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Sheet1!$D$19:$D$35</c:f>
              <c:numCache>
                <c:formatCode>General</c:formatCode>
                <c:ptCount val="17"/>
                <c:pt idx="0">
                  <c:v>4</c:v>
                </c:pt>
                <c:pt idx="1">
                  <c:v>3.75</c:v>
                </c:pt>
                <c:pt idx="2">
                  <c:v>3.5</c:v>
                </c:pt>
                <c:pt idx="3">
                  <c:v>3.25</c:v>
                </c:pt>
                <c:pt idx="4">
                  <c:v>3</c:v>
                </c:pt>
                <c:pt idx="5">
                  <c:v>2.75</c:v>
                </c:pt>
                <c:pt idx="6">
                  <c:v>2.5</c:v>
                </c:pt>
                <c:pt idx="7">
                  <c:v>2.25</c:v>
                </c:pt>
                <c:pt idx="8">
                  <c:v>2</c:v>
                </c:pt>
                <c:pt idx="9">
                  <c:v>1.75</c:v>
                </c:pt>
                <c:pt idx="10">
                  <c:v>1.5</c:v>
                </c:pt>
                <c:pt idx="11">
                  <c:v>1.25</c:v>
                </c:pt>
                <c:pt idx="12">
                  <c:v>1</c:v>
                </c:pt>
                <c:pt idx="13">
                  <c:v>0.75</c:v>
                </c:pt>
                <c:pt idx="14">
                  <c:v>0.5</c:v>
                </c:pt>
                <c:pt idx="15">
                  <c:v>0.25</c:v>
                </c:pt>
                <c:pt idx="16">
                  <c:v>0</c:v>
                </c:pt>
              </c:numCache>
            </c:numRef>
          </c:xVal>
          <c:yVal>
            <c:numRef>
              <c:f>Sheet1!$F$19:$F$35</c:f>
              <c:numCache>
                <c:formatCode>General</c:formatCode>
                <c:ptCount val="17"/>
                <c:pt idx="0">
                  <c:v>4.5</c:v>
                </c:pt>
                <c:pt idx="1">
                  <c:v>4.25</c:v>
                </c:pt>
                <c:pt idx="2">
                  <c:v>4</c:v>
                </c:pt>
                <c:pt idx="3">
                  <c:v>3.75</c:v>
                </c:pt>
                <c:pt idx="4">
                  <c:v>3.5</c:v>
                </c:pt>
                <c:pt idx="5">
                  <c:v>3.25</c:v>
                </c:pt>
                <c:pt idx="6">
                  <c:v>3</c:v>
                </c:pt>
                <c:pt idx="7">
                  <c:v>2.85</c:v>
                </c:pt>
                <c:pt idx="8">
                  <c:v>2.6999999999999997</c:v>
                </c:pt>
                <c:pt idx="9">
                  <c:v>2.5499999999999998</c:v>
                </c:pt>
                <c:pt idx="10">
                  <c:v>2.4</c:v>
                </c:pt>
                <c:pt idx="11">
                  <c:v>2.25</c:v>
                </c:pt>
                <c:pt idx="12">
                  <c:v>2.1</c:v>
                </c:pt>
                <c:pt idx="13">
                  <c:v>1.95</c:v>
                </c:pt>
                <c:pt idx="14">
                  <c:v>1.7999999999999998</c:v>
                </c:pt>
                <c:pt idx="15">
                  <c:v>1.65</c:v>
                </c:pt>
                <c:pt idx="16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C85-40AD-8085-AED0E2C82E39}"/>
            </c:ext>
          </c:extLst>
        </c:ser>
        <c:ser>
          <c:idx val="2"/>
          <c:order val="2"/>
          <c:tx>
            <c:strRef>
              <c:f>Sheet1!$G$18</c:f>
              <c:strCache>
                <c:ptCount val="1"/>
                <c:pt idx="0">
                  <c:v>Project 2</c:v>
                </c:pt>
              </c:strCache>
            </c:strRef>
          </c:tx>
          <c:spPr>
            <a:ln w="2222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Sheet1!$D$19:$D$35</c:f>
              <c:numCache>
                <c:formatCode>General</c:formatCode>
                <c:ptCount val="17"/>
                <c:pt idx="0">
                  <c:v>4</c:v>
                </c:pt>
                <c:pt idx="1">
                  <c:v>3.75</c:v>
                </c:pt>
                <c:pt idx="2">
                  <c:v>3.5</c:v>
                </c:pt>
                <c:pt idx="3">
                  <c:v>3.25</c:v>
                </c:pt>
                <c:pt idx="4">
                  <c:v>3</c:v>
                </c:pt>
                <c:pt idx="5">
                  <c:v>2.75</c:v>
                </c:pt>
                <c:pt idx="6">
                  <c:v>2.5</c:v>
                </c:pt>
                <c:pt idx="7">
                  <c:v>2.25</c:v>
                </c:pt>
                <c:pt idx="8">
                  <c:v>2</c:v>
                </c:pt>
                <c:pt idx="9">
                  <c:v>1.75</c:v>
                </c:pt>
                <c:pt idx="10">
                  <c:v>1.5</c:v>
                </c:pt>
                <c:pt idx="11">
                  <c:v>1.25</c:v>
                </c:pt>
                <c:pt idx="12">
                  <c:v>1</c:v>
                </c:pt>
                <c:pt idx="13">
                  <c:v>0.75</c:v>
                </c:pt>
                <c:pt idx="14">
                  <c:v>0.5</c:v>
                </c:pt>
                <c:pt idx="15">
                  <c:v>0.25</c:v>
                </c:pt>
                <c:pt idx="16">
                  <c:v>0</c:v>
                </c:pt>
              </c:numCache>
            </c:numRef>
          </c:xVal>
          <c:yVal>
            <c:numRef>
              <c:f>Sheet1!$G$19:$G$35</c:f>
              <c:numCache>
                <c:formatCode>General</c:formatCode>
                <c:ptCount val="17"/>
                <c:pt idx="0">
                  <c:v>4.3000000000000007</c:v>
                </c:pt>
                <c:pt idx="1">
                  <c:v>4.0500000000000007</c:v>
                </c:pt>
                <c:pt idx="2">
                  <c:v>3.8000000000000003</c:v>
                </c:pt>
                <c:pt idx="3">
                  <c:v>3.5500000000000003</c:v>
                </c:pt>
                <c:pt idx="4">
                  <c:v>3.3000000000000003</c:v>
                </c:pt>
                <c:pt idx="5">
                  <c:v>3.0500000000000003</c:v>
                </c:pt>
                <c:pt idx="6">
                  <c:v>2.8000000000000003</c:v>
                </c:pt>
                <c:pt idx="7">
                  <c:v>2.7</c:v>
                </c:pt>
                <c:pt idx="8">
                  <c:v>2.6</c:v>
                </c:pt>
                <c:pt idx="9">
                  <c:v>2.5</c:v>
                </c:pt>
                <c:pt idx="10">
                  <c:v>2.4000000000000004</c:v>
                </c:pt>
                <c:pt idx="11">
                  <c:v>2.3000000000000003</c:v>
                </c:pt>
                <c:pt idx="12">
                  <c:v>2.2000000000000002</c:v>
                </c:pt>
                <c:pt idx="13">
                  <c:v>2.1</c:v>
                </c:pt>
                <c:pt idx="14">
                  <c:v>2</c:v>
                </c:pt>
                <c:pt idx="15">
                  <c:v>1.9000000000000001</c:v>
                </c:pt>
                <c:pt idx="16">
                  <c:v>1.8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C85-40AD-8085-AED0E2C82E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9971167"/>
        <c:axId val="1139973087"/>
      </c:scatterChart>
      <c:valAx>
        <c:axId val="1139971167"/>
        <c:scaling>
          <c:orientation val="minMax"/>
          <c:max val="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Total value (debt +equity)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973087"/>
        <c:crosses val="autoZero"/>
        <c:crossBetween val="midCat"/>
      </c:valAx>
      <c:valAx>
        <c:axId val="1139973087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Equity value</a:t>
                </a:r>
              </a:p>
            </c:rich>
          </c:tx>
          <c:layout>
            <c:manualLayout>
              <c:xMode val="edge"/>
              <c:yMode val="edge"/>
              <c:x val="2.9986001749781277E-2"/>
              <c:y val="0.373367489063866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97116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Initial and secondary Stock Offerings</a:t>
            </a:r>
          </a:p>
        </c:rich>
      </c:tx>
      <c:layout>
        <c:manualLayout>
          <c:xMode val="edge"/>
          <c:yMode val="edge"/>
          <c:x val="0.34585422141027244"/>
          <c:y val="5.28634361233480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058061999006881"/>
          <c:y val="5.6064610866372988E-2"/>
          <c:w val="0.79727613440211853"/>
          <c:h val="0.875805381155549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'Table 1'!$C$1</c:f>
              <c:strCache>
                <c:ptCount val="1"/>
                <c:pt idx="0">
                  <c:v>Secondary offering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numRef>
              <c:f>'Table 1'!$B$2:$B$55</c:f>
              <c:numCache>
                <c:formatCode>0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2016</c:v>
                </c:pt>
                <c:pt idx="47">
                  <c:v>2017</c:v>
                </c:pt>
                <c:pt idx="48">
                  <c:v>2018</c:v>
                </c:pt>
                <c:pt idx="49">
                  <c:v>2019</c:v>
                </c:pt>
                <c:pt idx="50" formatCode="General">
                  <c:v>2020</c:v>
                </c:pt>
                <c:pt idx="51" formatCode="General">
                  <c:v>2021</c:v>
                </c:pt>
                <c:pt idx="52" formatCode="General">
                  <c:v>2022</c:v>
                </c:pt>
                <c:pt idx="53" formatCode="General">
                  <c:v>2023</c:v>
                </c:pt>
              </c:numCache>
            </c:numRef>
          </c:cat>
          <c:val>
            <c:numRef>
              <c:f>'Table 1'!$C$2:$C$55</c:f>
              <c:numCache>
                <c:formatCode>0</c:formatCode>
                <c:ptCount val="54"/>
                <c:pt idx="0">
                  <c:v>88</c:v>
                </c:pt>
                <c:pt idx="1">
                  <c:v>296</c:v>
                </c:pt>
                <c:pt idx="2">
                  <c:v>280</c:v>
                </c:pt>
                <c:pt idx="3">
                  <c:v>45</c:v>
                </c:pt>
                <c:pt idx="4">
                  <c:v>22</c:v>
                </c:pt>
                <c:pt idx="5">
                  <c:v>53</c:v>
                </c:pt>
                <c:pt idx="6">
                  <c:v>78</c:v>
                </c:pt>
                <c:pt idx="7">
                  <c:v>45</c:v>
                </c:pt>
                <c:pt idx="8">
                  <c:v>92</c:v>
                </c:pt>
                <c:pt idx="9">
                  <c:v>83</c:v>
                </c:pt>
                <c:pt idx="10">
                  <c:v>236</c:v>
                </c:pt>
                <c:pt idx="11">
                  <c:v>239</c:v>
                </c:pt>
                <c:pt idx="12">
                  <c:v>184</c:v>
                </c:pt>
                <c:pt idx="13">
                  <c:v>545</c:v>
                </c:pt>
                <c:pt idx="14">
                  <c:v>125</c:v>
                </c:pt>
                <c:pt idx="15">
                  <c:v>268</c:v>
                </c:pt>
                <c:pt idx="16">
                  <c:v>350</c:v>
                </c:pt>
                <c:pt idx="17">
                  <c:v>247</c:v>
                </c:pt>
                <c:pt idx="18">
                  <c:v>107</c:v>
                </c:pt>
                <c:pt idx="19">
                  <c:v>167</c:v>
                </c:pt>
                <c:pt idx="20">
                  <c:v>153</c:v>
                </c:pt>
                <c:pt idx="21">
                  <c:v>326</c:v>
                </c:pt>
                <c:pt idx="22">
                  <c:v>432</c:v>
                </c:pt>
                <c:pt idx="23">
                  <c:v>601</c:v>
                </c:pt>
                <c:pt idx="24">
                  <c:v>697</c:v>
                </c:pt>
                <c:pt idx="25">
                  <c:v>502</c:v>
                </c:pt>
                <c:pt idx="26">
                  <c:v>594</c:v>
                </c:pt>
                <c:pt idx="27">
                  <c:v>643</c:v>
                </c:pt>
                <c:pt idx="28">
                  <c:v>520</c:v>
                </c:pt>
                <c:pt idx="29">
                  <c:v>399</c:v>
                </c:pt>
                <c:pt idx="30">
                  <c:v>312</c:v>
                </c:pt>
                <c:pt idx="31">
                  <c:v>344</c:v>
                </c:pt>
                <c:pt idx="32">
                  <c:v>323</c:v>
                </c:pt>
                <c:pt idx="33">
                  <c:v>386</c:v>
                </c:pt>
                <c:pt idx="34">
                  <c:v>399</c:v>
                </c:pt>
                <c:pt idx="35">
                  <c:v>308</c:v>
                </c:pt>
                <c:pt idx="36">
                  <c:v>291</c:v>
                </c:pt>
                <c:pt idx="37">
                  <c:v>324</c:v>
                </c:pt>
                <c:pt idx="38">
                  <c:v>285</c:v>
                </c:pt>
                <c:pt idx="39">
                  <c:v>749</c:v>
                </c:pt>
                <c:pt idx="40">
                  <c:v>357</c:v>
                </c:pt>
                <c:pt idx="41">
                  <c:v>319</c:v>
                </c:pt>
                <c:pt idx="42">
                  <c:v>477</c:v>
                </c:pt>
                <c:pt idx="43">
                  <c:v>708</c:v>
                </c:pt>
                <c:pt idx="44">
                  <c:v>523</c:v>
                </c:pt>
                <c:pt idx="45" formatCode="General">
                  <c:v>356</c:v>
                </c:pt>
                <c:pt idx="46" formatCode="General">
                  <c:v>308</c:v>
                </c:pt>
                <c:pt idx="47" formatCode="General">
                  <c:v>399</c:v>
                </c:pt>
                <c:pt idx="48" formatCode="General">
                  <c:v>344</c:v>
                </c:pt>
                <c:pt idx="49" formatCode="General">
                  <c:v>313</c:v>
                </c:pt>
                <c:pt idx="50" formatCode="General">
                  <c:v>569</c:v>
                </c:pt>
                <c:pt idx="51" formatCode="General">
                  <c:v>540</c:v>
                </c:pt>
                <c:pt idx="52" formatCode="General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74-4182-996F-3497E3D2D8C7}"/>
            </c:ext>
          </c:extLst>
        </c:ser>
        <c:ser>
          <c:idx val="2"/>
          <c:order val="2"/>
          <c:tx>
            <c:strRef>
              <c:f>'Table 1'!$E$1</c:f>
              <c:strCache>
                <c:ptCount val="1"/>
                <c:pt idx="0">
                  <c:v>Initial offerings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numRef>
              <c:f>'Table 1'!$B$2:$B$55</c:f>
              <c:numCache>
                <c:formatCode>0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2016</c:v>
                </c:pt>
                <c:pt idx="47">
                  <c:v>2017</c:v>
                </c:pt>
                <c:pt idx="48">
                  <c:v>2018</c:v>
                </c:pt>
                <c:pt idx="49">
                  <c:v>2019</c:v>
                </c:pt>
                <c:pt idx="50" formatCode="General">
                  <c:v>2020</c:v>
                </c:pt>
                <c:pt idx="51" formatCode="General">
                  <c:v>2021</c:v>
                </c:pt>
                <c:pt idx="52" formatCode="General">
                  <c:v>2022</c:v>
                </c:pt>
                <c:pt idx="53" formatCode="General">
                  <c:v>2023</c:v>
                </c:pt>
              </c:numCache>
            </c:numRef>
          </c:cat>
          <c:val>
            <c:numRef>
              <c:f>'Table 1'!$E$2:$E$55</c:f>
              <c:numCache>
                <c:formatCode>General</c:formatCode>
                <c:ptCount val="54"/>
                <c:pt idx="5">
                  <c:v>12</c:v>
                </c:pt>
                <c:pt idx="6">
                  <c:v>29</c:v>
                </c:pt>
                <c:pt idx="7">
                  <c:v>23</c:v>
                </c:pt>
                <c:pt idx="8">
                  <c:v>24</c:v>
                </c:pt>
                <c:pt idx="9">
                  <c:v>50</c:v>
                </c:pt>
                <c:pt idx="10">
                  <c:v>77</c:v>
                </c:pt>
                <c:pt idx="11">
                  <c:v>196</c:v>
                </c:pt>
                <c:pt idx="12">
                  <c:v>84</c:v>
                </c:pt>
                <c:pt idx="13">
                  <c:v>692</c:v>
                </c:pt>
                <c:pt idx="14">
                  <c:v>360</c:v>
                </c:pt>
                <c:pt idx="15">
                  <c:v>346</c:v>
                </c:pt>
                <c:pt idx="16">
                  <c:v>719</c:v>
                </c:pt>
                <c:pt idx="17">
                  <c:v>537</c:v>
                </c:pt>
                <c:pt idx="18">
                  <c:v>294</c:v>
                </c:pt>
                <c:pt idx="19">
                  <c:v>254</c:v>
                </c:pt>
                <c:pt idx="20">
                  <c:v>213</c:v>
                </c:pt>
                <c:pt idx="21">
                  <c:v>407</c:v>
                </c:pt>
                <c:pt idx="22">
                  <c:v>606</c:v>
                </c:pt>
                <c:pt idx="23">
                  <c:v>812</c:v>
                </c:pt>
                <c:pt idx="24">
                  <c:v>627</c:v>
                </c:pt>
                <c:pt idx="25">
                  <c:v>575</c:v>
                </c:pt>
                <c:pt idx="26">
                  <c:v>841</c:v>
                </c:pt>
                <c:pt idx="27">
                  <c:v>618</c:v>
                </c:pt>
                <c:pt idx="28">
                  <c:v>392</c:v>
                </c:pt>
                <c:pt idx="29">
                  <c:v>565</c:v>
                </c:pt>
                <c:pt idx="30">
                  <c:v>431</c:v>
                </c:pt>
                <c:pt idx="31">
                  <c:v>130</c:v>
                </c:pt>
                <c:pt idx="32">
                  <c:v>161</c:v>
                </c:pt>
                <c:pt idx="33">
                  <c:v>132</c:v>
                </c:pt>
                <c:pt idx="34">
                  <c:v>292</c:v>
                </c:pt>
                <c:pt idx="35">
                  <c:v>255</c:v>
                </c:pt>
                <c:pt idx="36">
                  <c:v>226</c:v>
                </c:pt>
                <c:pt idx="37">
                  <c:v>261</c:v>
                </c:pt>
                <c:pt idx="38">
                  <c:v>36</c:v>
                </c:pt>
                <c:pt idx="39">
                  <c:v>80</c:v>
                </c:pt>
                <c:pt idx="40">
                  <c:v>191</c:v>
                </c:pt>
                <c:pt idx="41">
                  <c:v>162</c:v>
                </c:pt>
                <c:pt idx="42">
                  <c:v>166</c:v>
                </c:pt>
                <c:pt idx="43">
                  <c:v>245</c:v>
                </c:pt>
                <c:pt idx="44">
                  <c:v>294</c:v>
                </c:pt>
                <c:pt idx="45">
                  <c:v>163</c:v>
                </c:pt>
                <c:pt idx="46">
                  <c:v>113</c:v>
                </c:pt>
                <c:pt idx="47">
                  <c:v>202</c:v>
                </c:pt>
                <c:pt idx="48">
                  <c:v>243</c:v>
                </c:pt>
                <c:pt idx="49">
                  <c:v>228</c:v>
                </c:pt>
                <c:pt idx="50">
                  <c:v>465</c:v>
                </c:pt>
                <c:pt idx="51">
                  <c:v>1026</c:v>
                </c:pt>
                <c:pt idx="52">
                  <c:v>175</c:v>
                </c:pt>
                <c:pt idx="53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74-4182-996F-3497E3D2D8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61413984"/>
        <c:axId val="361412736"/>
      </c:barChart>
      <c:lineChart>
        <c:grouping val="standard"/>
        <c:varyColors val="0"/>
        <c:ser>
          <c:idx val="1"/>
          <c:order val="1"/>
          <c:tx>
            <c:strRef>
              <c:f>'Table 1'!$D$1</c:f>
              <c:strCache>
                <c:ptCount val="1"/>
                <c:pt idx="0">
                  <c:v>Listed companies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'Table 1'!$B$2:$B$55</c:f>
              <c:numCache>
                <c:formatCode>0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2016</c:v>
                </c:pt>
                <c:pt idx="47">
                  <c:v>2017</c:v>
                </c:pt>
                <c:pt idx="48">
                  <c:v>2018</c:v>
                </c:pt>
                <c:pt idx="49">
                  <c:v>2019</c:v>
                </c:pt>
                <c:pt idx="50" formatCode="General">
                  <c:v>2020</c:v>
                </c:pt>
                <c:pt idx="51" formatCode="General">
                  <c:v>2021</c:v>
                </c:pt>
                <c:pt idx="52" formatCode="General">
                  <c:v>2022</c:v>
                </c:pt>
                <c:pt idx="53" formatCode="General">
                  <c:v>2023</c:v>
                </c:pt>
              </c:numCache>
            </c:numRef>
          </c:cat>
          <c:val>
            <c:numRef>
              <c:f>'Table 1'!$D$2:$D$55</c:f>
              <c:numCache>
                <c:formatCode>General</c:formatCode>
                <c:ptCount val="54"/>
                <c:pt idx="5">
                  <c:v>2670</c:v>
                </c:pt>
                <c:pt idx="6">
                  <c:v>2680</c:v>
                </c:pt>
                <c:pt idx="7">
                  <c:v>2582</c:v>
                </c:pt>
                <c:pt idx="8">
                  <c:v>2489</c:v>
                </c:pt>
                <c:pt idx="9">
                  <c:v>2401</c:v>
                </c:pt>
                <c:pt idx="10">
                  <c:v>5164</c:v>
                </c:pt>
                <c:pt idx="11">
                  <c:v>5590</c:v>
                </c:pt>
                <c:pt idx="12">
                  <c:v>5430</c:v>
                </c:pt>
                <c:pt idx="13">
                  <c:v>6175</c:v>
                </c:pt>
                <c:pt idx="14">
                  <c:v>6230</c:v>
                </c:pt>
                <c:pt idx="15">
                  <c:v>6260</c:v>
                </c:pt>
                <c:pt idx="16">
                  <c:v>6580</c:v>
                </c:pt>
                <c:pt idx="17">
                  <c:v>7001</c:v>
                </c:pt>
                <c:pt idx="18">
                  <c:v>6795</c:v>
                </c:pt>
                <c:pt idx="19">
                  <c:v>6627</c:v>
                </c:pt>
                <c:pt idx="20">
                  <c:v>6429</c:v>
                </c:pt>
                <c:pt idx="21">
                  <c:v>6513</c:v>
                </c:pt>
                <c:pt idx="22">
                  <c:v>6562</c:v>
                </c:pt>
                <c:pt idx="23">
                  <c:v>6912</c:v>
                </c:pt>
                <c:pt idx="24">
                  <c:v>7255</c:v>
                </c:pt>
                <c:pt idx="25">
                  <c:v>7487</c:v>
                </c:pt>
                <c:pt idx="26">
                  <c:v>8090</c:v>
                </c:pt>
                <c:pt idx="27">
                  <c:v>7905</c:v>
                </c:pt>
                <c:pt idx="28">
                  <c:v>7499</c:v>
                </c:pt>
                <c:pt idx="29">
                  <c:v>7229</c:v>
                </c:pt>
                <c:pt idx="30">
                  <c:v>6917</c:v>
                </c:pt>
                <c:pt idx="31">
                  <c:v>6177</c:v>
                </c:pt>
                <c:pt idx="32">
                  <c:v>5685</c:v>
                </c:pt>
                <c:pt idx="33">
                  <c:v>5295</c:v>
                </c:pt>
                <c:pt idx="34">
                  <c:v>5226</c:v>
                </c:pt>
                <c:pt idx="35">
                  <c:v>5145</c:v>
                </c:pt>
                <c:pt idx="36">
                  <c:v>5133</c:v>
                </c:pt>
                <c:pt idx="37">
                  <c:v>5109</c:v>
                </c:pt>
                <c:pt idx="38">
                  <c:v>4666</c:v>
                </c:pt>
                <c:pt idx="39">
                  <c:v>4401</c:v>
                </c:pt>
                <c:pt idx="40">
                  <c:v>4279</c:v>
                </c:pt>
                <c:pt idx="41">
                  <c:v>4171</c:v>
                </c:pt>
                <c:pt idx="42">
                  <c:v>4102</c:v>
                </c:pt>
                <c:pt idx="43">
                  <c:v>4180</c:v>
                </c:pt>
                <c:pt idx="44">
                  <c:v>4369</c:v>
                </c:pt>
                <c:pt idx="45">
                  <c:v>4381</c:v>
                </c:pt>
                <c:pt idx="46">
                  <c:v>4331</c:v>
                </c:pt>
                <c:pt idx="47">
                  <c:v>4336</c:v>
                </c:pt>
                <c:pt idx="48">
                  <c:v>4397</c:v>
                </c:pt>
                <c:pt idx="49">
                  <c:v>4266</c:v>
                </c:pt>
                <c:pt idx="50">
                  <c:v>4144</c:v>
                </c:pt>
                <c:pt idx="51">
                  <c:v>5301</c:v>
                </c:pt>
                <c:pt idx="52">
                  <c:v>6366</c:v>
                </c:pt>
                <c:pt idx="53">
                  <c:v>5856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74-4182-996F-3497E3D2D8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5036576"/>
        <c:axId val="355049056"/>
      </c:lineChart>
      <c:catAx>
        <c:axId val="3550365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04905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355049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Number of Publicly</a:t>
                </a:r>
                <a:r>
                  <a:rPr lang="en-US" sz="1600" baseline="0"/>
                  <a:t> Traded companies</a:t>
                </a:r>
                <a:endParaRPr lang="en-US" sz="1600"/>
              </a:p>
            </c:rich>
          </c:tx>
          <c:layout>
            <c:manualLayout>
              <c:xMode val="edge"/>
              <c:yMode val="edge"/>
              <c:x val="1.8018018018018018E-2"/>
              <c:y val="0.2237249421506219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036576"/>
        <c:crosses val="autoZero"/>
        <c:crossBetween val="between"/>
      </c:valAx>
      <c:valAx>
        <c:axId val="36141273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Number of offerings </a:t>
                </a:r>
              </a:p>
            </c:rich>
          </c:tx>
          <c:layout>
            <c:manualLayout>
              <c:xMode val="edge"/>
              <c:yMode val="edge"/>
              <c:x val="0.95420680523042734"/>
              <c:y val="0.357836374637297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413984"/>
        <c:crosses val="max"/>
        <c:crossBetween val="between"/>
      </c:valAx>
      <c:catAx>
        <c:axId val="361413984"/>
        <c:scaling>
          <c:orientation val="minMax"/>
        </c:scaling>
        <c:delete val="1"/>
        <c:axPos val="b"/>
        <c:numFmt formatCode="0" sourceLinked="1"/>
        <c:majorTickMark val="out"/>
        <c:minorTickMark val="none"/>
        <c:tickLblPos val="nextTo"/>
        <c:crossAx val="3614127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0053587051618548"/>
          <c:y val="8.2385654982308987E-2"/>
          <c:w val="0.23953545737338386"/>
          <c:h val="0.215909282798277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Proportion</a:t>
            </a:r>
            <a:r>
              <a:rPr lang="en-US" baseline="0"/>
              <a:t> of firms with more  dual class shares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'Dual class'!$H$1</c:f>
              <c:strCache>
                <c:ptCount val="1"/>
                <c:pt idx="0">
                  <c:v>Dual Class IPO</c:v>
                </c:pt>
              </c:strCache>
            </c:strRef>
          </c:tx>
          <c:spPr>
            <a:pattFill prst="pct9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cat>
            <c:numRef>
              <c:f>'Dual class'!$G$2:$G$50</c:f>
              <c:numCache>
                <c:formatCode>General</c:formatCode>
                <c:ptCount val="49"/>
                <c:pt idx="0">
                  <c:v>1975</c:v>
                </c:pt>
                <c:pt idx="1">
                  <c:v>1976</c:v>
                </c:pt>
                <c:pt idx="2">
                  <c:v>1977</c:v>
                </c:pt>
                <c:pt idx="3">
                  <c:v>1978</c:v>
                </c:pt>
                <c:pt idx="4">
                  <c:v>1979</c:v>
                </c:pt>
                <c:pt idx="5">
                  <c:v>1980</c:v>
                </c:pt>
                <c:pt idx="6">
                  <c:v>1981</c:v>
                </c:pt>
                <c:pt idx="7">
                  <c:v>1982</c:v>
                </c:pt>
                <c:pt idx="8">
                  <c:v>1983</c:v>
                </c:pt>
                <c:pt idx="9">
                  <c:v>1984</c:v>
                </c:pt>
                <c:pt idx="10">
                  <c:v>1985</c:v>
                </c:pt>
                <c:pt idx="11">
                  <c:v>1986</c:v>
                </c:pt>
                <c:pt idx="12">
                  <c:v>1987</c:v>
                </c:pt>
                <c:pt idx="13">
                  <c:v>1988</c:v>
                </c:pt>
                <c:pt idx="14">
                  <c:v>1989</c:v>
                </c:pt>
                <c:pt idx="15">
                  <c:v>1990</c:v>
                </c:pt>
                <c:pt idx="16">
                  <c:v>1991</c:v>
                </c:pt>
                <c:pt idx="17">
                  <c:v>1992</c:v>
                </c:pt>
                <c:pt idx="18">
                  <c:v>1993</c:v>
                </c:pt>
                <c:pt idx="19">
                  <c:v>1994</c:v>
                </c:pt>
                <c:pt idx="20">
                  <c:v>1995</c:v>
                </c:pt>
                <c:pt idx="21">
                  <c:v>1996</c:v>
                </c:pt>
                <c:pt idx="22">
                  <c:v>1997</c:v>
                </c:pt>
                <c:pt idx="23">
                  <c:v>1998</c:v>
                </c:pt>
                <c:pt idx="24">
                  <c:v>1999</c:v>
                </c:pt>
                <c:pt idx="25">
                  <c:v>2000</c:v>
                </c:pt>
                <c:pt idx="26">
                  <c:v>2001</c:v>
                </c:pt>
                <c:pt idx="27">
                  <c:v>2002</c:v>
                </c:pt>
                <c:pt idx="28">
                  <c:v>2003</c:v>
                </c:pt>
                <c:pt idx="29">
                  <c:v>2004</c:v>
                </c:pt>
                <c:pt idx="30">
                  <c:v>2005</c:v>
                </c:pt>
                <c:pt idx="31">
                  <c:v>2006</c:v>
                </c:pt>
                <c:pt idx="32">
                  <c:v>2007</c:v>
                </c:pt>
                <c:pt idx="33">
                  <c:v>2008</c:v>
                </c:pt>
                <c:pt idx="34">
                  <c:v>2009</c:v>
                </c:pt>
                <c:pt idx="35">
                  <c:v>2010</c:v>
                </c:pt>
                <c:pt idx="36">
                  <c:v>2011</c:v>
                </c:pt>
                <c:pt idx="37">
                  <c:v>2012</c:v>
                </c:pt>
                <c:pt idx="38">
                  <c:v>2013</c:v>
                </c:pt>
                <c:pt idx="39">
                  <c:v>2014</c:v>
                </c:pt>
                <c:pt idx="40">
                  <c:v>2015</c:v>
                </c:pt>
                <c:pt idx="41">
                  <c:v>2016</c:v>
                </c:pt>
                <c:pt idx="42">
                  <c:v>2017</c:v>
                </c:pt>
                <c:pt idx="43">
                  <c:v>2018</c:v>
                </c:pt>
                <c:pt idx="44">
                  <c:v>2019</c:v>
                </c:pt>
                <c:pt idx="45">
                  <c:v>2020</c:v>
                </c:pt>
                <c:pt idx="46">
                  <c:v>2021</c:v>
                </c:pt>
                <c:pt idx="47">
                  <c:v>2022</c:v>
                </c:pt>
                <c:pt idx="48">
                  <c:v>2023</c:v>
                </c:pt>
              </c:numCache>
            </c:numRef>
          </c:cat>
          <c:val>
            <c:numRef>
              <c:f>'Dual class'!$H$2:$H$50</c:f>
              <c:numCache>
                <c:formatCode>General</c:formatCode>
                <c:ptCount val="49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6</c:v>
                </c:pt>
                <c:pt idx="7">
                  <c:v>0</c:v>
                </c:pt>
                <c:pt idx="8">
                  <c:v>7</c:v>
                </c:pt>
                <c:pt idx="9">
                  <c:v>9</c:v>
                </c:pt>
                <c:pt idx="10">
                  <c:v>16</c:v>
                </c:pt>
                <c:pt idx="11">
                  <c:v>33</c:v>
                </c:pt>
                <c:pt idx="12">
                  <c:v>34</c:v>
                </c:pt>
                <c:pt idx="13">
                  <c:v>17</c:v>
                </c:pt>
                <c:pt idx="14">
                  <c:v>8</c:v>
                </c:pt>
                <c:pt idx="15">
                  <c:v>9</c:v>
                </c:pt>
                <c:pt idx="16">
                  <c:v>25</c:v>
                </c:pt>
                <c:pt idx="17">
                  <c:v>36</c:v>
                </c:pt>
                <c:pt idx="18">
                  <c:v>62</c:v>
                </c:pt>
                <c:pt idx="19">
                  <c:v>46</c:v>
                </c:pt>
                <c:pt idx="20">
                  <c:v>32</c:v>
                </c:pt>
                <c:pt idx="21">
                  <c:v>59</c:v>
                </c:pt>
                <c:pt idx="22">
                  <c:v>57</c:v>
                </c:pt>
                <c:pt idx="23">
                  <c:v>43</c:v>
                </c:pt>
                <c:pt idx="24">
                  <c:v>42</c:v>
                </c:pt>
                <c:pt idx="25">
                  <c:v>30</c:v>
                </c:pt>
                <c:pt idx="26">
                  <c:v>15</c:v>
                </c:pt>
                <c:pt idx="27">
                  <c:v>52</c:v>
                </c:pt>
                <c:pt idx="28">
                  <c:v>23</c:v>
                </c:pt>
                <c:pt idx="29">
                  <c:v>26</c:v>
                </c:pt>
                <c:pt idx="30">
                  <c:v>24</c:v>
                </c:pt>
                <c:pt idx="31">
                  <c:v>17</c:v>
                </c:pt>
                <c:pt idx="32">
                  <c:v>65</c:v>
                </c:pt>
                <c:pt idx="33">
                  <c:v>10</c:v>
                </c:pt>
                <c:pt idx="34">
                  <c:v>14</c:v>
                </c:pt>
                <c:pt idx="35">
                  <c:v>57</c:v>
                </c:pt>
                <c:pt idx="36">
                  <c:v>44</c:v>
                </c:pt>
                <c:pt idx="37">
                  <c:v>42</c:v>
                </c:pt>
                <c:pt idx="38">
                  <c:v>58</c:v>
                </c:pt>
                <c:pt idx="39">
                  <c:v>70</c:v>
                </c:pt>
                <c:pt idx="40">
                  <c:v>40</c:v>
                </c:pt>
                <c:pt idx="41">
                  <c:v>23</c:v>
                </c:pt>
                <c:pt idx="42">
                  <c:v>57</c:v>
                </c:pt>
                <c:pt idx="43">
                  <c:v>64</c:v>
                </c:pt>
                <c:pt idx="44">
                  <c:v>57</c:v>
                </c:pt>
                <c:pt idx="45">
                  <c:v>73</c:v>
                </c:pt>
                <c:pt idx="46">
                  <c:v>166</c:v>
                </c:pt>
                <c:pt idx="47">
                  <c:v>40</c:v>
                </c:pt>
                <c:pt idx="48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23-49AE-AAC3-B0895EEEE5FE}"/>
            </c:ext>
          </c:extLst>
        </c:ser>
        <c:ser>
          <c:idx val="1"/>
          <c:order val="1"/>
          <c:tx>
            <c:strRef>
              <c:f>'Dual class'!$I$1</c:f>
              <c:strCache>
                <c:ptCount val="1"/>
                <c:pt idx="0">
                  <c:v>Single Class IPO</c:v>
                </c:pt>
              </c:strCache>
            </c:strRef>
          </c:tx>
          <c:spPr>
            <a:pattFill prst="pct2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  <a:effectLst/>
          </c:spPr>
          <c:cat>
            <c:numRef>
              <c:f>'Dual class'!$G$2:$G$50</c:f>
              <c:numCache>
                <c:formatCode>General</c:formatCode>
                <c:ptCount val="49"/>
                <c:pt idx="0">
                  <c:v>1975</c:v>
                </c:pt>
                <c:pt idx="1">
                  <c:v>1976</c:v>
                </c:pt>
                <c:pt idx="2">
                  <c:v>1977</c:v>
                </c:pt>
                <c:pt idx="3">
                  <c:v>1978</c:v>
                </c:pt>
                <c:pt idx="4">
                  <c:v>1979</c:v>
                </c:pt>
                <c:pt idx="5">
                  <c:v>1980</c:v>
                </c:pt>
                <c:pt idx="6">
                  <c:v>1981</c:v>
                </c:pt>
                <c:pt idx="7">
                  <c:v>1982</c:v>
                </c:pt>
                <c:pt idx="8">
                  <c:v>1983</c:v>
                </c:pt>
                <c:pt idx="9">
                  <c:v>1984</c:v>
                </c:pt>
                <c:pt idx="10">
                  <c:v>1985</c:v>
                </c:pt>
                <c:pt idx="11">
                  <c:v>1986</c:v>
                </c:pt>
                <c:pt idx="12">
                  <c:v>1987</c:v>
                </c:pt>
                <c:pt idx="13">
                  <c:v>1988</c:v>
                </c:pt>
                <c:pt idx="14">
                  <c:v>1989</c:v>
                </c:pt>
                <c:pt idx="15">
                  <c:v>1990</c:v>
                </c:pt>
                <c:pt idx="16">
                  <c:v>1991</c:v>
                </c:pt>
                <c:pt idx="17">
                  <c:v>1992</c:v>
                </c:pt>
                <c:pt idx="18">
                  <c:v>1993</c:v>
                </c:pt>
                <c:pt idx="19">
                  <c:v>1994</c:v>
                </c:pt>
                <c:pt idx="20">
                  <c:v>1995</c:v>
                </c:pt>
                <c:pt idx="21">
                  <c:v>1996</c:v>
                </c:pt>
                <c:pt idx="22">
                  <c:v>1997</c:v>
                </c:pt>
                <c:pt idx="23">
                  <c:v>1998</c:v>
                </c:pt>
                <c:pt idx="24">
                  <c:v>1999</c:v>
                </c:pt>
                <c:pt idx="25">
                  <c:v>2000</c:v>
                </c:pt>
                <c:pt idx="26">
                  <c:v>2001</c:v>
                </c:pt>
                <c:pt idx="27">
                  <c:v>2002</c:v>
                </c:pt>
                <c:pt idx="28">
                  <c:v>2003</c:v>
                </c:pt>
                <c:pt idx="29">
                  <c:v>2004</c:v>
                </c:pt>
                <c:pt idx="30">
                  <c:v>2005</c:v>
                </c:pt>
                <c:pt idx="31">
                  <c:v>2006</c:v>
                </c:pt>
                <c:pt idx="32">
                  <c:v>2007</c:v>
                </c:pt>
                <c:pt idx="33">
                  <c:v>2008</c:v>
                </c:pt>
                <c:pt idx="34">
                  <c:v>2009</c:v>
                </c:pt>
                <c:pt idx="35">
                  <c:v>2010</c:v>
                </c:pt>
                <c:pt idx="36">
                  <c:v>2011</c:v>
                </c:pt>
                <c:pt idx="37">
                  <c:v>2012</c:v>
                </c:pt>
                <c:pt idx="38">
                  <c:v>2013</c:v>
                </c:pt>
                <c:pt idx="39">
                  <c:v>2014</c:v>
                </c:pt>
                <c:pt idx="40">
                  <c:v>2015</c:v>
                </c:pt>
                <c:pt idx="41">
                  <c:v>2016</c:v>
                </c:pt>
                <c:pt idx="42">
                  <c:v>2017</c:v>
                </c:pt>
                <c:pt idx="43">
                  <c:v>2018</c:v>
                </c:pt>
                <c:pt idx="44">
                  <c:v>2019</c:v>
                </c:pt>
                <c:pt idx="45">
                  <c:v>2020</c:v>
                </c:pt>
                <c:pt idx="46">
                  <c:v>2021</c:v>
                </c:pt>
                <c:pt idx="47">
                  <c:v>2022</c:v>
                </c:pt>
                <c:pt idx="48">
                  <c:v>2023</c:v>
                </c:pt>
              </c:numCache>
            </c:numRef>
          </c:cat>
          <c:val>
            <c:numRef>
              <c:f>'Dual class'!$I$2:$I$50</c:f>
              <c:numCache>
                <c:formatCode>General</c:formatCode>
                <c:ptCount val="49"/>
                <c:pt idx="0">
                  <c:v>10</c:v>
                </c:pt>
                <c:pt idx="1">
                  <c:v>27</c:v>
                </c:pt>
                <c:pt idx="2">
                  <c:v>23</c:v>
                </c:pt>
                <c:pt idx="3">
                  <c:v>24</c:v>
                </c:pt>
                <c:pt idx="4">
                  <c:v>50</c:v>
                </c:pt>
                <c:pt idx="5">
                  <c:v>76</c:v>
                </c:pt>
                <c:pt idx="6">
                  <c:v>190</c:v>
                </c:pt>
                <c:pt idx="7">
                  <c:v>84</c:v>
                </c:pt>
                <c:pt idx="8">
                  <c:v>685</c:v>
                </c:pt>
                <c:pt idx="9">
                  <c:v>351</c:v>
                </c:pt>
                <c:pt idx="10">
                  <c:v>330</c:v>
                </c:pt>
                <c:pt idx="11">
                  <c:v>686</c:v>
                </c:pt>
                <c:pt idx="12">
                  <c:v>503</c:v>
                </c:pt>
                <c:pt idx="13">
                  <c:v>277</c:v>
                </c:pt>
                <c:pt idx="14">
                  <c:v>246</c:v>
                </c:pt>
                <c:pt idx="15">
                  <c:v>204</c:v>
                </c:pt>
                <c:pt idx="16">
                  <c:v>382</c:v>
                </c:pt>
                <c:pt idx="17">
                  <c:v>570</c:v>
                </c:pt>
                <c:pt idx="18">
                  <c:v>750</c:v>
                </c:pt>
                <c:pt idx="19">
                  <c:v>581</c:v>
                </c:pt>
                <c:pt idx="20">
                  <c:v>543</c:v>
                </c:pt>
                <c:pt idx="21">
                  <c:v>782</c:v>
                </c:pt>
                <c:pt idx="22">
                  <c:v>561</c:v>
                </c:pt>
                <c:pt idx="23">
                  <c:v>349</c:v>
                </c:pt>
                <c:pt idx="24">
                  <c:v>523</c:v>
                </c:pt>
                <c:pt idx="25">
                  <c:v>401</c:v>
                </c:pt>
                <c:pt idx="26">
                  <c:v>115</c:v>
                </c:pt>
                <c:pt idx="27">
                  <c:v>109</c:v>
                </c:pt>
                <c:pt idx="28">
                  <c:v>109</c:v>
                </c:pt>
                <c:pt idx="29">
                  <c:v>266</c:v>
                </c:pt>
                <c:pt idx="30">
                  <c:v>231</c:v>
                </c:pt>
                <c:pt idx="31">
                  <c:v>209</c:v>
                </c:pt>
                <c:pt idx="32">
                  <c:v>196</c:v>
                </c:pt>
                <c:pt idx="33">
                  <c:v>26</c:v>
                </c:pt>
                <c:pt idx="34">
                  <c:v>66</c:v>
                </c:pt>
                <c:pt idx="35">
                  <c:v>134</c:v>
                </c:pt>
                <c:pt idx="36">
                  <c:v>118</c:v>
                </c:pt>
                <c:pt idx="37">
                  <c:v>124</c:v>
                </c:pt>
                <c:pt idx="38">
                  <c:v>187</c:v>
                </c:pt>
                <c:pt idx="39">
                  <c:v>224</c:v>
                </c:pt>
                <c:pt idx="40">
                  <c:v>123</c:v>
                </c:pt>
                <c:pt idx="41">
                  <c:v>90</c:v>
                </c:pt>
                <c:pt idx="42">
                  <c:v>145</c:v>
                </c:pt>
                <c:pt idx="43">
                  <c:v>179</c:v>
                </c:pt>
                <c:pt idx="44">
                  <c:v>171</c:v>
                </c:pt>
                <c:pt idx="45">
                  <c:v>392</c:v>
                </c:pt>
                <c:pt idx="46">
                  <c:v>860</c:v>
                </c:pt>
                <c:pt idx="47">
                  <c:v>135</c:v>
                </c:pt>
                <c:pt idx="48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23-49AE-AAC3-B0895EEEE5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6397056"/>
        <c:axId val="376375840"/>
      </c:areaChart>
      <c:lineChart>
        <c:grouping val="standard"/>
        <c:varyColors val="0"/>
        <c:ser>
          <c:idx val="2"/>
          <c:order val="2"/>
          <c:tx>
            <c:strRef>
              <c:f>'Dual class'!$J$1</c:f>
              <c:strCache>
                <c:ptCount val="1"/>
              </c:strCache>
            </c:strRef>
          </c:tx>
          <c:spPr>
            <a:ln w="3492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'Dual class'!$G$2:$G$50</c:f>
              <c:numCache>
                <c:formatCode>General</c:formatCode>
                <c:ptCount val="49"/>
                <c:pt idx="0">
                  <c:v>1975</c:v>
                </c:pt>
                <c:pt idx="1">
                  <c:v>1976</c:v>
                </c:pt>
                <c:pt idx="2">
                  <c:v>1977</c:v>
                </c:pt>
                <c:pt idx="3">
                  <c:v>1978</c:v>
                </c:pt>
                <c:pt idx="4">
                  <c:v>1979</c:v>
                </c:pt>
                <c:pt idx="5">
                  <c:v>1980</c:v>
                </c:pt>
                <c:pt idx="6">
                  <c:v>1981</c:v>
                </c:pt>
                <c:pt idx="7">
                  <c:v>1982</c:v>
                </c:pt>
                <c:pt idx="8">
                  <c:v>1983</c:v>
                </c:pt>
                <c:pt idx="9">
                  <c:v>1984</c:v>
                </c:pt>
                <c:pt idx="10">
                  <c:v>1985</c:v>
                </c:pt>
                <c:pt idx="11">
                  <c:v>1986</c:v>
                </c:pt>
                <c:pt idx="12">
                  <c:v>1987</c:v>
                </c:pt>
                <c:pt idx="13">
                  <c:v>1988</c:v>
                </c:pt>
                <c:pt idx="14">
                  <c:v>1989</c:v>
                </c:pt>
                <c:pt idx="15">
                  <c:v>1990</c:v>
                </c:pt>
                <c:pt idx="16">
                  <c:v>1991</c:v>
                </c:pt>
                <c:pt idx="17">
                  <c:v>1992</c:v>
                </c:pt>
                <c:pt idx="18">
                  <c:v>1993</c:v>
                </c:pt>
                <c:pt idx="19">
                  <c:v>1994</c:v>
                </c:pt>
                <c:pt idx="20">
                  <c:v>1995</c:v>
                </c:pt>
                <c:pt idx="21">
                  <c:v>1996</c:v>
                </c:pt>
                <c:pt idx="22">
                  <c:v>1997</c:v>
                </c:pt>
                <c:pt idx="23">
                  <c:v>1998</c:v>
                </c:pt>
                <c:pt idx="24">
                  <c:v>1999</c:v>
                </c:pt>
                <c:pt idx="25">
                  <c:v>2000</c:v>
                </c:pt>
                <c:pt idx="26">
                  <c:v>2001</c:v>
                </c:pt>
                <c:pt idx="27">
                  <c:v>2002</c:v>
                </c:pt>
                <c:pt idx="28">
                  <c:v>2003</c:v>
                </c:pt>
                <c:pt idx="29">
                  <c:v>2004</c:v>
                </c:pt>
                <c:pt idx="30">
                  <c:v>2005</c:v>
                </c:pt>
                <c:pt idx="31">
                  <c:v>2006</c:v>
                </c:pt>
                <c:pt idx="32">
                  <c:v>2007</c:v>
                </c:pt>
                <c:pt idx="33">
                  <c:v>2008</c:v>
                </c:pt>
                <c:pt idx="34">
                  <c:v>2009</c:v>
                </c:pt>
                <c:pt idx="35">
                  <c:v>2010</c:v>
                </c:pt>
                <c:pt idx="36">
                  <c:v>2011</c:v>
                </c:pt>
                <c:pt idx="37">
                  <c:v>2012</c:v>
                </c:pt>
                <c:pt idx="38">
                  <c:v>2013</c:v>
                </c:pt>
                <c:pt idx="39">
                  <c:v>2014</c:v>
                </c:pt>
                <c:pt idx="40">
                  <c:v>2015</c:v>
                </c:pt>
                <c:pt idx="41">
                  <c:v>2016</c:v>
                </c:pt>
                <c:pt idx="42">
                  <c:v>2017</c:v>
                </c:pt>
                <c:pt idx="43">
                  <c:v>2018</c:v>
                </c:pt>
                <c:pt idx="44">
                  <c:v>2019</c:v>
                </c:pt>
                <c:pt idx="45">
                  <c:v>2020</c:v>
                </c:pt>
                <c:pt idx="46">
                  <c:v>2021</c:v>
                </c:pt>
                <c:pt idx="47">
                  <c:v>2022</c:v>
                </c:pt>
                <c:pt idx="48">
                  <c:v>2023</c:v>
                </c:pt>
              </c:numCache>
            </c:numRef>
          </c:cat>
          <c:val>
            <c:numRef>
              <c:f>'Dual class'!$J$2:$J$50</c:f>
              <c:numCache>
                <c:formatCode>General</c:formatCode>
                <c:ptCount val="49"/>
                <c:pt idx="0">
                  <c:v>12</c:v>
                </c:pt>
                <c:pt idx="1">
                  <c:v>29</c:v>
                </c:pt>
                <c:pt idx="2">
                  <c:v>23</c:v>
                </c:pt>
                <c:pt idx="3">
                  <c:v>24</c:v>
                </c:pt>
                <c:pt idx="4">
                  <c:v>50</c:v>
                </c:pt>
                <c:pt idx="5">
                  <c:v>77</c:v>
                </c:pt>
                <c:pt idx="6">
                  <c:v>196</c:v>
                </c:pt>
                <c:pt idx="7">
                  <c:v>84</c:v>
                </c:pt>
                <c:pt idx="8">
                  <c:v>692</c:v>
                </c:pt>
                <c:pt idx="9">
                  <c:v>360</c:v>
                </c:pt>
                <c:pt idx="10">
                  <c:v>346</c:v>
                </c:pt>
                <c:pt idx="11">
                  <c:v>719</c:v>
                </c:pt>
                <c:pt idx="12">
                  <c:v>537</c:v>
                </c:pt>
                <c:pt idx="13">
                  <c:v>294</c:v>
                </c:pt>
                <c:pt idx="14">
                  <c:v>254</c:v>
                </c:pt>
                <c:pt idx="15">
                  <c:v>213</c:v>
                </c:pt>
                <c:pt idx="16">
                  <c:v>407</c:v>
                </c:pt>
                <c:pt idx="17">
                  <c:v>606</c:v>
                </c:pt>
                <c:pt idx="18">
                  <c:v>812</c:v>
                </c:pt>
                <c:pt idx="19">
                  <c:v>627</c:v>
                </c:pt>
                <c:pt idx="20">
                  <c:v>575</c:v>
                </c:pt>
                <c:pt idx="21">
                  <c:v>841</c:v>
                </c:pt>
                <c:pt idx="22">
                  <c:v>618</c:v>
                </c:pt>
                <c:pt idx="23">
                  <c:v>392</c:v>
                </c:pt>
                <c:pt idx="24">
                  <c:v>565</c:v>
                </c:pt>
                <c:pt idx="25">
                  <c:v>431</c:v>
                </c:pt>
                <c:pt idx="26">
                  <c:v>130</c:v>
                </c:pt>
                <c:pt idx="27">
                  <c:v>161</c:v>
                </c:pt>
                <c:pt idx="28">
                  <c:v>132</c:v>
                </c:pt>
                <c:pt idx="29">
                  <c:v>292</c:v>
                </c:pt>
                <c:pt idx="30">
                  <c:v>255</c:v>
                </c:pt>
                <c:pt idx="31">
                  <c:v>226</c:v>
                </c:pt>
                <c:pt idx="32">
                  <c:v>261</c:v>
                </c:pt>
                <c:pt idx="33">
                  <c:v>36</c:v>
                </c:pt>
                <c:pt idx="34">
                  <c:v>80</c:v>
                </c:pt>
                <c:pt idx="35">
                  <c:v>191</c:v>
                </c:pt>
                <c:pt idx="36">
                  <c:v>162</c:v>
                </c:pt>
                <c:pt idx="37">
                  <c:v>166</c:v>
                </c:pt>
                <c:pt idx="38">
                  <c:v>245</c:v>
                </c:pt>
                <c:pt idx="39">
                  <c:v>294</c:v>
                </c:pt>
                <c:pt idx="40">
                  <c:v>163</c:v>
                </c:pt>
                <c:pt idx="41">
                  <c:v>113</c:v>
                </c:pt>
                <c:pt idx="42">
                  <c:v>202</c:v>
                </c:pt>
                <c:pt idx="43">
                  <c:v>243</c:v>
                </c:pt>
                <c:pt idx="44">
                  <c:v>228</c:v>
                </c:pt>
                <c:pt idx="45">
                  <c:v>465</c:v>
                </c:pt>
                <c:pt idx="46">
                  <c:v>1026</c:v>
                </c:pt>
                <c:pt idx="47">
                  <c:v>175</c:v>
                </c:pt>
                <c:pt idx="48">
                  <c:v>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523-49AE-AAC3-B0895EEEE5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5179743"/>
        <c:axId val="571779679"/>
      </c:lineChart>
      <c:catAx>
        <c:axId val="376397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6375840"/>
        <c:crosses val="autoZero"/>
        <c:auto val="1"/>
        <c:lblAlgn val="ctr"/>
        <c:lblOffset val="100"/>
        <c:noMultiLvlLbl val="0"/>
      </c:catAx>
      <c:valAx>
        <c:axId val="376375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6397056"/>
        <c:crosses val="autoZero"/>
        <c:crossBetween val="between"/>
      </c:valAx>
      <c:valAx>
        <c:axId val="57177967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5179743"/>
        <c:crosses val="max"/>
        <c:crossBetween val="between"/>
      </c:valAx>
      <c:catAx>
        <c:axId val="4851797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717796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Aphabet</a:t>
            </a:r>
            <a:r>
              <a:rPr lang="en-US" sz="2000" baseline="0"/>
              <a:t> Class A and C share prices </a:t>
            </a:r>
            <a:endParaRPr lang="en-US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google!$B$1</c:f>
              <c:strCache>
                <c:ptCount val="1"/>
                <c:pt idx="0">
                  <c:v>Class A 1 vote per share (GOOGL)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google!$A$2:$A$99</c:f>
              <c:numCache>
                <c:formatCode>m/d/yyyy</c:formatCode>
                <c:ptCount val="98"/>
                <c:pt idx="0">
                  <c:v>43160</c:v>
                </c:pt>
                <c:pt idx="1">
                  <c:v>43191</c:v>
                </c:pt>
                <c:pt idx="2">
                  <c:v>43221</c:v>
                </c:pt>
                <c:pt idx="3">
                  <c:v>43252</c:v>
                </c:pt>
                <c:pt idx="4">
                  <c:v>43282</c:v>
                </c:pt>
                <c:pt idx="5">
                  <c:v>43313</c:v>
                </c:pt>
                <c:pt idx="6">
                  <c:v>43344</c:v>
                </c:pt>
                <c:pt idx="7">
                  <c:v>43374</c:v>
                </c:pt>
                <c:pt idx="8">
                  <c:v>43405</c:v>
                </c:pt>
                <c:pt idx="9">
                  <c:v>43435</c:v>
                </c:pt>
                <c:pt idx="10">
                  <c:v>43466</c:v>
                </c:pt>
                <c:pt idx="11">
                  <c:v>43497</c:v>
                </c:pt>
                <c:pt idx="12">
                  <c:v>43525</c:v>
                </c:pt>
                <c:pt idx="13">
                  <c:v>43556</c:v>
                </c:pt>
                <c:pt idx="14">
                  <c:v>43586</c:v>
                </c:pt>
                <c:pt idx="15">
                  <c:v>43617</c:v>
                </c:pt>
                <c:pt idx="16">
                  <c:v>43647</c:v>
                </c:pt>
                <c:pt idx="17">
                  <c:v>43678</c:v>
                </c:pt>
                <c:pt idx="18">
                  <c:v>43709</c:v>
                </c:pt>
                <c:pt idx="19">
                  <c:v>43739</c:v>
                </c:pt>
                <c:pt idx="20">
                  <c:v>43770</c:v>
                </c:pt>
                <c:pt idx="21">
                  <c:v>43800</c:v>
                </c:pt>
                <c:pt idx="22">
                  <c:v>43831</c:v>
                </c:pt>
                <c:pt idx="23">
                  <c:v>43862</c:v>
                </c:pt>
                <c:pt idx="24">
                  <c:v>43891</c:v>
                </c:pt>
                <c:pt idx="25">
                  <c:v>43922</c:v>
                </c:pt>
                <c:pt idx="26">
                  <c:v>43952</c:v>
                </c:pt>
                <c:pt idx="27">
                  <c:v>43983</c:v>
                </c:pt>
                <c:pt idx="28">
                  <c:v>44013</c:v>
                </c:pt>
                <c:pt idx="29">
                  <c:v>44044</c:v>
                </c:pt>
                <c:pt idx="30">
                  <c:v>44075</c:v>
                </c:pt>
                <c:pt idx="31">
                  <c:v>44105</c:v>
                </c:pt>
                <c:pt idx="32">
                  <c:v>44136</c:v>
                </c:pt>
                <c:pt idx="33">
                  <c:v>44166</c:v>
                </c:pt>
                <c:pt idx="34">
                  <c:v>44197</c:v>
                </c:pt>
                <c:pt idx="35">
                  <c:v>44228</c:v>
                </c:pt>
                <c:pt idx="36">
                  <c:v>44256</c:v>
                </c:pt>
                <c:pt idx="37">
                  <c:v>44287</c:v>
                </c:pt>
                <c:pt idx="38">
                  <c:v>44317</c:v>
                </c:pt>
                <c:pt idx="39">
                  <c:v>44348</c:v>
                </c:pt>
                <c:pt idx="40">
                  <c:v>44378</c:v>
                </c:pt>
                <c:pt idx="41">
                  <c:v>44409</c:v>
                </c:pt>
                <c:pt idx="42">
                  <c:v>44440</c:v>
                </c:pt>
                <c:pt idx="43">
                  <c:v>44470</c:v>
                </c:pt>
                <c:pt idx="44">
                  <c:v>44501</c:v>
                </c:pt>
                <c:pt idx="45">
                  <c:v>44531</c:v>
                </c:pt>
                <c:pt idx="46">
                  <c:v>44562</c:v>
                </c:pt>
                <c:pt idx="47">
                  <c:v>44593</c:v>
                </c:pt>
                <c:pt idx="48">
                  <c:v>44621</c:v>
                </c:pt>
                <c:pt idx="49">
                  <c:v>44652</c:v>
                </c:pt>
                <c:pt idx="50">
                  <c:v>44682</c:v>
                </c:pt>
                <c:pt idx="51">
                  <c:v>44713</c:v>
                </c:pt>
                <c:pt idx="52">
                  <c:v>44743</c:v>
                </c:pt>
                <c:pt idx="53">
                  <c:v>44774</c:v>
                </c:pt>
                <c:pt idx="54">
                  <c:v>44805</c:v>
                </c:pt>
                <c:pt idx="55">
                  <c:v>44835</c:v>
                </c:pt>
                <c:pt idx="56">
                  <c:v>44866</c:v>
                </c:pt>
                <c:pt idx="57">
                  <c:v>44896</c:v>
                </c:pt>
                <c:pt idx="58">
                  <c:v>44927</c:v>
                </c:pt>
                <c:pt idx="59">
                  <c:v>44958</c:v>
                </c:pt>
                <c:pt idx="60">
                  <c:v>44986</c:v>
                </c:pt>
                <c:pt idx="61">
                  <c:v>45019</c:v>
                </c:pt>
                <c:pt idx="62">
                  <c:v>45047</c:v>
                </c:pt>
                <c:pt idx="63">
                  <c:v>45078</c:v>
                </c:pt>
                <c:pt idx="64">
                  <c:v>45110</c:v>
                </c:pt>
                <c:pt idx="65">
                  <c:v>45139</c:v>
                </c:pt>
                <c:pt idx="66">
                  <c:v>45170</c:v>
                </c:pt>
                <c:pt idx="67">
                  <c:v>45201</c:v>
                </c:pt>
                <c:pt idx="68">
                  <c:v>45231</c:v>
                </c:pt>
                <c:pt idx="69">
                  <c:v>45261</c:v>
                </c:pt>
                <c:pt idx="70">
                  <c:v>45293</c:v>
                </c:pt>
                <c:pt idx="71">
                  <c:v>45323</c:v>
                </c:pt>
                <c:pt idx="72" formatCode="d\-mmm\-yy">
                  <c:v>45323</c:v>
                </c:pt>
                <c:pt idx="73" formatCode="d\-mmm\-yy">
                  <c:v>45352</c:v>
                </c:pt>
                <c:pt idx="74" formatCode="d\-mmm\-yy">
                  <c:v>45383</c:v>
                </c:pt>
                <c:pt idx="75" formatCode="d\-mmm\-yy">
                  <c:v>45413</c:v>
                </c:pt>
                <c:pt idx="76" formatCode="d\-mmm\-yy">
                  <c:v>45444</c:v>
                </c:pt>
                <c:pt idx="77" formatCode="d\-mmm\-yy">
                  <c:v>45474</c:v>
                </c:pt>
                <c:pt idx="78" formatCode="d\-mmm\-yy">
                  <c:v>45505</c:v>
                </c:pt>
                <c:pt idx="79" formatCode="d\-mmm\-yy">
                  <c:v>45536</c:v>
                </c:pt>
                <c:pt idx="80" formatCode="d\-mmm\-yy">
                  <c:v>45566</c:v>
                </c:pt>
                <c:pt idx="81" formatCode="d\-mmm\-yy">
                  <c:v>45597</c:v>
                </c:pt>
                <c:pt idx="82" formatCode="d\-mmm\-yy">
                  <c:v>45627</c:v>
                </c:pt>
                <c:pt idx="83" formatCode="d\-mmm\-yy">
                  <c:v>45658</c:v>
                </c:pt>
                <c:pt idx="84" formatCode="d\-mmm\-yy">
                  <c:v>45689</c:v>
                </c:pt>
                <c:pt idx="85" formatCode="d\-mmm\-yy">
                  <c:v>45717</c:v>
                </c:pt>
                <c:pt idx="86" formatCode="d\-mmm\-yy">
                  <c:v>45748</c:v>
                </c:pt>
                <c:pt idx="87" formatCode="d\-mmm\-yy">
                  <c:v>45778</c:v>
                </c:pt>
                <c:pt idx="88" formatCode="d\-mmm\-yy">
                  <c:v>45809</c:v>
                </c:pt>
                <c:pt idx="89" formatCode="d\-mmm\-yy">
                  <c:v>45839</c:v>
                </c:pt>
                <c:pt idx="90" formatCode="d\-mmm\-yy">
                  <c:v>45870</c:v>
                </c:pt>
                <c:pt idx="91" formatCode="d\-mmm\-yy">
                  <c:v>45901</c:v>
                </c:pt>
                <c:pt idx="92" formatCode="d\-mmm\-yy">
                  <c:v>45931</c:v>
                </c:pt>
                <c:pt idx="93" formatCode="d\-mmm\-yy">
                  <c:v>45962</c:v>
                </c:pt>
                <c:pt idx="94" formatCode="d\-mmm\-yy">
                  <c:v>45992</c:v>
                </c:pt>
                <c:pt idx="95" formatCode="d\-mmm\-yy">
                  <c:v>46023</c:v>
                </c:pt>
                <c:pt idx="96" formatCode="d\-mmm\-yy">
                  <c:v>46054</c:v>
                </c:pt>
                <c:pt idx="97" formatCode="d\-mmm\-yy">
                  <c:v>46077</c:v>
                </c:pt>
              </c:numCache>
            </c:numRef>
          </c:xVal>
          <c:yVal>
            <c:numRef>
              <c:f>google!$B$2:$B$99</c:f>
              <c:numCache>
                <c:formatCode>General</c:formatCode>
                <c:ptCount val="98"/>
                <c:pt idx="0">
                  <c:v>51.589500000000001</c:v>
                </c:pt>
                <c:pt idx="1">
                  <c:v>50.866501</c:v>
                </c:pt>
                <c:pt idx="2">
                  <c:v>54.249499999999998</c:v>
                </c:pt>
                <c:pt idx="3">
                  <c:v>55.782501000000003</c:v>
                </c:pt>
                <c:pt idx="4">
                  <c:v>60.862999000000002</c:v>
                </c:pt>
                <c:pt idx="5">
                  <c:v>60.909500000000001</c:v>
                </c:pt>
                <c:pt idx="6">
                  <c:v>59.673499999999997</c:v>
                </c:pt>
                <c:pt idx="7">
                  <c:v>53.838501000000001</c:v>
                </c:pt>
                <c:pt idx="8">
                  <c:v>54.721499999999999</c:v>
                </c:pt>
                <c:pt idx="9">
                  <c:v>51.780498999999999</c:v>
                </c:pt>
                <c:pt idx="10">
                  <c:v>55.818500999999998</c:v>
                </c:pt>
                <c:pt idx="11">
                  <c:v>55.995998</c:v>
                </c:pt>
                <c:pt idx="12">
                  <c:v>58.665500999999999</c:v>
                </c:pt>
                <c:pt idx="13">
                  <c:v>59.423999999999999</c:v>
                </c:pt>
                <c:pt idx="14">
                  <c:v>55.181499000000002</c:v>
                </c:pt>
                <c:pt idx="15">
                  <c:v>54.045501999999999</c:v>
                </c:pt>
                <c:pt idx="16">
                  <c:v>60.834000000000003</c:v>
                </c:pt>
                <c:pt idx="17">
                  <c:v>59.404998999999997</c:v>
                </c:pt>
                <c:pt idx="18">
                  <c:v>60.950001</c:v>
                </c:pt>
                <c:pt idx="19">
                  <c:v>63.005501000000002</c:v>
                </c:pt>
                <c:pt idx="20">
                  <c:v>65.248001000000002</c:v>
                </c:pt>
                <c:pt idx="21">
                  <c:v>66.850998000000004</c:v>
                </c:pt>
                <c:pt idx="22">
                  <c:v>71.711501999999996</c:v>
                </c:pt>
                <c:pt idx="23">
                  <c:v>66.966498999999999</c:v>
                </c:pt>
                <c:pt idx="24">
                  <c:v>58.140498999999998</c:v>
                </c:pt>
                <c:pt idx="25">
                  <c:v>67.432998999999995</c:v>
                </c:pt>
                <c:pt idx="26">
                  <c:v>71.445999</c:v>
                </c:pt>
                <c:pt idx="27">
                  <c:v>70.680496000000005</c:v>
                </c:pt>
                <c:pt idx="28">
                  <c:v>74.148003000000003</c:v>
                </c:pt>
                <c:pt idx="29">
                  <c:v>81.709000000000003</c:v>
                </c:pt>
                <c:pt idx="30">
                  <c:v>73.480002999999996</c:v>
                </c:pt>
                <c:pt idx="31">
                  <c:v>81.050499000000002</c:v>
                </c:pt>
                <c:pt idx="32">
                  <c:v>88.037002999999999</c:v>
                </c:pt>
                <c:pt idx="33">
                  <c:v>87.594002000000003</c:v>
                </c:pt>
                <c:pt idx="34">
                  <c:v>91.787002999999999</c:v>
                </c:pt>
                <c:pt idx="35">
                  <c:v>101.843002</c:v>
                </c:pt>
                <c:pt idx="36">
                  <c:v>103.43150300000001</c:v>
                </c:pt>
                <c:pt idx="37">
                  <c:v>120.50599699999999</c:v>
                </c:pt>
                <c:pt idx="38">
                  <c:v>120.578003</c:v>
                </c:pt>
                <c:pt idx="39">
                  <c:v>125.316002</c:v>
                </c:pt>
                <c:pt idx="40">
                  <c:v>135.22099299999999</c:v>
                </c:pt>
                <c:pt idx="41">
                  <c:v>145.462006</c:v>
                </c:pt>
                <c:pt idx="42">
                  <c:v>133.265503</c:v>
                </c:pt>
                <c:pt idx="43">
                  <c:v>148.27049299999999</c:v>
                </c:pt>
                <c:pt idx="44">
                  <c:v>142.45199600000001</c:v>
                </c:pt>
                <c:pt idx="45">
                  <c:v>144.67950400000001</c:v>
                </c:pt>
                <c:pt idx="46">
                  <c:v>135.69850199999999</c:v>
                </c:pt>
                <c:pt idx="47">
                  <c:v>134.891006</c:v>
                </c:pt>
                <c:pt idx="48">
                  <c:v>139.649506</c:v>
                </c:pt>
                <c:pt idx="49">
                  <c:v>114.966499</c:v>
                </c:pt>
                <c:pt idx="50">
                  <c:v>114.039001</c:v>
                </c:pt>
                <c:pt idx="51">
                  <c:v>109.37249799999999</c:v>
                </c:pt>
                <c:pt idx="52">
                  <c:v>116.639999</c:v>
                </c:pt>
                <c:pt idx="53">
                  <c:v>109.150002</c:v>
                </c:pt>
                <c:pt idx="54">
                  <c:v>96.150002000000001</c:v>
                </c:pt>
                <c:pt idx="55">
                  <c:v>94.660004000000001</c:v>
                </c:pt>
                <c:pt idx="56">
                  <c:v>101.449997</c:v>
                </c:pt>
                <c:pt idx="57">
                  <c:v>88.730002999999996</c:v>
                </c:pt>
                <c:pt idx="58">
                  <c:v>99.870002999999997</c:v>
                </c:pt>
                <c:pt idx="59">
                  <c:v>91.800003000000004</c:v>
                </c:pt>
                <c:pt idx="60" formatCode="&quot;$&quot;#,##0.00_);[Red]\(&quot;$&quot;#,##0.00\)">
                  <c:v>90.51</c:v>
                </c:pt>
                <c:pt idx="61" formatCode="&quot;$&quot;#,##0.00_);[Red]\(&quot;$&quot;#,##0.00\)">
                  <c:v>104.91</c:v>
                </c:pt>
                <c:pt idx="62" formatCode="&quot;$&quot;#,##0.00_);[Red]\(&quot;$&quot;#,##0.00\)">
                  <c:v>107.71</c:v>
                </c:pt>
                <c:pt idx="63" formatCode="&quot;$&quot;#,##0.00_);[Red]\(&quot;$&quot;#,##0.00\)">
                  <c:v>124.37</c:v>
                </c:pt>
                <c:pt idx="64" formatCode="&quot;$&quot;#,##0.00_);[Red]\(&quot;$&quot;#,##0.00\)">
                  <c:v>120.56</c:v>
                </c:pt>
                <c:pt idx="65" formatCode="&quot;$&quot;#,##0.00_);[Red]\(&quot;$&quot;#,##0.00\)">
                  <c:v>131.88999999999999</c:v>
                </c:pt>
                <c:pt idx="66" formatCode="&quot;$&quot;#,##0.00_);[Red]\(&quot;$&quot;#,##0.00\)">
                  <c:v>136.80000000000001</c:v>
                </c:pt>
                <c:pt idx="67" formatCode="&quot;$&quot;#,##0.00_);[Red]\(&quot;$&quot;#,##0.00\)">
                  <c:v>135.16999999999999</c:v>
                </c:pt>
                <c:pt idx="68" formatCode="&quot;$&quot;#,##0.00_);[Red]\(&quot;$&quot;#,##0.00\)">
                  <c:v>127.57</c:v>
                </c:pt>
                <c:pt idx="69" formatCode="&quot;$&quot;#,##0.00_);[Red]\(&quot;$&quot;#,##0.00\)">
                  <c:v>133.32</c:v>
                </c:pt>
                <c:pt idx="70" formatCode="&quot;$&quot;#,##0.00_);[Red]\(&quot;$&quot;#,##0.00\)">
                  <c:v>139.56</c:v>
                </c:pt>
                <c:pt idx="71" formatCode="&quot;$&quot;#,##0.00_);[Red]\(&quot;$&quot;#,##0.00\)">
                  <c:v>142.71</c:v>
                </c:pt>
                <c:pt idx="72">
                  <c:v>143.69</c:v>
                </c:pt>
                <c:pt idx="73">
                  <c:v>139.61000000000001</c:v>
                </c:pt>
                <c:pt idx="74">
                  <c:v>151.83000000000001</c:v>
                </c:pt>
                <c:pt idx="75">
                  <c:v>166.18</c:v>
                </c:pt>
                <c:pt idx="76">
                  <c:v>173.88</c:v>
                </c:pt>
                <c:pt idx="77">
                  <c:v>184.48</c:v>
                </c:pt>
                <c:pt idx="78">
                  <c:v>171.98</c:v>
                </c:pt>
                <c:pt idx="79">
                  <c:v>163.32</c:v>
                </c:pt>
                <c:pt idx="80">
                  <c:v>168.86</c:v>
                </c:pt>
                <c:pt idx="81">
                  <c:v>171.54</c:v>
                </c:pt>
                <c:pt idx="82">
                  <c:v>170.32</c:v>
                </c:pt>
                <c:pt idx="83">
                  <c:v>191.49</c:v>
                </c:pt>
                <c:pt idx="84">
                  <c:v>202.21</c:v>
                </c:pt>
                <c:pt idx="85">
                  <c:v>173.73</c:v>
                </c:pt>
                <c:pt idx="86">
                  <c:v>155.30000000000001</c:v>
                </c:pt>
                <c:pt idx="87">
                  <c:v>162.52000000000001</c:v>
                </c:pt>
                <c:pt idx="88">
                  <c:v>169.01</c:v>
                </c:pt>
                <c:pt idx="89">
                  <c:v>176.8</c:v>
                </c:pt>
                <c:pt idx="90">
                  <c:v>189.78</c:v>
                </c:pt>
                <c:pt idx="91">
                  <c:v>208.99</c:v>
                </c:pt>
                <c:pt idx="92">
                  <c:v>241.18</c:v>
                </c:pt>
                <c:pt idx="93">
                  <c:v>282.42</c:v>
                </c:pt>
                <c:pt idx="94">
                  <c:v>317.48</c:v>
                </c:pt>
                <c:pt idx="95">
                  <c:v>317.58999999999997</c:v>
                </c:pt>
                <c:pt idx="96">
                  <c:v>336.55</c:v>
                </c:pt>
                <c:pt idx="97">
                  <c:v>310.56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47-437C-8E71-8016AC159CA1}"/>
            </c:ext>
          </c:extLst>
        </c:ser>
        <c:ser>
          <c:idx val="1"/>
          <c:order val="1"/>
          <c:tx>
            <c:strRef>
              <c:f>google!$C$1</c:f>
              <c:strCache>
                <c:ptCount val="1"/>
                <c:pt idx="0">
                  <c:v>Class C no votes per share (GOOG)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google!$A$2:$A$99</c:f>
              <c:numCache>
                <c:formatCode>m/d/yyyy</c:formatCode>
                <c:ptCount val="98"/>
                <c:pt idx="0">
                  <c:v>43160</c:v>
                </c:pt>
                <c:pt idx="1">
                  <c:v>43191</c:v>
                </c:pt>
                <c:pt idx="2">
                  <c:v>43221</c:v>
                </c:pt>
                <c:pt idx="3">
                  <c:v>43252</c:v>
                </c:pt>
                <c:pt idx="4">
                  <c:v>43282</c:v>
                </c:pt>
                <c:pt idx="5">
                  <c:v>43313</c:v>
                </c:pt>
                <c:pt idx="6">
                  <c:v>43344</c:v>
                </c:pt>
                <c:pt idx="7">
                  <c:v>43374</c:v>
                </c:pt>
                <c:pt idx="8">
                  <c:v>43405</c:v>
                </c:pt>
                <c:pt idx="9">
                  <c:v>43435</c:v>
                </c:pt>
                <c:pt idx="10">
                  <c:v>43466</c:v>
                </c:pt>
                <c:pt idx="11">
                  <c:v>43497</c:v>
                </c:pt>
                <c:pt idx="12">
                  <c:v>43525</c:v>
                </c:pt>
                <c:pt idx="13">
                  <c:v>43556</c:v>
                </c:pt>
                <c:pt idx="14">
                  <c:v>43586</c:v>
                </c:pt>
                <c:pt idx="15">
                  <c:v>43617</c:v>
                </c:pt>
                <c:pt idx="16">
                  <c:v>43647</c:v>
                </c:pt>
                <c:pt idx="17">
                  <c:v>43678</c:v>
                </c:pt>
                <c:pt idx="18">
                  <c:v>43709</c:v>
                </c:pt>
                <c:pt idx="19">
                  <c:v>43739</c:v>
                </c:pt>
                <c:pt idx="20">
                  <c:v>43770</c:v>
                </c:pt>
                <c:pt idx="21">
                  <c:v>43800</c:v>
                </c:pt>
                <c:pt idx="22">
                  <c:v>43831</c:v>
                </c:pt>
                <c:pt idx="23">
                  <c:v>43862</c:v>
                </c:pt>
                <c:pt idx="24">
                  <c:v>43891</c:v>
                </c:pt>
                <c:pt idx="25">
                  <c:v>43922</c:v>
                </c:pt>
                <c:pt idx="26">
                  <c:v>43952</c:v>
                </c:pt>
                <c:pt idx="27">
                  <c:v>43983</c:v>
                </c:pt>
                <c:pt idx="28">
                  <c:v>44013</c:v>
                </c:pt>
                <c:pt idx="29">
                  <c:v>44044</c:v>
                </c:pt>
                <c:pt idx="30">
                  <c:v>44075</c:v>
                </c:pt>
                <c:pt idx="31">
                  <c:v>44105</c:v>
                </c:pt>
                <c:pt idx="32">
                  <c:v>44136</c:v>
                </c:pt>
                <c:pt idx="33">
                  <c:v>44166</c:v>
                </c:pt>
                <c:pt idx="34">
                  <c:v>44197</c:v>
                </c:pt>
                <c:pt idx="35">
                  <c:v>44228</c:v>
                </c:pt>
                <c:pt idx="36">
                  <c:v>44256</c:v>
                </c:pt>
                <c:pt idx="37">
                  <c:v>44287</c:v>
                </c:pt>
                <c:pt idx="38">
                  <c:v>44317</c:v>
                </c:pt>
                <c:pt idx="39">
                  <c:v>44348</c:v>
                </c:pt>
                <c:pt idx="40">
                  <c:v>44378</c:v>
                </c:pt>
                <c:pt idx="41">
                  <c:v>44409</c:v>
                </c:pt>
                <c:pt idx="42">
                  <c:v>44440</c:v>
                </c:pt>
                <c:pt idx="43">
                  <c:v>44470</c:v>
                </c:pt>
                <c:pt idx="44">
                  <c:v>44501</c:v>
                </c:pt>
                <c:pt idx="45">
                  <c:v>44531</c:v>
                </c:pt>
                <c:pt idx="46">
                  <c:v>44562</c:v>
                </c:pt>
                <c:pt idx="47">
                  <c:v>44593</c:v>
                </c:pt>
                <c:pt idx="48">
                  <c:v>44621</c:v>
                </c:pt>
                <c:pt idx="49">
                  <c:v>44652</c:v>
                </c:pt>
                <c:pt idx="50">
                  <c:v>44682</c:v>
                </c:pt>
                <c:pt idx="51">
                  <c:v>44713</c:v>
                </c:pt>
                <c:pt idx="52">
                  <c:v>44743</c:v>
                </c:pt>
                <c:pt idx="53">
                  <c:v>44774</c:v>
                </c:pt>
                <c:pt idx="54">
                  <c:v>44805</c:v>
                </c:pt>
                <c:pt idx="55">
                  <c:v>44835</c:v>
                </c:pt>
                <c:pt idx="56">
                  <c:v>44866</c:v>
                </c:pt>
                <c:pt idx="57">
                  <c:v>44896</c:v>
                </c:pt>
                <c:pt idx="58">
                  <c:v>44927</c:v>
                </c:pt>
                <c:pt idx="59">
                  <c:v>44958</c:v>
                </c:pt>
                <c:pt idx="60">
                  <c:v>44986</c:v>
                </c:pt>
                <c:pt idx="61">
                  <c:v>45019</c:v>
                </c:pt>
                <c:pt idx="62">
                  <c:v>45047</c:v>
                </c:pt>
                <c:pt idx="63">
                  <c:v>45078</c:v>
                </c:pt>
                <c:pt idx="64">
                  <c:v>45110</c:v>
                </c:pt>
                <c:pt idx="65">
                  <c:v>45139</c:v>
                </c:pt>
                <c:pt idx="66">
                  <c:v>45170</c:v>
                </c:pt>
                <c:pt idx="67">
                  <c:v>45201</c:v>
                </c:pt>
                <c:pt idx="68">
                  <c:v>45231</c:v>
                </c:pt>
                <c:pt idx="69">
                  <c:v>45261</c:v>
                </c:pt>
                <c:pt idx="70">
                  <c:v>45293</c:v>
                </c:pt>
                <c:pt idx="71">
                  <c:v>45323</c:v>
                </c:pt>
                <c:pt idx="72" formatCode="d\-mmm\-yy">
                  <c:v>45323</c:v>
                </c:pt>
                <c:pt idx="73" formatCode="d\-mmm\-yy">
                  <c:v>45352</c:v>
                </c:pt>
                <c:pt idx="74" formatCode="d\-mmm\-yy">
                  <c:v>45383</c:v>
                </c:pt>
                <c:pt idx="75" formatCode="d\-mmm\-yy">
                  <c:v>45413</c:v>
                </c:pt>
                <c:pt idx="76" formatCode="d\-mmm\-yy">
                  <c:v>45444</c:v>
                </c:pt>
                <c:pt idx="77" formatCode="d\-mmm\-yy">
                  <c:v>45474</c:v>
                </c:pt>
                <c:pt idx="78" formatCode="d\-mmm\-yy">
                  <c:v>45505</c:v>
                </c:pt>
                <c:pt idx="79" formatCode="d\-mmm\-yy">
                  <c:v>45536</c:v>
                </c:pt>
                <c:pt idx="80" formatCode="d\-mmm\-yy">
                  <c:v>45566</c:v>
                </c:pt>
                <c:pt idx="81" formatCode="d\-mmm\-yy">
                  <c:v>45597</c:v>
                </c:pt>
                <c:pt idx="82" formatCode="d\-mmm\-yy">
                  <c:v>45627</c:v>
                </c:pt>
                <c:pt idx="83" formatCode="d\-mmm\-yy">
                  <c:v>45658</c:v>
                </c:pt>
                <c:pt idx="84" formatCode="d\-mmm\-yy">
                  <c:v>45689</c:v>
                </c:pt>
                <c:pt idx="85" formatCode="d\-mmm\-yy">
                  <c:v>45717</c:v>
                </c:pt>
                <c:pt idx="86" formatCode="d\-mmm\-yy">
                  <c:v>45748</c:v>
                </c:pt>
                <c:pt idx="87" formatCode="d\-mmm\-yy">
                  <c:v>45778</c:v>
                </c:pt>
                <c:pt idx="88" formatCode="d\-mmm\-yy">
                  <c:v>45809</c:v>
                </c:pt>
                <c:pt idx="89" formatCode="d\-mmm\-yy">
                  <c:v>45839</c:v>
                </c:pt>
                <c:pt idx="90" formatCode="d\-mmm\-yy">
                  <c:v>45870</c:v>
                </c:pt>
                <c:pt idx="91" formatCode="d\-mmm\-yy">
                  <c:v>45901</c:v>
                </c:pt>
                <c:pt idx="92" formatCode="d\-mmm\-yy">
                  <c:v>45931</c:v>
                </c:pt>
                <c:pt idx="93" formatCode="d\-mmm\-yy">
                  <c:v>45962</c:v>
                </c:pt>
                <c:pt idx="94" formatCode="d\-mmm\-yy">
                  <c:v>45992</c:v>
                </c:pt>
                <c:pt idx="95" formatCode="d\-mmm\-yy">
                  <c:v>46023</c:v>
                </c:pt>
                <c:pt idx="96" formatCode="d\-mmm\-yy">
                  <c:v>46054</c:v>
                </c:pt>
                <c:pt idx="97" formatCode="d\-mmm\-yy">
                  <c:v>46077</c:v>
                </c:pt>
              </c:numCache>
            </c:numRef>
          </c:xVal>
          <c:yVal>
            <c:numRef>
              <c:f>google!$C$2:$C$99</c:f>
              <c:numCache>
                <c:formatCode>General</c:formatCode>
                <c:ptCount val="98"/>
                <c:pt idx="0">
                  <c:v>51.856997999999997</c:v>
                </c:pt>
                <c:pt idx="1">
                  <c:v>50.929001</c:v>
                </c:pt>
                <c:pt idx="2">
                  <c:v>55</c:v>
                </c:pt>
                <c:pt idx="3">
                  <c:v>56.459499000000001</c:v>
                </c:pt>
                <c:pt idx="4">
                  <c:v>61.360999999999997</c:v>
                </c:pt>
                <c:pt idx="5">
                  <c:v>61.59</c:v>
                </c:pt>
                <c:pt idx="6">
                  <c:v>60.353999999999999</c:v>
                </c:pt>
                <c:pt idx="7">
                  <c:v>54.528998999999999</c:v>
                </c:pt>
                <c:pt idx="8">
                  <c:v>55.482498</c:v>
                </c:pt>
                <c:pt idx="9">
                  <c:v>52.248001000000002</c:v>
                </c:pt>
                <c:pt idx="10">
                  <c:v>56.294497999999997</c:v>
                </c:pt>
                <c:pt idx="11">
                  <c:v>56.327499000000003</c:v>
                </c:pt>
                <c:pt idx="12">
                  <c:v>58.844501000000001</c:v>
                </c:pt>
                <c:pt idx="13">
                  <c:v>59.948002000000002</c:v>
                </c:pt>
                <c:pt idx="14">
                  <c:v>55.325001</c:v>
                </c:pt>
                <c:pt idx="15">
                  <c:v>54.139999000000003</c:v>
                </c:pt>
                <c:pt idx="16">
                  <c:v>60.91</c:v>
                </c:pt>
                <c:pt idx="17">
                  <c:v>59.526501000000003</c:v>
                </c:pt>
                <c:pt idx="18">
                  <c:v>61.056998999999998</c:v>
                </c:pt>
                <c:pt idx="19">
                  <c:v>62.939999</c:v>
                </c:pt>
                <c:pt idx="20">
                  <c:v>65.204498000000001</c:v>
                </c:pt>
                <c:pt idx="21">
                  <c:v>66.969498000000002</c:v>
                </c:pt>
                <c:pt idx="22">
                  <c:v>71.638999999999996</c:v>
                </c:pt>
                <c:pt idx="23">
                  <c:v>66.962502000000001</c:v>
                </c:pt>
                <c:pt idx="24">
                  <c:v>58.097499999999997</c:v>
                </c:pt>
                <c:pt idx="25">
                  <c:v>67.334998999999996</c:v>
                </c:pt>
                <c:pt idx="26">
                  <c:v>71.676002999999994</c:v>
                </c:pt>
                <c:pt idx="27">
                  <c:v>70.902495999999999</c:v>
                </c:pt>
                <c:pt idx="28">
                  <c:v>74.397498999999996</c:v>
                </c:pt>
                <c:pt idx="29">
                  <c:v>81.476500999999999</c:v>
                </c:pt>
                <c:pt idx="30">
                  <c:v>73.279999000000004</c:v>
                </c:pt>
                <c:pt idx="31">
                  <c:v>80.805496000000005</c:v>
                </c:pt>
                <c:pt idx="32">
                  <c:v>87.720000999999996</c:v>
                </c:pt>
                <c:pt idx="33">
                  <c:v>87.632003999999995</c:v>
                </c:pt>
                <c:pt idx="34">
                  <c:v>91.367996000000005</c:v>
                </c:pt>
                <c:pt idx="35">
                  <c:v>101.09549699999999</c:v>
                </c:pt>
                <c:pt idx="36">
                  <c:v>103.12599899999999</c:v>
                </c:pt>
                <c:pt idx="37">
                  <c:v>117.675003</c:v>
                </c:pt>
                <c:pt idx="38">
                  <c:v>117.842499</c:v>
                </c:pt>
                <c:pt idx="39">
                  <c:v>122.0895</c:v>
                </c:pt>
                <c:pt idx="40">
                  <c:v>134.72650100000001</c:v>
                </c:pt>
                <c:pt idx="41">
                  <c:v>144.697495</c:v>
                </c:pt>
                <c:pt idx="42">
                  <c:v>133.675995</c:v>
                </c:pt>
                <c:pt idx="43">
                  <c:v>148.04600500000001</c:v>
                </c:pt>
                <c:pt idx="44">
                  <c:v>141.89750699999999</c:v>
                </c:pt>
                <c:pt idx="45">
                  <c:v>144.85200499999999</c:v>
                </c:pt>
                <c:pt idx="46">
                  <c:v>135.30349699999999</c:v>
                </c:pt>
                <c:pt idx="47">
                  <c:v>135.057007</c:v>
                </c:pt>
                <c:pt idx="48">
                  <c:v>139.06750500000001</c:v>
                </c:pt>
                <c:pt idx="49">
                  <c:v>114.109497</c:v>
                </c:pt>
                <c:pt idx="50">
                  <c:v>113.762001</c:v>
                </c:pt>
                <c:pt idx="51">
                  <c:v>108.962997</c:v>
                </c:pt>
                <c:pt idx="52">
                  <c:v>116.32</c:v>
                </c:pt>
                <c:pt idx="53">
                  <c:v>108.220001</c:v>
                </c:pt>
                <c:pt idx="54">
                  <c:v>95.650002000000001</c:v>
                </c:pt>
                <c:pt idx="55">
                  <c:v>94.510002</c:v>
                </c:pt>
                <c:pt idx="56">
                  <c:v>100.989998</c:v>
                </c:pt>
                <c:pt idx="57">
                  <c:v>88.230002999999996</c:v>
                </c:pt>
                <c:pt idx="58">
                  <c:v>98.839995999999999</c:v>
                </c:pt>
                <c:pt idx="59">
                  <c:v>91.650002000000001</c:v>
                </c:pt>
                <c:pt idx="60" formatCode="&quot;$&quot;#,##0.00_);[Red]\(&quot;$&quot;#,##0.00\)">
                  <c:v>90.36</c:v>
                </c:pt>
                <c:pt idx="61" formatCode="&quot;$&quot;#,##0.00_);[Red]\(&quot;$&quot;#,##0.00\)">
                  <c:v>104.36</c:v>
                </c:pt>
                <c:pt idx="62" formatCode="&quot;$&quot;#,##0.00_);[Red]\(&quot;$&quot;#,##0.00\)">
                  <c:v>107.2</c:v>
                </c:pt>
                <c:pt idx="63" formatCode="&quot;$&quot;#,##0.00_);[Red]\(&quot;$&quot;#,##0.00\)">
                  <c:v>123.72</c:v>
                </c:pt>
                <c:pt idx="64" formatCode="&quot;$&quot;#,##0.00_);[Red]\(&quot;$&quot;#,##0.00\)">
                  <c:v>119.9</c:v>
                </c:pt>
                <c:pt idx="65" formatCode="&quot;$&quot;#,##0.00_);[Red]\(&quot;$&quot;#,##0.00\)">
                  <c:v>131.55000000000001</c:v>
                </c:pt>
                <c:pt idx="66" formatCode="&quot;$&quot;#,##0.00_);[Red]\(&quot;$&quot;#,##0.00\)">
                  <c:v>135.66</c:v>
                </c:pt>
                <c:pt idx="67" formatCode="&quot;$&quot;#,##0.00_);[Red]\(&quot;$&quot;#,##0.00\)">
                  <c:v>134.16999999999999</c:v>
                </c:pt>
                <c:pt idx="68" formatCode="&quot;$&quot;#,##0.00_);[Red]\(&quot;$&quot;#,##0.00\)">
                  <c:v>126.45</c:v>
                </c:pt>
                <c:pt idx="69" formatCode="&quot;$&quot;#,##0.00_);[Red]\(&quot;$&quot;#,##0.00\)">
                  <c:v>131.86000000000001</c:v>
                </c:pt>
                <c:pt idx="70" formatCode="&quot;$&quot;#,##0.00_);[Red]\(&quot;$&quot;#,##0.00\)">
                  <c:v>138.16999999999999</c:v>
                </c:pt>
                <c:pt idx="71" formatCode="&quot;$&quot;#,##0.00_);[Red]\(&quot;$&quot;#,##0.00\)">
                  <c:v>141.16</c:v>
                </c:pt>
                <c:pt idx="72">
                  <c:v>142.12</c:v>
                </c:pt>
                <c:pt idx="73">
                  <c:v>138.43</c:v>
                </c:pt>
                <c:pt idx="74">
                  <c:v>150.69</c:v>
                </c:pt>
                <c:pt idx="75">
                  <c:v>164.3</c:v>
                </c:pt>
                <c:pt idx="76">
                  <c:v>172.54</c:v>
                </c:pt>
                <c:pt idx="77">
                  <c:v>183.03</c:v>
                </c:pt>
                <c:pt idx="78">
                  <c:v>170.25</c:v>
                </c:pt>
                <c:pt idx="79">
                  <c:v>161.72</c:v>
                </c:pt>
                <c:pt idx="80">
                  <c:v>167.69</c:v>
                </c:pt>
                <c:pt idx="81">
                  <c:v>170.07</c:v>
                </c:pt>
                <c:pt idx="82">
                  <c:v>168.77</c:v>
                </c:pt>
                <c:pt idx="83">
                  <c:v>190.65</c:v>
                </c:pt>
                <c:pt idx="84">
                  <c:v>200.69</c:v>
                </c:pt>
                <c:pt idx="85">
                  <c:v>171.93</c:v>
                </c:pt>
                <c:pt idx="86">
                  <c:v>153.62</c:v>
                </c:pt>
                <c:pt idx="87">
                  <c:v>160.44999999999999</c:v>
                </c:pt>
                <c:pt idx="88">
                  <c:v>167.84</c:v>
                </c:pt>
                <c:pt idx="89">
                  <c:v>175.74</c:v>
                </c:pt>
                <c:pt idx="90">
                  <c:v>189.03</c:v>
                </c:pt>
                <c:pt idx="91">
                  <c:v>208.44</c:v>
                </c:pt>
                <c:pt idx="92">
                  <c:v>240.75</c:v>
                </c:pt>
                <c:pt idx="93">
                  <c:v>282.18</c:v>
                </c:pt>
                <c:pt idx="94">
                  <c:v>317.7</c:v>
                </c:pt>
                <c:pt idx="95">
                  <c:v>316.89999999999998</c:v>
                </c:pt>
                <c:pt idx="96">
                  <c:v>336.22</c:v>
                </c:pt>
                <c:pt idx="97">
                  <c:v>310.48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147-437C-8E71-8016AC159CA1}"/>
            </c:ext>
          </c:extLst>
        </c:ser>
        <c:ser>
          <c:idx val="2"/>
          <c:order val="2"/>
          <c:tx>
            <c:strRef>
              <c:f>google!$D$1</c:f>
              <c:strCache>
                <c:ptCount val="1"/>
                <c:pt idx="0">
                  <c:v>Ratio of A &amp; C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google!$A$2:$A$99</c:f>
              <c:numCache>
                <c:formatCode>m/d/yyyy</c:formatCode>
                <c:ptCount val="98"/>
                <c:pt idx="0">
                  <c:v>43160</c:v>
                </c:pt>
                <c:pt idx="1">
                  <c:v>43191</c:v>
                </c:pt>
                <c:pt idx="2">
                  <c:v>43221</c:v>
                </c:pt>
                <c:pt idx="3">
                  <c:v>43252</c:v>
                </c:pt>
                <c:pt idx="4">
                  <c:v>43282</c:v>
                </c:pt>
                <c:pt idx="5">
                  <c:v>43313</c:v>
                </c:pt>
                <c:pt idx="6">
                  <c:v>43344</c:v>
                </c:pt>
                <c:pt idx="7">
                  <c:v>43374</c:v>
                </c:pt>
                <c:pt idx="8">
                  <c:v>43405</c:v>
                </c:pt>
                <c:pt idx="9">
                  <c:v>43435</c:v>
                </c:pt>
                <c:pt idx="10">
                  <c:v>43466</c:v>
                </c:pt>
                <c:pt idx="11">
                  <c:v>43497</c:v>
                </c:pt>
                <c:pt idx="12">
                  <c:v>43525</c:v>
                </c:pt>
                <c:pt idx="13">
                  <c:v>43556</c:v>
                </c:pt>
                <c:pt idx="14">
                  <c:v>43586</c:v>
                </c:pt>
                <c:pt idx="15">
                  <c:v>43617</c:v>
                </c:pt>
                <c:pt idx="16">
                  <c:v>43647</c:v>
                </c:pt>
                <c:pt idx="17">
                  <c:v>43678</c:v>
                </c:pt>
                <c:pt idx="18">
                  <c:v>43709</c:v>
                </c:pt>
                <c:pt idx="19">
                  <c:v>43739</c:v>
                </c:pt>
                <c:pt idx="20">
                  <c:v>43770</c:v>
                </c:pt>
                <c:pt idx="21">
                  <c:v>43800</c:v>
                </c:pt>
                <c:pt idx="22">
                  <c:v>43831</c:v>
                </c:pt>
                <c:pt idx="23">
                  <c:v>43862</c:v>
                </c:pt>
                <c:pt idx="24">
                  <c:v>43891</c:v>
                </c:pt>
                <c:pt idx="25">
                  <c:v>43922</c:v>
                </c:pt>
                <c:pt idx="26">
                  <c:v>43952</c:v>
                </c:pt>
                <c:pt idx="27">
                  <c:v>43983</c:v>
                </c:pt>
                <c:pt idx="28">
                  <c:v>44013</c:v>
                </c:pt>
                <c:pt idx="29">
                  <c:v>44044</c:v>
                </c:pt>
                <c:pt idx="30">
                  <c:v>44075</c:v>
                </c:pt>
                <c:pt idx="31">
                  <c:v>44105</c:v>
                </c:pt>
                <c:pt idx="32">
                  <c:v>44136</c:v>
                </c:pt>
                <c:pt idx="33">
                  <c:v>44166</c:v>
                </c:pt>
                <c:pt idx="34">
                  <c:v>44197</c:v>
                </c:pt>
                <c:pt idx="35">
                  <c:v>44228</c:v>
                </c:pt>
                <c:pt idx="36">
                  <c:v>44256</c:v>
                </c:pt>
                <c:pt idx="37">
                  <c:v>44287</c:v>
                </c:pt>
                <c:pt idx="38">
                  <c:v>44317</c:v>
                </c:pt>
                <c:pt idx="39">
                  <c:v>44348</c:v>
                </c:pt>
                <c:pt idx="40">
                  <c:v>44378</c:v>
                </c:pt>
                <c:pt idx="41">
                  <c:v>44409</c:v>
                </c:pt>
                <c:pt idx="42">
                  <c:v>44440</c:v>
                </c:pt>
                <c:pt idx="43">
                  <c:v>44470</c:v>
                </c:pt>
                <c:pt idx="44">
                  <c:v>44501</c:v>
                </c:pt>
                <c:pt idx="45">
                  <c:v>44531</c:v>
                </c:pt>
                <c:pt idx="46">
                  <c:v>44562</c:v>
                </c:pt>
                <c:pt idx="47">
                  <c:v>44593</c:v>
                </c:pt>
                <c:pt idx="48">
                  <c:v>44621</c:v>
                </c:pt>
                <c:pt idx="49">
                  <c:v>44652</c:v>
                </c:pt>
                <c:pt idx="50">
                  <c:v>44682</c:v>
                </c:pt>
                <c:pt idx="51">
                  <c:v>44713</c:v>
                </c:pt>
                <c:pt idx="52">
                  <c:v>44743</c:v>
                </c:pt>
                <c:pt idx="53">
                  <c:v>44774</c:v>
                </c:pt>
                <c:pt idx="54">
                  <c:v>44805</c:v>
                </c:pt>
                <c:pt idx="55">
                  <c:v>44835</c:v>
                </c:pt>
                <c:pt idx="56">
                  <c:v>44866</c:v>
                </c:pt>
                <c:pt idx="57">
                  <c:v>44896</c:v>
                </c:pt>
                <c:pt idx="58">
                  <c:v>44927</c:v>
                </c:pt>
                <c:pt idx="59">
                  <c:v>44958</c:v>
                </c:pt>
                <c:pt idx="60">
                  <c:v>44986</c:v>
                </c:pt>
                <c:pt idx="61">
                  <c:v>45019</c:v>
                </c:pt>
                <c:pt idx="62">
                  <c:v>45047</c:v>
                </c:pt>
                <c:pt idx="63">
                  <c:v>45078</c:v>
                </c:pt>
                <c:pt idx="64">
                  <c:v>45110</c:v>
                </c:pt>
                <c:pt idx="65">
                  <c:v>45139</c:v>
                </c:pt>
                <c:pt idx="66">
                  <c:v>45170</c:v>
                </c:pt>
                <c:pt idx="67">
                  <c:v>45201</c:v>
                </c:pt>
                <c:pt idx="68">
                  <c:v>45231</c:v>
                </c:pt>
                <c:pt idx="69">
                  <c:v>45261</c:v>
                </c:pt>
                <c:pt idx="70">
                  <c:v>45293</c:v>
                </c:pt>
                <c:pt idx="71">
                  <c:v>45323</c:v>
                </c:pt>
                <c:pt idx="72" formatCode="d\-mmm\-yy">
                  <c:v>45323</c:v>
                </c:pt>
                <c:pt idx="73" formatCode="d\-mmm\-yy">
                  <c:v>45352</c:v>
                </c:pt>
                <c:pt idx="74" formatCode="d\-mmm\-yy">
                  <c:v>45383</c:v>
                </c:pt>
                <c:pt idx="75" formatCode="d\-mmm\-yy">
                  <c:v>45413</c:v>
                </c:pt>
                <c:pt idx="76" formatCode="d\-mmm\-yy">
                  <c:v>45444</c:v>
                </c:pt>
                <c:pt idx="77" formatCode="d\-mmm\-yy">
                  <c:v>45474</c:v>
                </c:pt>
                <c:pt idx="78" formatCode="d\-mmm\-yy">
                  <c:v>45505</c:v>
                </c:pt>
                <c:pt idx="79" formatCode="d\-mmm\-yy">
                  <c:v>45536</c:v>
                </c:pt>
                <c:pt idx="80" formatCode="d\-mmm\-yy">
                  <c:v>45566</c:v>
                </c:pt>
                <c:pt idx="81" formatCode="d\-mmm\-yy">
                  <c:v>45597</c:v>
                </c:pt>
                <c:pt idx="82" formatCode="d\-mmm\-yy">
                  <c:v>45627</c:v>
                </c:pt>
                <c:pt idx="83" formatCode="d\-mmm\-yy">
                  <c:v>45658</c:v>
                </c:pt>
                <c:pt idx="84" formatCode="d\-mmm\-yy">
                  <c:v>45689</c:v>
                </c:pt>
                <c:pt idx="85" formatCode="d\-mmm\-yy">
                  <c:v>45717</c:v>
                </c:pt>
                <c:pt idx="86" formatCode="d\-mmm\-yy">
                  <c:v>45748</c:v>
                </c:pt>
                <c:pt idx="87" formatCode="d\-mmm\-yy">
                  <c:v>45778</c:v>
                </c:pt>
                <c:pt idx="88" formatCode="d\-mmm\-yy">
                  <c:v>45809</c:v>
                </c:pt>
                <c:pt idx="89" formatCode="d\-mmm\-yy">
                  <c:v>45839</c:v>
                </c:pt>
                <c:pt idx="90" formatCode="d\-mmm\-yy">
                  <c:v>45870</c:v>
                </c:pt>
                <c:pt idx="91" formatCode="d\-mmm\-yy">
                  <c:v>45901</c:v>
                </c:pt>
                <c:pt idx="92" formatCode="d\-mmm\-yy">
                  <c:v>45931</c:v>
                </c:pt>
                <c:pt idx="93" formatCode="d\-mmm\-yy">
                  <c:v>45962</c:v>
                </c:pt>
                <c:pt idx="94" formatCode="d\-mmm\-yy">
                  <c:v>45992</c:v>
                </c:pt>
                <c:pt idx="95" formatCode="d\-mmm\-yy">
                  <c:v>46023</c:v>
                </c:pt>
                <c:pt idx="96" formatCode="d\-mmm\-yy">
                  <c:v>46054</c:v>
                </c:pt>
                <c:pt idx="97" formatCode="d\-mmm\-yy">
                  <c:v>46077</c:v>
                </c:pt>
              </c:numCache>
            </c:numRef>
          </c:xVal>
          <c:yVal>
            <c:numRef>
              <c:f>google!$D$2:$D$99</c:f>
              <c:numCache>
                <c:formatCode>General</c:formatCode>
                <c:ptCount val="98"/>
                <c:pt idx="0">
                  <c:v>100.51851248800627</c:v>
                </c:pt>
                <c:pt idx="1">
                  <c:v>100.12287064919208</c:v>
                </c:pt>
                <c:pt idx="2">
                  <c:v>101.38342288869022</c:v>
                </c:pt>
                <c:pt idx="3">
                  <c:v>101.2136386642112</c:v>
                </c:pt>
                <c:pt idx="4">
                  <c:v>100.81823276569068</c:v>
                </c:pt>
                <c:pt idx="5">
                  <c:v>101.11723130217781</c:v>
                </c:pt>
                <c:pt idx="6">
                  <c:v>101.14037219201153</c:v>
                </c:pt>
                <c:pt idx="7">
                  <c:v>101.28253570804284</c:v>
                </c:pt>
                <c:pt idx="8">
                  <c:v>101.3906745977358</c:v>
                </c:pt>
                <c:pt idx="9">
                  <c:v>100.90285340819138</c:v>
                </c:pt>
                <c:pt idx="10">
                  <c:v>100.85275847877033</c:v>
                </c:pt>
                <c:pt idx="11">
                  <c:v>100.59200837888451</c:v>
                </c:pt>
                <c:pt idx="12">
                  <c:v>100.30511969888401</c:v>
                </c:pt>
                <c:pt idx="13">
                  <c:v>100.88180196553581</c:v>
                </c:pt>
                <c:pt idx="14">
                  <c:v>100.26005455197947</c:v>
                </c:pt>
                <c:pt idx="15">
                  <c:v>100.17484711308632</c:v>
                </c:pt>
                <c:pt idx="16">
                  <c:v>100.1249301377519</c:v>
                </c:pt>
                <c:pt idx="17">
                  <c:v>100.20453160852676</c:v>
                </c:pt>
                <c:pt idx="18">
                  <c:v>100.17555044830925</c:v>
                </c:pt>
                <c:pt idx="19">
                  <c:v>99.896037649157009</c:v>
                </c:pt>
                <c:pt idx="20">
                  <c:v>99.933326693027738</c:v>
                </c:pt>
                <c:pt idx="21">
                  <c:v>100.17725988174477</c:v>
                </c:pt>
                <c:pt idx="22">
                  <c:v>99.898897669163304</c:v>
                </c:pt>
                <c:pt idx="23">
                  <c:v>99.994031343941103</c:v>
                </c:pt>
                <c:pt idx="24">
                  <c:v>99.926042946415038</c:v>
                </c:pt>
                <c:pt idx="25">
                  <c:v>99.854670559735894</c:v>
                </c:pt>
                <c:pt idx="26">
                  <c:v>100.32192705430572</c:v>
                </c:pt>
                <c:pt idx="27">
                  <c:v>100.31408947667826</c:v>
                </c:pt>
                <c:pt idx="28">
                  <c:v>100.33648377556439</c:v>
                </c:pt>
                <c:pt idx="29">
                  <c:v>99.715454845855405</c:v>
                </c:pt>
                <c:pt idx="30">
                  <c:v>99.727811660541178</c:v>
                </c:pt>
                <c:pt idx="31">
                  <c:v>99.697715618012424</c:v>
                </c:pt>
                <c:pt idx="32">
                  <c:v>99.639921863310136</c:v>
                </c:pt>
                <c:pt idx="33">
                  <c:v>100.0433842490722</c:v>
                </c:pt>
                <c:pt idx="34">
                  <c:v>99.543500728529082</c:v>
                </c:pt>
                <c:pt idx="35">
                  <c:v>99.266022225071481</c:v>
                </c:pt>
                <c:pt idx="36">
                  <c:v>99.704631576319628</c:v>
                </c:pt>
                <c:pt idx="37">
                  <c:v>97.650744302791836</c:v>
                </c:pt>
                <c:pt idx="38">
                  <c:v>97.731340765363328</c:v>
                </c:pt>
                <c:pt idx="39">
                  <c:v>97.425307264430614</c:v>
                </c:pt>
                <c:pt idx="40">
                  <c:v>99.634308261587762</c:v>
                </c:pt>
                <c:pt idx="41">
                  <c:v>99.474425644865647</c:v>
                </c:pt>
                <c:pt idx="42">
                  <c:v>100.30802570114489</c:v>
                </c:pt>
                <c:pt idx="43">
                  <c:v>99.84859563392699</c:v>
                </c:pt>
                <c:pt idx="44">
                  <c:v>99.610753786840576</c:v>
                </c:pt>
                <c:pt idx="45">
                  <c:v>100.11922974245196</c:v>
                </c:pt>
                <c:pt idx="46">
                  <c:v>99.708909830117364</c:v>
                </c:pt>
                <c:pt idx="47">
                  <c:v>100.12306306026066</c:v>
                </c:pt>
                <c:pt idx="48">
                  <c:v>99.58324163352215</c:v>
                </c:pt>
                <c:pt idx="49">
                  <c:v>99.2545637142521</c:v>
                </c:pt>
                <c:pt idx="50">
                  <c:v>99.757100643138742</c:v>
                </c:pt>
                <c:pt idx="51">
                  <c:v>99.625590520936996</c:v>
                </c:pt>
                <c:pt idx="52">
                  <c:v>99.725652432490165</c:v>
                </c:pt>
                <c:pt idx="53">
                  <c:v>99.147960620284721</c:v>
                </c:pt>
                <c:pt idx="54">
                  <c:v>99.479979209984833</c:v>
                </c:pt>
                <c:pt idx="55">
                  <c:v>99.841536030359777</c:v>
                </c:pt>
                <c:pt idx="56">
                  <c:v>99.546575639622745</c:v>
                </c:pt>
                <c:pt idx="57">
                  <c:v>99.43649274980865</c:v>
                </c:pt>
                <c:pt idx="58">
                  <c:v>98.968652278902994</c:v>
                </c:pt>
                <c:pt idx="59">
                  <c:v>99.836600223204783</c:v>
                </c:pt>
                <c:pt idx="60">
                  <c:v>99.834272456082189</c:v>
                </c:pt>
                <c:pt idx="61">
                  <c:v>99.475741111428846</c:v>
                </c:pt>
                <c:pt idx="62">
                  <c:v>99.526506359669483</c:v>
                </c:pt>
                <c:pt idx="63">
                  <c:v>99.477365924258251</c:v>
                </c:pt>
                <c:pt idx="64">
                  <c:v>99.452554744525543</c:v>
                </c:pt>
                <c:pt idx="65">
                  <c:v>99.74220941693838</c:v>
                </c:pt>
                <c:pt idx="66">
                  <c:v>99.166666666666657</c:v>
                </c:pt>
                <c:pt idx="67">
                  <c:v>99.260190870755338</c:v>
                </c:pt>
                <c:pt idx="68">
                  <c:v>99.122050638864948</c:v>
                </c:pt>
                <c:pt idx="69">
                  <c:v>98.904890489048924</c:v>
                </c:pt>
                <c:pt idx="70">
                  <c:v>99.004012611063331</c:v>
                </c:pt>
                <c:pt idx="71">
                  <c:v>98.913881297736665</c:v>
                </c:pt>
                <c:pt idx="72">
                  <c:v>98.907370032709309</c:v>
                </c:pt>
                <c:pt idx="73">
                  <c:v>99.154788338944186</c:v>
                </c:pt>
                <c:pt idx="74">
                  <c:v>99.249160245010856</c:v>
                </c:pt>
                <c:pt idx="75">
                  <c:v>98.86869659405464</c:v>
                </c:pt>
                <c:pt idx="76">
                  <c:v>99.229353577179666</c:v>
                </c:pt>
                <c:pt idx="77">
                  <c:v>99.21400693842152</c:v>
                </c:pt>
                <c:pt idx="78">
                  <c:v>98.99406907779975</c:v>
                </c:pt>
                <c:pt idx="79">
                  <c:v>99.020328190056333</c:v>
                </c:pt>
                <c:pt idx="80">
                  <c:v>99.307118322871005</c:v>
                </c:pt>
                <c:pt idx="81">
                  <c:v>99.143057012941597</c:v>
                </c:pt>
                <c:pt idx="82">
                  <c:v>99.089948332550492</c:v>
                </c:pt>
                <c:pt idx="83">
                  <c:v>99.561334795550678</c:v>
                </c:pt>
                <c:pt idx="84">
                  <c:v>99.248306216309771</c:v>
                </c:pt>
                <c:pt idx="85">
                  <c:v>98.963909514764296</c:v>
                </c:pt>
                <c:pt idx="86">
                  <c:v>98.918222794591102</c:v>
                </c:pt>
                <c:pt idx="87">
                  <c:v>98.726310607925157</c:v>
                </c:pt>
                <c:pt idx="88">
                  <c:v>99.307733270220709</c:v>
                </c:pt>
                <c:pt idx="89">
                  <c:v>99.400452488687776</c:v>
                </c:pt>
                <c:pt idx="90">
                  <c:v>99.604805564337653</c:v>
                </c:pt>
                <c:pt idx="91">
                  <c:v>99.736829513373834</c:v>
                </c:pt>
                <c:pt idx="92">
                  <c:v>99.821709926196206</c:v>
                </c:pt>
                <c:pt idx="93">
                  <c:v>99.915020182706598</c:v>
                </c:pt>
                <c:pt idx="94">
                  <c:v>100.06929570366637</c:v>
                </c:pt>
                <c:pt idx="95">
                  <c:v>99.782738751220123</c:v>
                </c:pt>
                <c:pt idx="96">
                  <c:v>99.90194621898678</c:v>
                </c:pt>
                <c:pt idx="97">
                  <c:v>99.974240082431734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147-437C-8E71-8016AC159C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2810192"/>
        <c:axId val="1572820592"/>
      </c:scatterChart>
      <c:valAx>
        <c:axId val="1572810192"/>
        <c:scaling>
          <c:orientation val="minMax"/>
          <c:max val="46100"/>
          <c:min val="43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2820592"/>
        <c:crosses val="autoZero"/>
        <c:crossBetween val="midCat"/>
      </c:valAx>
      <c:valAx>
        <c:axId val="1572820592"/>
        <c:scaling>
          <c:orientation val="minMax"/>
          <c:max val="350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Share Price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28101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24266567270807"/>
          <c:y val="0.1249404745908468"/>
          <c:w val="0.64027318330770788"/>
          <c:h val="0.21355457922758561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DB46C3C-54CE-49A3-8DC3-9B12CCF1A082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F7DD2BA-D89A-45C8-BA0D-7B9B33BEE74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7DD2BA-D89A-45C8-BA0D-7B9B33BEE74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7DD2BA-D89A-45C8-BA0D-7B9B33BEE74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7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7FA83-1017-4E5C-8112-450EBF93EDA7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52F7-54C1-45CF-A63B-00CE7D6806FE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71A73-2B91-47E1-A22C-F36B959660C8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9F92-30A3-4A99-BD73-121B310E484E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FFF6-0AF4-4E8B-8FDA-86C0E8B2FAA3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D413-4A75-4C00-BFA2-A3D9AD684276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5552-32D8-4794-9B1B-F7FDA5A696FD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B786-2AB0-4ABC-BDEA-DD0AF33514FE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9FBB-7220-4828-9D51-20A3CF18C657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C6E0E-8606-417F-B3E1-1A3836291CF4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D762-54D4-4FE8-8F8A-D15C9BBCF1CA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7D3F9-AA04-4C3D-9E28-8FEC04FF39B2}" type="datetime1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7009-789F-4F74-BD2B-4FDC2D76B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1"/>
            <a:ext cx="7772400" cy="1600200"/>
          </a:xfrm>
        </p:spPr>
        <p:txBody>
          <a:bodyPr>
            <a:normAutofit/>
          </a:bodyPr>
          <a:lstStyle/>
          <a:p>
            <a:r>
              <a:rPr lang="en-US" u="sng" dirty="0"/>
              <a:t>Classes 21-24 Corporate finance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2286000"/>
            <a:ext cx="7162800" cy="3429000"/>
          </a:xfrm>
        </p:spPr>
        <p:txBody>
          <a:bodyPr>
            <a:normAutofit fontScale="92500" lnSpcReduction="10000"/>
          </a:bodyPr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b="1" dirty="0"/>
              <a:t>Class 21: The Corporation and decision rights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b="1" dirty="0"/>
              <a:t>Class 22: Jerrel Watt, the practice of options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b="1" dirty="0"/>
              <a:t>Class 23: Leveraged buyouts, taking firms private, Executive compensation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b="1" dirty="0"/>
              <a:t>Class 24: Taxation and regulation</a:t>
            </a:r>
          </a:p>
          <a:p>
            <a:pPr marL="514350" indent="-514350">
              <a:buAutoNum type="arabicParenBoth"/>
            </a:pP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81000" y="152400"/>
            <a:ext cx="2209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BEM 103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1904999"/>
          </a:xfrm>
        </p:spPr>
        <p:txBody>
          <a:bodyPr>
            <a:normAutofit/>
          </a:bodyPr>
          <a:lstStyle/>
          <a:p>
            <a:r>
              <a:rPr lang="en-US" u="sng" dirty="0"/>
              <a:t>Class 21: The corporation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667000"/>
            <a:ext cx="7162800" cy="3429000"/>
          </a:xfrm>
        </p:spPr>
        <p:txBody>
          <a:bodyPr>
            <a:normAutofit/>
          </a:bodyPr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b="1" dirty="0"/>
              <a:t>Decisions 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b="1" dirty="0"/>
              <a:t>Conflicts within the firm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b="1" dirty="0"/>
              <a:t>Decision rights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b="1" dirty="0"/>
              <a:t>Financial claims as decision rights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b="1" dirty="0"/>
              <a:t>Financial engineering</a:t>
            </a:r>
          </a:p>
          <a:p>
            <a:pPr marL="514350" indent="-514350">
              <a:buAutoNum type="arabicParenBoth"/>
            </a:pP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81000" y="152400"/>
            <a:ext cx="2209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BEM 103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19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C14D-3935-3220-171E-48DF6FFA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F7BD7-4ECE-F375-F1D1-F227CB03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rights</a:t>
            </a:r>
          </a:p>
          <a:p>
            <a:r>
              <a:rPr lang="en-US" dirty="0"/>
              <a:t>Income rights</a:t>
            </a:r>
          </a:p>
          <a:p>
            <a:r>
              <a:rPr lang="en-US" dirty="0"/>
              <a:t>Corporate form</a:t>
            </a:r>
          </a:p>
          <a:p>
            <a:r>
              <a:rPr lang="en-US" dirty="0"/>
              <a:t>Return to effort</a:t>
            </a:r>
          </a:p>
          <a:p>
            <a:r>
              <a:rPr lang="en-US" dirty="0"/>
              <a:t>Public vs private firms</a:t>
            </a:r>
          </a:p>
          <a:p>
            <a:r>
              <a:rPr lang="en-US" dirty="0"/>
              <a:t>Debt equity ratio</a:t>
            </a:r>
          </a:p>
          <a:p>
            <a:r>
              <a:rPr lang="en-US" dirty="0"/>
              <a:t>Equity as an option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29F68-A007-55CB-F753-6FF03F65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78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8D64-C20A-C54B-166A-AC62956AD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firm (</a:t>
            </a:r>
            <a:r>
              <a:rPr lang="en-US" dirty="0" err="1"/>
              <a:t>Ec</a:t>
            </a:r>
            <a:r>
              <a:rPr lang="en-US" dirty="0"/>
              <a:t> 11 review)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178B8-BAFA-A89F-E033-82884056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72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firm is </a:t>
            </a:r>
          </a:p>
          <a:p>
            <a:pPr lvl="1"/>
            <a:r>
              <a:rPr lang="en-US" dirty="0"/>
              <a:t>a collection of inputs</a:t>
            </a:r>
          </a:p>
          <a:p>
            <a:pPr lvl="2"/>
            <a:r>
              <a:rPr lang="en-US" dirty="0"/>
              <a:t>Capital, labor, raw materials, energy. </a:t>
            </a:r>
          </a:p>
          <a:p>
            <a:pPr lvl="1"/>
            <a:r>
              <a:rPr lang="en-US" dirty="0"/>
              <a:t>a production rule</a:t>
            </a:r>
          </a:p>
          <a:p>
            <a:pPr lvl="2"/>
            <a:r>
              <a:rPr lang="en-US" dirty="0"/>
              <a:t>Technology that combines inputs into outputs</a:t>
            </a:r>
          </a:p>
          <a:p>
            <a:pPr lvl="1"/>
            <a:r>
              <a:rPr lang="en-US" dirty="0"/>
              <a:t>Monitoring Technologies</a:t>
            </a:r>
          </a:p>
          <a:p>
            <a:pPr lvl="2"/>
            <a:r>
              <a:rPr lang="en-US" dirty="0"/>
              <a:t>Management has to make sure the work gets done</a:t>
            </a:r>
          </a:p>
          <a:p>
            <a:pPr lvl="2"/>
            <a:r>
              <a:rPr lang="en-US" dirty="0"/>
              <a:t>Investors want to make sure that the firm makes a return</a:t>
            </a:r>
          </a:p>
          <a:p>
            <a:pPr lvl="2"/>
            <a:r>
              <a:rPr lang="en-US" dirty="0"/>
              <a:t>Finance help design incentives within the firm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4D61-3980-2424-0A8C-2FD46B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E795-F5AD-4770-6A73-EE46AB6F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firm as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BEA8-7026-C131-DCED-5A732001E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847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“Workers”</a:t>
            </a:r>
          </a:p>
          <a:p>
            <a:pPr lvl="1"/>
            <a:r>
              <a:rPr lang="en-US" dirty="0"/>
              <a:t>Everyone in the firm helps make it profitable</a:t>
            </a:r>
          </a:p>
          <a:p>
            <a:pPr lvl="2"/>
            <a:r>
              <a:rPr lang="en-US" dirty="0"/>
              <a:t>Effort is costly, it has to be induced</a:t>
            </a:r>
          </a:p>
          <a:p>
            <a:pPr lvl="2"/>
            <a:r>
              <a:rPr lang="en-US" dirty="0"/>
              <a:t>Salaries and monitoring (management)</a:t>
            </a:r>
          </a:p>
          <a:p>
            <a:pPr lvl="2"/>
            <a:r>
              <a:rPr lang="en-US" dirty="0"/>
              <a:t>Profit sharing?</a:t>
            </a:r>
          </a:p>
          <a:p>
            <a:pPr lvl="3"/>
            <a:r>
              <a:rPr lang="en-US" dirty="0"/>
              <a:t>Stock options</a:t>
            </a:r>
          </a:p>
          <a:p>
            <a:pPr lvl="3"/>
            <a:r>
              <a:rPr lang="en-US" dirty="0"/>
              <a:t>bonuses</a:t>
            </a:r>
          </a:p>
          <a:p>
            <a:r>
              <a:rPr lang="en-US" dirty="0"/>
              <a:t>Management</a:t>
            </a:r>
          </a:p>
          <a:p>
            <a:pPr lvl="1"/>
            <a:r>
              <a:rPr lang="en-US" dirty="0"/>
              <a:t>Effort is costly</a:t>
            </a:r>
          </a:p>
          <a:p>
            <a:pPr lvl="1"/>
            <a:r>
              <a:rPr lang="en-US" dirty="0"/>
              <a:t>Has to be allocated to monitoring and to investment decisions.</a:t>
            </a:r>
          </a:p>
          <a:p>
            <a:pPr lvl="1"/>
            <a:r>
              <a:rPr lang="en-US" dirty="0"/>
              <a:t>How to structure the firm’s balance sheet to induce the right kind of effort?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FB600-C0BA-0824-D09B-CE7F713E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3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849A-403A-F0AE-EF80-99CF93D4B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the firm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230A-B8E6-FBED-2301-DCA0D0548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Choice of form</a:t>
            </a:r>
          </a:p>
          <a:p>
            <a:pPr lvl="1"/>
            <a:r>
              <a:rPr lang="en-US" dirty="0"/>
              <a:t>Corporation (public and private)</a:t>
            </a:r>
          </a:p>
          <a:p>
            <a:pPr lvl="1"/>
            <a:r>
              <a:rPr lang="en-US" dirty="0"/>
              <a:t>Other Limited liability forms</a:t>
            </a:r>
          </a:p>
          <a:p>
            <a:r>
              <a:rPr lang="en-US" dirty="0"/>
              <a:t>Choice of debt and equity</a:t>
            </a:r>
          </a:p>
          <a:p>
            <a:pPr lvl="1"/>
            <a:r>
              <a:rPr lang="en-US" dirty="0"/>
              <a:t>Conditional on capital what does more debt do?</a:t>
            </a:r>
          </a:p>
          <a:p>
            <a:r>
              <a:rPr lang="en-US" dirty="0"/>
              <a:t>Choice of voting rights </a:t>
            </a:r>
          </a:p>
          <a:p>
            <a:pPr lvl="1"/>
            <a:r>
              <a:rPr lang="en-US" dirty="0"/>
              <a:t>Common vs preferred stock</a:t>
            </a:r>
          </a:p>
          <a:p>
            <a:pPr marL="457200" lvl="1" indent="0">
              <a:buNone/>
            </a:pPr>
            <a:r>
              <a:rPr lang="en-US" dirty="0"/>
              <a:t>Note this leaves out options and other compensation directly to individual (Friday’s lecture)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5FD45-A07F-85B0-0D00-35AEAFEB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5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9BD37-3606-52B3-CF8B-9F6C335FC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014E-5616-25B1-B442-3D1410E9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Ordinary Partnerships</a:t>
            </a:r>
          </a:p>
          <a:p>
            <a:pPr lvl="1"/>
            <a:r>
              <a:rPr lang="en-US" dirty="0"/>
              <a:t>Unlimited liability, joint management, at will</a:t>
            </a:r>
          </a:p>
          <a:p>
            <a:pPr lvl="1"/>
            <a:r>
              <a:rPr lang="en-US" dirty="0"/>
              <a:t>Primary problem untimely dissolution</a:t>
            </a:r>
          </a:p>
          <a:p>
            <a:pPr lvl="2"/>
            <a:r>
              <a:rPr lang="en-US" dirty="0"/>
              <a:t>Partner withdraws, dies or strategic conflict</a:t>
            </a:r>
          </a:p>
          <a:p>
            <a:pPr lvl="2"/>
            <a:r>
              <a:rPr lang="en-US" dirty="0"/>
              <a:t>Then have to sell assets at a loss</a:t>
            </a:r>
          </a:p>
          <a:p>
            <a:r>
              <a:rPr lang="en-US" dirty="0"/>
              <a:t>One-share One-vote Corporations</a:t>
            </a:r>
          </a:p>
          <a:p>
            <a:pPr lvl="1"/>
            <a:r>
              <a:rPr lang="en-US" dirty="0"/>
              <a:t>Limited liability, delegated management, investment locked in</a:t>
            </a:r>
          </a:p>
          <a:p>
            <a:pPr lvl="2"/>
            <a:r>
              <a:rPr lang="en-US" dirty="0"/>
              <a:t>Firm exists ‘independently ’ of its owners</a:t>
            </a:r>
          </a:p>
          <a:p>
            <a:pPr lvl="1"/>
            <a:r>
              <a:rPr lang="en-US" dirty="0"/>
              <a:t>Primary problem is minority oppression. Whomever is in control makes the strategic decisions for the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7A8FA-B2DF-73C0-71FB-CA023376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7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38BFA-B459-FAE2-4E38-238FCF9A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84CE6-0534-7C92-FAF8-5A99FB32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2024EF4-03FB-CEE1-80F2-9EC0F2104E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5253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7F33-14B2-B8EF-258C-36DFF72AD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Nearly all firms are private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FCDED-FD17-2D57-AF23-B9419FA38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0937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 Corporation is the standard form</a:t>
            </a:r>
          </a:p>
          <a:p>
            <a:pPr lvl="1"/>
            <a:r>
              <a:rPr lang="en-US" dirty="0"/>
              <a:t>Publicly traded Corporations are C-Corps</a:t>
            </a:r>
          </a:p>
          <a:p>
            <a:pPr lvl="1"/>
            <a:r>
              <a:rPr lang="en-US" dirty="0"/>
              <a:t>Tax reforms of the Ronald Reagan era</a:t>
            </a:r>
          </a:p>
          <a:p>
            <a:pPr lvl="2"/>
            <a:r>
              <a:rPr lang="en-US" dirty="0"/>
              <a:t>Drop in marginal rate of income taxation</a:t>
            </a:r>
          </a:p>
          <a:p>
            <a:pPr lvl="1"/>
            <a:r>
              <a:rPr lang="en-US" dirty="0"/>
              <a:t>More firms created as something other than a C corporations</a:t>
            </a:r>
          </a:p>
          <a:p>
            <a:r>
              <a:rPr lang="en-US" dirty="0"/>
              <a:t>Contractual innovation makes standard partnership less attractive</a:t>
            </a:r>
          </a:p>
          <a:p>
            <a:pPr lvl="1"/>
            <a:r>
              <a:rPr lang="en-US" dirty="0"/>
              <a:t>General Partnerships are a minority of like forms</a:t>
            </a:r>
          </a:p>
          <a:p>
            <a:pPr lvl="1"/>
            <a:r>
              <a:rPr lang="en-US" dirty="0"/>
              <a:t>Non corporate form popular</a:t>
            </a:r>
          </a:p>
          <a:p>
            <a:r>
              <a:rPr lang="en-US" dirty="0"/>
              <a:t>Very few firms face the discipline of the secondary market</a:t>
            </a:r>
          </a:p>
          <a:p>
            <a:pPr marL="57150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E8777-F642-528E-1EC1-C1FF933C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6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6DFE-91D8-360D-9BD1-4A27CEA2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4B3F1-F536-06C1-356B-C47ECEAD4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Innovation of the corporation</a:t>
            </a:r>
          </a:p>
          <a:p>
            <a:pPr lvl="1"/>
            <a:r>
              <a:rPr lang="en-US" dirty="0"/>
              <a:t>Joint stock, lock-in of capital</a:t>
            </a:r>
          </a:p>
          <a:p>
            <a:r>
              <a:rPr lang="en-US" dirty="0"/>
              <a:t>Investors have income rights</a:t>
            </a:r>
          </a:p>
          <a:p>
            <a:pPr lvl="1"/>
            <a:r>
              <a:rPr lang="en-US" dirty="0"/>
              <a:t>Suppliers come first (including labor)</a:t>
            </a:r>
          </a:p>
          <a:p>
            <a:pPr lvl="1"/>
            <a:r>
              <a:rPr lang="en-US" dirty="0"/>
              <a:t>Debt holders </a:t>
            </a:r>
          </a:p>
          <a:p>
            <a:pPr lvl="2"/>
            <a:r>
              <a:rPr lang="en-US" dirty="0"/>
              <a:t>Senior claims (paid before equity)</a:t>
            </a:r>
          </a:p>
          <a:p>
            <a:pPr lvl="3"/>
            <a:r>
              <a:rPr lang="en-US" dirty="0"/>
              <a:t>Interest before dividends</a:t>
            </a:r>
          </a:p>
          <a:p>
            <a:pPr lvl="3"/>
            <a:r>
              <a:rPr lang="en-US" dirty="0"/>
              <a:t>Secured bond must be paid first </a:t>
            </a:r>
          </a:p>
          <a:p>
            <a:pPr lvl="1"/>
            <a:r>
              <a:rPr lang="en-US" dirty="0"/>
              <a:t>Equity holders are residual claimants</a:t>
            </a:r>
          </a:p>
          <a:p>
            <a:pPr lvl="2"/>
            <a:r>
              <a:rPr lang="en-US" dirty="0"/>
              <a:t>Dividends</a:t>
            </a:r>
          </a:p>
          <a:p>
            <a:pPr lvl="2"/>
            <a:r>
              <a:rPr lang="en-US" dirty="0"/>
              <a:t>Net liquidation value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0B27C-C1CC-1408-D410-29D2EE0C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37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F388-0966-DCDB-8228-C1C86CF9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8FFF-254D-0F82-7FDD-B7A50A50D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Shareholder’s meetings (votes)</a:t>
            </a:r>
          </a:p>
          <a:p>
            <a:pPr lvl="2"/>
            <a:r>
              <a:rPr lang="en-US" dirty="0"/>
              <a:t>Elect board of directors </a:t>
            </a:r>
          </a:p>
          <a:p>
            <a:pPr lvl="2"/>
            <a:r>
              <a:rPr lang="en-US" dirty="0"/>
              <a:t>Major capital changes</a:t>
            </a:r>
          </a:p>
          <a:p>
            <a:pPr lvl="2"/>
            <a:r>
              <a:rPr lang="en-US" dirty="0"/>
              <a:t>Mergers and acquisitions</a:t>
            </a:r>
          </a:p>
          <a:p>
            <a:pPr lvl="2"/>
            <a:r>
              <a:rPr lang="en-US" dirty="0"/>
              <a:t>Secondary equity issues</a:t>
            </a:r>
          </a:p>
          <a:p>
            <a:pPr lvl="2"/>
            <a:r>
              <a:rPr lang="en-US" dirty="0"/>
              <a:t>Changes in bylaws</a:t>
            </a:r>
          </a:p>
          <a:p>
            <a:pPr lvl="1"/>
            <a:r>
              <a:rPr lang="en-US" dirty="0"/>
              <a:t>Between meetings </a:t>
            </a:r>
          </a:p>
          <a:p>
            <a:pPr lvl="2"/>
            <a:r>
              <a:rPr lang="en-US" dirty="0"/>
              <a:t>board of directors choses management</a:t>
            </a:r>
          </a:p>
          <a:p>
            <a:pPr lvl="2"/>
            <a:r>
              <a:rPr lang="en-US" dirty="0"/>
              <a:t>management</a:t>
            </a:r>
          </a:p>
          <a:p>
            <a:r>
              <a:rPr lang="en-US" dirty="0"/>
              <a:t>Debt holder has no decision rights</a:t>
            </a:r>
          </a:p>
          <a:p>
            <a:pPr lvl="1"/>
            <a:r>
              <a:rPr lang="en-US" dirty="0"/>
              <a:t>As long as the firm has a positive liquidation value</a:t>
            </a:r>
          </a:p>
          <a:p>
            <a:pPr lvl="1"/>
            <a:r>
              <a:rPr lang="en-US" dirty="0"/>
              <a:t>If not then debt holders in control.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B0382-9A51-CC5C-D5AA-019EABB1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26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43FA-9BE5-5EDF-4FF2-68488050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Corporate finance</a:t>
            </a:r>
            <a:br>
              <a:rPr lang="en-US" dirty="0"/>
            </a:br>
            <a:r>
              <a:rPr lang="en-US" sz="2000" dirty="0"/>
              <a:t>(Jensen and Meckling 1976, </a:t>
            </a:r>
            <a:r>
              <a:rPr lang="en-US" sz="2000" b="1" dirty="0"/>
              <a:t>Theory of the firm: Managerial behavior, agency costs and ownership structure)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87F36-4211-2647-A62C-82D485F31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Friedman doctrine</a:t>
            </a:r>
          </a:p>
          <a:p>
            <a:pPr lvl="1"/>
            <a:r>
              <a:rPr lang="en-US" dirty="0"/>
              <a:t>Goal of the firm is to maximize shareholder value</a:t>
            </a:r>
          </a:p>
          <a:p>
            <a:r>
              <a:rPr lang="en-US" dirty="0"/>
              <a:t>J&amp;M </a:t>
            </a:r>
          </a:p>
          <a:p>
            <a:pPr lvl="1"/>
            <a:r>
              <a:rPr lang="en-US" dirty="0"/>
              <a:t>Need to align the incentives of management to the goals of the shareholders</a:t>
            </a:r>
          </a:p>
          <a:p>
            <a:pPr lvl="2"/>
            <a:r>
              <a:rPr lang="en-US" dirty="0"/>
              <a:t>Avoid shirking</a:t>
            </a:r>
          </a:p>
          <a:p>
            <a:pPr lvl="2"/>
            <a:r>
              <a:rPr lang="en-US" dirty="0"/>
              <a:t>Avoid extraction of private benefits</a:t>
            </a:r>
          </a:p>
          <a:p>
            <a:pPr lvl="1"/>
            <a:r>
              <a:rPr lang="en-US" dirty="0"/>
              <a:t>Corporate finance does that.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71DA8-06DE-B5B0-2A66-59368AD9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81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4D685-E466-016D-5736-3E4EC2C2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Allocating Income and decision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E1EC2-E36E-0AED-CAD8-EEC0D9CC0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Choices</a:t>
            </a:r>
          </a:p>
          <a:p>
            <a:pPr lvl="1"/>
            <a:r>
              <a:rPr lang="en-US" dirty="0"/>
              <a:t>Debt vs Equity</a:t>
            </a:r>
          </a:p>
          <a:p>
            <a:pPr lvl="2"/>
            <a:r>
              <a:rPr lang="en-US" dirty="0"/>
              <a:t>Claim: more debt creates more focus on meeting return target.</a:t>
            </a:r>
          </a:p>
          <a:p>
            <a:pPr lvl="1"/>
            <a:r>
              <a:rPr lang="en-US" dirty="0"/>
              <a:t>Dividends vs retained earnings</a:t>
            </a:r>
          </a:p>
          <a:p>
            <a:pPr lvl="2"/>
            <a:r>
              <a:rPr lang="en-US" dirty="0"/>
              <a:t>Claim: more retained earnings means management more independent of market. </a:t>
            </a:r>
          </a:p>
          <a:p>
            <a:pPr lvl="1"/>
            <a:r>
              <a:rPr lang="en-US" dirty="0"/>
              <a:t>Common stock vs multiple classes of shares</a:t>
            </a:r>
          </a:p>
          <a:p>
            <a:pPr lvl="2"/>
            <a:r>
              <a:rPr lang="en-US" dirty="0"/>
              <a:t>Claim: less common stock implies control group more independent of investors</a:t>
            </a:r>
          </a:p>
          <a:p>
            <a:r>
              <a:rPr lang="en-US" dirty="0"/>
              <a:t>All affect both effort and project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F9681-3426-B101-01AB-12EA4C5F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76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543A-57E6-ABD6-400E-90ADBD45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 Equity levels and incentives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A1B26-CC43-9762-1C97-D5023A11F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00200"/>
            <a:ext cx="4114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Two owners, </a:t>
            </a:r>
          </a:p>
          <a:p>
            <a:r>
              <a:rPr lang="en-US" dirty="0"/>
              <a:t>Equity financing</a:t>
            </a:r>
          </a:p>
          <a:p>
            <a:r>
              <a:rPr lang="en-US" dirty="0"/>
              <a:t>one majority owner (51%) each invests ±100.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desired return 240</a:t>
            </a:r>
          </a:p>
          <a:p>
            <a:r>
              <a:rPr lang="en-US" dirty="0"/>
              <a:t>Depends on effort of Manager (unpaid)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95DE-DAB5-7ED5-2BE2-F2510D70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94519A5-B43A-4CFF-AB59-FDD2F31EE6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8861501"/>
              </p:ext>
            </p:extLst>
          </p:nvPr>
        </p:nvGraphicFramePr>
        <p:xfrm>
          <a:off x="4114800" y="1624012"/>
          <a:ext cx="45720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85349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A727-0EE8-C644-4700-BE397B89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effort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BDA6DF-D102-9328-00EA-1FD8F31B64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Minority owner is passive</a:t>
                </a:r>
              </a:p>
              <a:p>
                <a:r>
                  <a:rPr lang="en-US" dirty="0"/>
                  <a:t>Return to majority for effort is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So optimal effort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=2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Because each owns only half the firm also true for the majority owner.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=200</a:t>
                </a:r>
              </a:p>
              <a:p>
                <a:r>
                  <a:rPr lang="en-US" dirty="0"/>
                  <a:t>Do not meet target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BDA6DF-D102-9328-00EA-1FD8F31B64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 r="-2667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14DB1-7F85-B0CE-DBFD-AA489E776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21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E413-69B4-7D29-A36D-93495E5AE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financing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0D45D-E364-E6BF-BDD1-97D5586F89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Different financing</a:t>
                </a:r>
              </a:p>
              <a:p>
                <a:r>
                  <a:rPr lang="en-US" dirty="0"/>
                  <a:t>The majority owns buys out the minority shareholder and takes debt.</a:t>
                </a:r>
              </a:p>
              <a:p>
                <a:r>
                  <a:rPr lang="en-US" dirty="0"/>
                  <a:t>Minority now bondholder and still passive</a:t>
                </a:r>
              </a:p>
              <a:p>
                <a:r>
                  <a:rPr lang="en-US" dirty="0"/>
                  <a:t>Return to owner is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0" dirty="0"/>
                  <a:t>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b="0" dirty="0"/>
                  <a:t>&gt;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0D45D-E364-E6BF-BDD1-97D5586F89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58614-73E4-CC65-2FC2-FA9510EAB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36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543A-57E6-ABD6-400E-90ADBD45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 Equity levels and incentives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95DE-DAB5-7ED5-2BE2-F2510D70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BA8A0EF-BBBF-1F8F-2DAA-E6AA7E4796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4667035"/>
              </p:ext>
            </p:extLst>
          </p:nvPr>
        </p:nvGraphicFramePr>
        <p:xfrm>
          <a:off x="533400" y="1443038"/>
          <a:ext cx="4419600" cy="4805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10B0E55-9D37-5431-18B5-D15A575F84FB}"/>
              </a:ext>
            </a:extLst>
          </p:cNvPr>
          <p:cNvSpPr txBox="1"/>
          <p:nvPr/>
        </p:nvSpPr>
        <p:spPr>
          <a:xfrm>
            <a:off x="5092700" y="1417638"/>
            <a:ext cx="3581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effects</a:t>
            </a:r>
          </a:p>
          <a:p>
            <a:r>
              <a:rPr lang="en-US" dirty="0"/>
              <a:t>The owner’s return slope is steeper (gets all the return to effort)</a:t>
            </a:r>
          </a:p>
          <a:p>
            <a:r>
              <a:rPr lang="en-US" dirty="0"/>
              <a:t>Has to make b(1+r) to get anything</a:t>
            </a:r>
          </a:p>
          <a:p>
            <a:endParaRPr lang="en-US" dirty="0"/>
          </a:p>
          <a:p>
            <a:r>
              <a:rPr lang="en-US" dirty="0"/>
              <a:t>Both induce effort</a:t>
            </a:r>
          </a:p>
          <a:p>
            <a:endParaRPr lang="en-US" dirty="0"/>
          </a:p>
          <a:p>
            <a:r>
              <a:rPr lang="en-US" dirty="0"/>
              <a:t>Second effort can also induce risk taking</a:t>
            </a:r>
          </a:p>
          <a:p>
            <a:endParaRPr lang="en-US" dirty="0"/>
          </a:p>
          <a:p>
            <a:r>
              <a:rPr lang="en-US" dirty="0"/>
              <a:t>Because the owner here has a call option on the firm at b(1+r)</a:t>
            </a:r>
          </a:p>
        </p:txBody>
      </p:sp>
    </p:spTree>
    <p:extLst>
      <p:ext uri="{BB962C8B-B14F-4D97-AF65-F5344CB8AC3E}">
        <p14:creationId xmlns:p14="http://schemas.microsoft.com/office/powerpoint/2010/main" val="3285143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1A4A-3BED-6D4A-3D2D-9C24C24A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implication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44058-64C8-0203-F160-56E3EC688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Equity holders may vote to take on debt</a:t>
            </a:r>
          </a:p>
          <a:p>
            <a:pPr lvl="1"/>
            <a:r>
              <a:rPr lang="en-US" dirty="0"/>
              <a:t>Simply because it forces managers to work harder</a:t>
            </a:r>
          </a:p>
          <a:p>
            <a:pPr lvl="1"/>
            <a:r>
              <a:rPr lang="en-US" dirty="0"/>
              <a:t>Of course, if it does not work they will face losses</a:t>
            </a:r>
          </a:p>
          <a:p>
            <a:r>
              <a:rPr lang="en-US" dirty="0"/>
              <a:t>Leveraged buyout </a:t>
            </a:r>
          </a:p>
          <a:p>
            <a:pPr lvl="1"/>
            <a:r>
              <a:rPr lang="en-US" dirty="0"/>
              <a:t>solution to underperforming firms</a:t>
            </a:r>
          </a:p>
          <a:p>
            <a:pPr lvl="1"/>
            <a:r>
              <a:rPr lang="en-US" dirty="0"/>
              <a:t>Key here is that managers must have skills such that effort produces value.</a:t>
            </a:r>
          </a:p>
          <a:p>
            <a:pPr lvl="1"/>
            <a:r>
              <a:rPr lang="en-US" dirty="0"/>
              <a:t>More on LBO next time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2026E-F8DF-8509-41AB-0091556C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91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703A-48B9-CF7E-DE3F-6CA4A178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 and equity and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3190-B93C-2F51-CC15-464345E77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key effects</a:t>
            </a:r>
          </a:p>
          <a:p>
            <a:r>
              <a:rPr lang="en-US" dirty="0"/>
              <a:t>Holding total capital constant</a:t>
            </a:r>
          </a:p>
          <a:p>
            <a:pPr lvl="1"/>
            <a:r>
              <a:rPr lang="en-US" dirty="0"/>
              <a:t>More debt makes the decision more aggressive. </a:t>
            </a:r>
          </a:p>
          <a:p>
            <a:pPr lvl="1"/>
            <a:r>
              <a:rPr lang="en-US" dirty="0"/>
              <a:t>More debt concentrates decisions making rights</a:t>
            </a:r>
          </a:p>
          <a:p>
            <a:r>
              <a:rPr lang="en-US" dirty="0"/>
              <a:t>Impact on project selection</a:t>
            </a:r>
          </a:p>
          <a:p>
            <a:pPr marL="457200" lvl="1" indent="0">
              <a:buNone/>
            </a:pPr>
            <a:r>
              <a:rPr lang="en-US" dirty="0"/>
              <a:t>+debt =&gt; select high-risk high-return projects</a:t>
            </a:r>
          </a:p>
          <a:p>
            <a:pPr marL="457200" lvl="1" indent="0">
              <a:buNone/>
            </a:pPr>
            <a:r>
              <a:rPr lang="en-US" dirty="0"/>
              <a:t>+debt =&gt; higher failure rates</a:t>
            </a:r>
          </a:p>
          <a:p>
            <a:r>
              <a:rPr lang="en-US" dirty="0"/>
              <a:t>Impact on investment rates (not clear)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A79CA-88FC-C08C-20B5-DE8FABE0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46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D986C-F405-7152-6AA9-A6AFBA43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Debt, equity and project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7C31A-7128-4684-0E9A-E8EFD11BD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Famous paper (Modigliani Miller) made the argument that debt and equity are irrelevant to the value of the firm. </a:t>
            </a:r>
          </a:p>
          <a:p>
            <a:pPr lvl="1"/>
            <a:r>
              <a:rPr lang="en-US" dirty="0"/>
              <a:t>An arbitrage argument that assumes that debt and equity are irrelevant to any incentives</a:t>
            </a:r>
          </a:p>
          <a:p>
            <a:r>
              <a:rPr lang="en-US" dirty="0"/>
              <a:t>Debt and equity affect project selection</a:t>
            </a:r>
          </a:p>
          <a:p>
            <a:pPr lvl="1"/>
            <a:r>
              <a:rPr lang="en-US" dirty="0"/>
              <a:t>Again intuition is that equity holders have a call  option on the upside and a put option on the downside (where the strike price is the value of the bonds)</a:t>
            </a:r>
          </a:p>
          <a:p>
            <a:pPr lvl="1"/>
            <a:r>
              <a:rPr lang="en-US" dirty="0"/>
              <a:t>So equity holders ‘like’ risk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53439-6B8D-CDCD-708E-C1C5AB33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60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3276-997E-4A73-214F-B23C659B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33B25-9B26-6558-A838-CCD4919C82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Manager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chooses with between</a:t>
                </a:r>
              </a:p>
              <a:p>
                <a:pPr lvl="1"/>
                <a:r>
                  <a:rPr lang="en-US" dirty="0"/>
                  <a:t> project 1 succeeds with </a:t>
                </a:r>
                <a:r>
                  <a:rPr lang="en-US" dirty="0" err="1"/>
                  <a:t>probality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pays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if not lose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k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project 2. succeeds with </a:t>
                </a:r>
                <a:r>
                  <a:rPr lang="en-US" dirty="0" err="1"/>
                  <a:t>probality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pays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if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not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dirty="0"/>
                      <m:t>lose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k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dirty="0"/>
                      <m:t>.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&gt;</a:t>
                </a:r>
                <a:r>
                  <a:rPr lang="el-G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)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dirty="0"/>
                      <m:t>1−</m:t>
                    </m:r>
                    <m:r>
                      <m:rPr>
                        <m:nor/>
                      </m:rPr>
                      <a:rPr lang="el-GR" dirty="0"/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)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k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/>
                  <a:t> </a:t>
                </a:r>
                <a:r>
                  <a:rPr lang="en-US" b="0" dirty="0"/>
                  <a:t>		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dirty="0"/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en-US" dirty="0"/>
                      <m:t>)			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dirty="0"/>
                      <m:t>(1−</m:t>
                    </m:r>
                    <m:r>
                      <m:rPr>
                        <m:nor/>
                      </m:rPr>
                      <a:rPr lang="el-GR" dirty="0"/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)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k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Economics says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if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&gt;0</a:t>
                </a:r>
              </a:p>
              <a:p>
                <a:r>
                  <a:rPr lang="en-US" dirty="0"/>
                  <a:t>Should we ignore the financial structure of the firm?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33B25-9B26-6558-A838-CCD4919C8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37" t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AD90A-315D-F639-95D8-73207707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9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3F69-4686-B763-43B0-13DB5FCAD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Debt and equity and project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BD6F2-5AA8-7046-9E75-C2A9F6DED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At the start V=B+E</a:t>
                </a:r>
              </a:p>
              <a:p>
                <a:pPr lvl="1"/>
                <a:r>
                  <a:rPr lang="en-US" dirty="0"/>
                  <a:t>Value of firm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				 	Do nothing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dirty="0"/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+</m:t>
                    </m:r>
                    <m:r>
                      <m:rPr>
                        <m:nor/>
                      </m:rPr>
                      <a:rPr lang="el-GR" dirty="0"/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dirty="0"/>
                      <m:t>(1−</m:t>
                    </m:r>
                    <m:r>
                      <m:rPr>
                        <m:nor/>
                      </m:rPr>
                      <a:rPr lang="el-GR" dirty="0"/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)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k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Do project 1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dirty="0"/>
                      <m:t>+</m:t>
                    </m:r>
                    <m:r>
                      <m:rPr>
                        <m:nor/>
                      </m:rPr>
                      <a:rPr lang="el-GR" dirty="0"/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en-US" dirty="0"/>
                      <m:t>)			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dirty="0"/>
                      <m:t>(1−</m:t>
                    </m:r>
                    <m:r>
                      <m:rPr>
                        <m:nor/>
                      </m:rPr>
                      <a:rPr lang="el-GR" dirty="0"/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)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k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		Do project 2</a:t>
                </a:r>
              </a:p>
              <a:p>
                <a:r>
                  <a:rPr lang="en-US" dirty="0"/>
                  <a:t>Pure equity B=0</a:t>
                </a:r>
              </a:p>
              <a:p>
                <a:pPr lvl="1"/>
                <a:r>
                  <a:rPr lang="en-US" dirty="0"/>
                  <a:t>Then value of the firm with project </a:t>
                </a:r>
              </a:p>
              <a:p>
                <a:pPr lvl="1"/>
                <a:r>
                  <a:rPr lang="en-US" dirty="0"/>
                  <a:t>Then management is going chose what maximizes firm value </a:t>
                </a:r>
              </a:p>
              <a:p>
                <a:pPr lvl="1"/>
                <a:r>
                  <a:rPr lang="en-US" b="0" dirty="0"/>
                  <a:t>Assume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With debt and k is small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Same applies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BD6F2-5AA8-7046-9E75-C2A9F6DED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37" t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182FF-8EE1-88C9-A149-5FDFFCCA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3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1FD2-4F6B-F434-2416-A7A8E37D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Debt and equity and project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DDB2E-FC73-558C-450D-69B66CB702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if any project is undertaken the stockholders get nothing if it fails (and bondholders make losses)</a:t>
                </a:r>
              </a:p>
              <a:p>
                <a:pPr lvl="1"/>
                <a:r>
                  <a:rPr lang="en-US" dirty="0"/>
                  <a:t>So now lets look at what maximizes the return to equity holders.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					 	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 =</m:t>
                    </m:r>
                    <m:r>
                      <m:rPr>
                        <m:nor/>
                      </m:rPr>
                      <a:rPr lang="el-GR" dirty="0"/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r>
                  <a:rPr lang="en-US" dirty="0"/>
                  <a:t>			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nor/>
                      </m:rPr>
                      <a:rPr lang="el-GR" dirty="0"/>
                      <m:t> 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en-US" dirty="0"/>
                      <m:t>)			</m:t>
                    </m:r>
                  </m:oMath>
                </a14:m>
                <a:r>
                  <a:rPr lang="en-US" dirty="0"/>
                  <a:t> 			</a:t>
                </a:r>
              </a:p>
              <a:p>
                <a:pPr marL="457200" lvl="1" indent="0">
                  <a:buNone/>
                </a:pPr>
                <a:r>
                  <a:rPr lang="en-US" dirty="0"/>
                  <a:t>Although we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&gt;</a:t>
                </a:r>
                <a:r>
                  <a:rPr lang="el-G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It is easy to find cases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Again it’s the option side of equity that dominates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DDB2E-FC73-558C-450D-69B66CB702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87E19-44DD-3B62-CB86-57A7AFD8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54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D8476-53BF-41AD-39E1-5068C3DB6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10000"/>
                <a:ext cx="8077200" cy="281940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000" dirty="0"/>
                  <a:t>If E&gt;2.5</a:t>
                </a:r>
              </a:p>
              <a:p>
                <a:pPr lvl="1"/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=3-k+E  or 0.5 +E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=2.8-k+E  or 0.3+E</a:t>
                </a:r>
              </a:p>
              <a:p>
                <a:r>
                  <a:rPr lang="en-US" sz="2000" dirty="0"/>
                  <a:t>rank 1&gt; 2&gt; nothing.</a:t>
                </a:r>
              </a:p>
              <a:p>
                <a:r>
                  <a:rPr lang="en-US" sz="2000" dirty="0"/>
                  <a:t>Once E&lt;K, project becomes an option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𝑒𝑖</m:t>
                        </m:r>
                      </m:sub>
                    </m:sSub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=</a:t>
                </a:r>
                <a:r>
                  <a:rPr lang="el-G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en-US" sz="1600" dirty="0"/>
                      <m:t>)</m:t>
                    </m:r>
                  </m:oMath>
                </a14:m>
                <a:r>
                  <a:rPr lang="en-US" sz="1600" dirty="0"/>
                  <a:t>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Once K&lt;1.5</a:t>
                </a:r>
              </a:p>
              <a:p>
                <a:pPr lvl="1"/>
                <a:r>
                  <a:rPr lang="en-US" sz="1600" dirty="0"/>
                  <a:t>rank 2&gt; 1&gt; nothing.</a:t>
                </a:r>
              </a:p>
              <a:p>
                <a:r>
                  <a:rPr lang="en-US" sz="2000" dirty="0"/>
                  <a:t>Important this is not an equilibrium because bond holders are not foolish.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D8476-53BF-41AD-39E1-5068C3DB6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10000"/>
                <a:ext cx="8077200" cy="2819400"/>
              </a:xfrm>
              <a:blipFill>
                <a:blip r:embed="rId2"/>
                <a:stretch>
                  <a:fillRect l="-528" t="-1080" b="-2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4673A-0A40-0C4A-3C05-C1D2C54D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9672588-7303-0126-3A0E-7653043B31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7219600"/>
              </p:ext>
            </p:extLst>
          </p:nvPr>
        </p:nvGraphicFramePr>
        <p:xfrm>
          <a:off x="609600" y="204671"/>
          <a:ext cx="7848600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4185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0E24-841F-4311-0B88-34458B0F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66D29-0E20-3EED-CB80-1607FC106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Gambling for resurrection</a:t>
            </a:r>
          </a:p>
          <a:p>
            <a:pPr lvl="1"/>
            <a:r>
              <a:rPr lang="en-US" dirty="0"/>
              <a:t>As equity value declines, equity holders favor more risk (this is a particularly true when the equity is negative)</a:t>
            </a:r>
          </a:p>
          <a:p>
            <a:r>
              <a:rPr lang="en-US" dirty="0"/>
              <a:t>Historically</a:t>
            </a:r>
          </a:p>
          <a:p>
            <a:pPr lvl="1"/>
            <a:r>
              <a:rPr lang="en-US" dirty="0"/>
              <a:t>Secondary offerings of equity after IPO are rare.</a:t>
            </a:r>
          </a:p>
          <a:p>
            <a:pPr lvl="1"/>
            <a:r>
              <a:rPr lang="en-US" dirty="0"/>
              <a:t>Bond offerings were frequent</a:t>
            </a:r>
          </a:p>
          <a:p>
            <a:r>
              <a:rPr lang="en-US" dirty="0"/>
              <a:t>In recent years reversal</a:t>
            </a:r>
          </a:p>
          <a:p>
            <a:pPr lvl="1"/>
            <a:r>
              <a:rPr lang="en-US" dirty="0"/>
              <a:t>Secondary offerings have become more frequent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7960D-AE5D-3991-3DF3-1DD3A354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13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1817-2282-CFA5-790A-0C81046B8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697162"/>
          </a:xfrm>
        </p:spPr>
        <p:txBody>
          <a:bodyPr>
            <a:normAutofit/>
          </a:bodyPr>
          <a:lstStyle/>
          <a:p>
            <a:r>
              <a:rPr lang="en-US" dirty="0"/>
              <a:t>Part 2</a:t>
            </a:r>
            <a:br>
              <a:rPr lang="en-US" dirty="0"/>
            </a:br>
            <a:r>
              <a:rPr lang="en-US" dirty="0"/>
              <a:t>Public versus private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85738-334C-824B-8A12-3ACED207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82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CFF1-172E-3AA4-B72A-DB59DAA9F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51" y="167372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Number of listed companies and secondary offerings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7A58A-1E9E-C997-4F2D-F826E9F3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1693F-447E-6617-9C35-2EB7CAA7F321}"/>
              </a:ext>
            </a:extLst>
          </p:cNvPr>
          <p:cNvSpPr txBox="1"/>
          <p:nvPr/>
        </p:nvSpPr>
        <p:spPr>
          <a:xfrm>
            <a:off x="204044" y="6352074"/>
            <a:ext cx="84467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TT5B6t00"/>
              </a:rPr>
              <a:t>Source: Jay Ritter website (CRSP)</a:t>
            </a:r>
            <a:endParaRPr lang="en-US" sz="1600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A709E3EE-EDCE-2EFE-469B-E329639EF7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342161"/>
              </p:ext>
            </p:extLst>
          </p:nvPr>
        </p:nvGraphicFramePr>
        <p:xfrm>
          <a:off x="457200" y="1447800"/>
          <a:ext cx="8229600" cy="4678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10831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B9E8-E0EA-153C-7A7E-ABDB80CD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B111EC-F32A-8874-819E-837E65AF5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28215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CCC98-EE0C-62CC-D5A6-23999156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11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9083-070B-8117-CF6C-1E2474E8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Corporate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3C7D-9A71-0739-0DAF-5C1CE329C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Issue equity, but it does not have to all be the same.</a:t>
            </a:r>
          </a:p>
          <a:p>
            <a:r>
              <a:rPr lang="en-US" dirty="0"/>
              <a:t>Departures from one share one vote</a:t>
            </a:r>
          </a:p>
          <a:p>
            <a:r>
              <a:rPr lang="en-US" dirty="0"/>
              <a:t>Preferred shares, </a:t>
            </a:r>
          </a:p>
          <a:p>
            <a:pPr lvl="1"/>
            <a:r>
              <a:rPr lang="en-US" dirty="0"/>
              <a:t>Non-voting, guaranteed dividend. Failure to pay implies become common stock (who holds the option!)</a:t>
            </a:r>
          </a:p>
          <a:p>
            <a:r>
              <a:rPr lang="en-US" dirty="0"/>
              <a:t>Convertible debt (important in venture capital)</a:t>
            </a:r>
          </a:p>
          <a:p>
            <a:pPr lvl="1"/>
            <a:r>
              <a:rPr lang="en-US" dirty="0"/>
              <a:t>If start up is a success, VC converts to equity and shares in the profits</a:t>
            </a:r>
          </a:p>
          <a:p>
            <a:pPr lvl="1"/>
            <a:r>
              <a:rPr lang="en-US" dirty="0"/>
              <a:t>If start up is struggles, VC calls the bonds and takes over the firm</a:t>
            </a:r>
          </a:p>
          <a:p>
            <a:pPr lvl="1"/>
            <a:r>
              <a:rPr lang="en-US" dirty="0"/>
              <a:t>Entrepreneur is in control only if the firm is doing well</a:t>
            </a:r>
            <a:br>
              <a:rPr lang="en-US" dirty="0"/>
            </a:br>
            <a:endParaRPr lang="en-US" dirty="0"/>
          </a:p>
          <a:p>
            <a:r>
              <a:rPr lang="en-US" dirty="0"/>
              <a:t>Multiple classes of voting stock</a:t>
            </a:r>
          </a:p>
          <a:p>
            <a:pPr lvl="1"/>
            <a:r>
              <a:rPr lang="en-US" dirty="0"/>
              <a:t>Rare in US before 1970. (exceptions Ford, Wall Street Journal)</a:t>
            </a:r>
          </a:p>
          <a:p>
            <a:pPr lvl="1"/>
            <a:r>
              <a:rPr lang="en-US" dirty="0"/>
              <a:t>Common in Scandinavia (founders get shares with 10 votes).</a:t>
            </a:r>
          </a:p>
          <a:p>
            <a:pPr lvl="1"/>
            <a:r>
              <a:rPr lang="en-US" dirty="0"/>
              <a:t>Become more frequent in the US after the Google IPO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1675D-B668-1CFB-088B-4790618F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78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63BB4-BF9C-45CE-57A9-DEA56F8C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F602D-4674-1641-6437-635BE1926207}"/>
              </a:ext>
            </a:extLst>
          </p:cNvPr>
          <p:cNvSpPr txBox="1"/>
          <p:nvPr/>
        </p:nvSpPr>
        <p:spPr>
          <a:xfrm>
            <a:off x="1447800" y="6164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https://site.warrington.ufl.edu/ritter/files/IPOs-Dual-Class.pdf</a:t>
            </a:r>
            <a:endParaRPr lang="en-US" sz="120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6610231-18D9-F063-36C8-FED2BF4602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20816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48708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D259-D734-29AF-A477-CF32F45E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9FE55-B06F-8D0C-4B48-AD8FAEBDB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Alphabet, Google’s parent company, has two listed share classes that use slightly different ticker symbols.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2.99 Billion Class A shares (GOOGL), have one-vote.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3.46 Billion Class C shares (GOOG) have no voting rights.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Because of their voting rights, A shares may trade at a premium to C shares; however, in reality, the prices of the two are often quite close to one another.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465 Million Class B shares, which are held by founders and insiders and confer 10 votes per share. Class B shares can’t be publicly traded.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B shares have twice the votes of the common stock. The founders have complete control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0E52B-0170-AE27-4616-DF6FF030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29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32A7B-7C91-B318-5A81-A7C95DA63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CFA1B55-672F-4A3E-8114-E769E43C6D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675817"/>
              </p:ext>
            </p:extLst>
          </p:nvPr>
        </p:nvGraphicFramePr>
        <p:xfrm>
          <a:off x="0" y="304800"/>
          <a:ext cx="8686800" cy="5821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03653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1025-2C1B-D261-B9D1-E52CA949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control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4A26E-AAF6-DD3D-A19C-9872DD6D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Decisions about compensation of key employes (Stock options; golden parachutes)</a:t>
            </a:r>
          </a:p>
          <a:p>
            <a:r>
              <a:rPr lang="en-US" dirty="0"/>
              <a:t>Decisions about the distribution of returns </a:t>
            </a:r>
            <a:r>
              <a:rPr lang="en-US"/>
              <a:t>or reinvestment.</a:t>
            </a:r>
            <a:endParaRPr lang="en-US" dirty="0"/>
          </a:p>
          <a:p>
            <a:r>
              <a:rPr lang="en-US" dirty="0"/>
              <a:t>Decisions about investment plans.</a:t>
            </a:r>
          </a:p>
          <a:p>
            <a:pPr marL="0" indent="0">
              <a:buNone/>
            </a:pPr>
            <a:r>
              <a:rPr lang="en-US" dirty="0"/>
              <a:t>	Key to IT firms but also key to many past firms.</a:t>
            </a:r>
          </a:p>
          <a:p>
            <a:pPr marL="0" indent="0">
              <a:buNone/>
            </a:pPr>
            <a:r>
              <a:rPr lang="en-US" dirty="0"/>
              <a:t>Next LBOs and executive compensation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5F69E-6F99-4D71-D320-0C9D2E82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C7009-789F-4F74-BD2B-4FDC2D76B83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58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5488</TotalTime>
  <Words>1910</Words>
  <Application>Microsoft Office PowerPoint</Application>
  <PresentationFormat>On-screen Show (4:3)</PresentationFormat>
  <Paragraphs>296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Cambria Math</vt:lpstr>
      <vt:lpstr>Times New Roman</vt:lpstr>
      <vt:lpstr>TT5B6t00</vt:lpstr>
      <vt:lpstr>Office Theme</vt:lpstr>
      <vt:lpstr>Classes 21-24 Corporate finance</vt:lpstr>
      <vt:lpstr>Class 21: The corporation</vt:lpstr>
      <vt:lpstr>Key concepts</vt:lpstr>
      <vt:lpstr>The firm (Ec 11 review)</vt:lpstr>
      <vt:lpstr>The firm as hierarchy</vt:lpstr>
      <vt:lpstr>Organizing the firm</vt:lpstr>
      <vt:lpstr>Organizational form</vt:lpstr>
      <vt:lpstr>Organizational forms</vt:lpstr>
      <vt:lpstr>Nearly all firms are private</vt:lpstr>
      <vt:lpstr>Income Rights</vt:lpstr>
      <vt:lpstr>Decision rights</vt:lpstr>
      <vt:lpstr>Corporate finance (Jensen and Meckling 1976, Theory of the firm: Managerial behavior, agency costs and ownership structure)</vt:lpstr>
      <vt:lpstr>Allocating Income and decision rights</vt:lpstr>
      <vt:lpstr>Debt Equity levels and incentives</vt:lpstr>
      <vt:lpstr>Setting effort</vt:lpstr>
      <vt:lpstr>Changing financing</vt:lpstr>
      <vt:lpstr>Debt Equity levels and incentives</vt:lpstr>
      <vt:lpstr>Practical implication</vt:lpstr>
      <vt:lpstr>Debt and equity and control</vt:lpstr>
      <vt:lpstr>Debt, equity and project selection</vt:lpstr>
      <vt:lpstr>Project selection</vt:lpstr>
      <vt:lpstr>Debt and equity and project selection</vt:lpstr>
      <vt:lpstr>Debt and equity and project selection</vt:lpstr>
      <vt:lpstr>PowerPoint Presentation</vt:lpstr>
      <vt:lpstr>Empirical content</vt:lpstr>
      <vt:lpstr>Part 2 Public versus private </vt:lpstr>
      <vt:lpstr>Number of listed companies and secondary offerings</vt:lpstr>
      <vt:lpstr>PowerPoint Presentation</vt:lpstr>
      <vt:lpstr>Corporate Engineering</vt:lpstr>
      <vt:lpstr>PowerPoint Presentation</vt:lpstr>
      <vt:lpstr>An example</vt:lpstr>
      <vt:lpstr>PowerPoint Presentation</vt:lpstr>
      <vt:lpstr>Why is control important?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1: From claims to value  9-30-2013</dc:title>
  <dc:creator>Jean-Laurent</dc:creator>
  <cp:lastModifiedBy>Rosenthal, Jean-Laurent</cp:lastModifiedBy>
  <cp:revision>58</cp:revision>
  <dcterms:created xsi:type="dcterms:W3CDTF">2013-09-27T22:04:05Z</dcterms:created>
  <dcterms:modified xsi:type="dcterms:W3CDTF">2026-02-27T16:57:23Z</dcterms:modified>
</cp:coreProperties>
</file>