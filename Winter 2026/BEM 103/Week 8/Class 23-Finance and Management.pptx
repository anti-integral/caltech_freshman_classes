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93" r:id="rId4"/>
    <p:sldId id="295" r:id="rId5"/>
    <p:sldId id="264" r:id="rId6"/>
    <p:sldId id="301" r:id="rId7"/>
    <p:sldId id="302" r:id="rId8"/>
    <p:sldId id="265" r:id="rId9"/>
    <p:sldId id="267" r:id="rId10"/>
    <p:sldId id="268" r:id="rId11"/>
    <p:sldId id="277" r:id="rId12"/>
    <p:sldId id="290" r:id="rId13"/>
    <p:sldId id="299" r:id="rId14"/>
    <p:sldId id="303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B57115-2BEA-4E8D-A957-D162E2BD0587}">
          <p14:sldIdLst>
            <p14:sldId id="256"/>
            <p14:sldId id="257"/>
            <p14:sldId id="293"/>
            <p14:sldId id="295"/>
            <p14:sldId id="264"/>
            <p14:sldId id="301"/>
            <p14:sldId id="302"/>
            <p14:sldId id="265"/>
            <p14:sldId id="267"/>
            <p14:sldId id="268"/>
            <p14:sldId id="277"/>
            <p14:sldId id="290"/>
          </p14:sldIdLst>
        </p14:section>
        <p14:section name="Untitled Section" id="{DE5BFEB2-C92F-4EE4-AA84-75ED3104BE4C}">
          <p14:sldIdLst>
            <p14:sldId id="299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5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entha\Dropbox\BEM103\Data\Class%2021%20Decis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</a:t>
            </a:r>
            <a:r>
              <a:rPr lang="en-US" baseline="0"/>
              <a:t>ll Stock Price vs SP500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Dell!$F$1</c:f>
              <c:strCache>
                <c:ptCount val="1"/>
                <c:pt idx="0">
                  <c:v>Dell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Dell!$E$2:$E$92</c:f>
              <c:numCache>
                <c:formatCode>m/d/yyyy</c:formatCode>
                <c:ptCount val="91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45350</c:v>
                </c:pt>
              </c:numCache>
            </c:numRef>
          </c:xVal>
          <c:yVal>
            <c:numRef>
              <c:f>Dell!$F$2:$F$92</c:f>
              <c:numCache>
                <c:formatCode>General</c:formatCode>
                <c:ptCount val="91"/>
                <c:pt idx="0">
                  <c:v>99.999999999999986</c:v>
                </c:pt>
                <c:pt idx="1">
                  <c:v>100.16824028648583</c:v>
                </c:pt>
                <c:pt idx="2">
                  <c:v>103.32281872133485</c:v>
                </c:pt>
                <c:pt idx="3">
                  <c:v>112.61829875206489</c:v>
                </c:pt>
                <c:pt idx="4">
                  <c:v>115.83595886397229</c:v>
                </c:pt>
                <c:pt idx="5">
                  <c:v>132.11356440400928</c:v>
                </c:pt>
                <c:pt idx="6">
                  <c:v>133.52261333494795</c:v>
                </c:pt>
                <c:pt idx="7">
                  <c:v>134.57413198623203</c:v>
                </c:pt>
                <c:pt idx="8">
                  <c:v>141.82964889778668</c:v>
                </c:pt>
                <c:pt idx="9">
                  <c:v>146.16192432536775</c:v>
                </c:pt>
                <c:pt idx="10">
                  <c:v>128.55941622546462</c:v>
                </c:pt>
                <c:pt idx="11">
                  <c:v>135.73081674060916</c:v>
                </c:pt>
                <c:pt idx="12">
                  <c:v>157.68664248111071</c:v>
                </c:pt>
                <c:pt idx="13">
                  <c:v>162.43952986540478</c:v>
                </c:pt>
                <c:pt idx="14">
                  <c:v>175.22607639762109</c:v>
                </c:pt>
                <c:pt idx="15">
                  <c:v>163.19663738242065</c:v>
                </c:pt>
                <c:pt idx="16">
                  <c:v>171.46162598755274</c:v>
                </c:pt>
                <c:pt idx="17">
                  <c:v>149.80021887498498</c:v>
                </c:pt>
                <c:pt idx="18">
                  <c:v>155.79389991640068</c:v>
                </c:pt>
                <c:pt idx="19">
                  <c:v>154.15352152825216</c:v>
                </c:pt>
                <c:pt idx="20">
                  <c:v>150.28390501509074</c:v>
                </c:pt>
                <c:pt idx="21">
                  <c:v>173.52260883874862</c:v>
                </c:pt>
                <c:pt idx="22">
                  <c:v>199.13774886088788</c:v>
                </c:pt>
                <c:pt idx="23">
                  <c:v>194.57412898876581</c:v>
                </c:pt>
                <c:pt idx="24">
                  <c:v>202.03995562550975</c:v>
                </c:pt>
                <c:pt idx="25">
                  <c:v>204.37434486628453</c:v>
                </c:pt>
                <c:pt idx="26">
                  <c:v>191.14615915166908</c:v>
                </c:pt>
                <c:pt idx="27">
                  <c:v>223.63826607368793</c:v>
                </c:pt>
                <c:pt idx="28">
                  <c:v>183.18270815679506</c:v>
                </c:pt>
                <c:pt idx="29">
                  <c:v>186.03128275668575</c:v>
                </c:pt>
                <c:pt idx="30">
                  <c:v>219.07483354320593</c:v>
                </c:pt>
                <c:pt idx="31">
                  <c:v>227.05085890896424</c:v>
                </c:pt>
                <c:pt idx="32">
                  <c:v>257.89148183040874</c:v>
                </c:pt>
                <c:pt idx="33">
                  <c:v>225.60757891354439</c:v>
                </c:pt>
                <c:pt idx="34">
                  <c:v>198.2991777050859</c:v>
                </c:pt>
                <c:pt idx="35">
                  <c:v>220.06233380923106</c:v>
                </c:pt>
                <c:pt idx="36">
                  <c:v>193.81741114236135</c:v>
                </c:pt>
                <c:pt idx="37">
                  <c:v>197.99533953948725</c:v>
                </c:pt>
                <c:pt idx="38">
                  <c:v>201.98333348820242</c:v>
                </c:pt>
                <c:pt idx="39">
                  <c:v>183.63848788618978</c:v>
                </c:pt>
                <c:pt idx="40">
                  <c:v>197.72945679017528</c:v>
                </c:pt>
                <c:pt idx="41">
                  <c:v>185.30965774630704</c:v>
                </c:pt>
                <c:pt idx="42">
                  <c:v>154.65891681761408</c:v>
                </c:pt>
                <c:pt idx="43">
                  <c:v>143.37855960356708</c:v>
                </c:pt>
                <c:pt idx="44">
                  <c:v>157.96328613423074</c:v>
                </c:pt>
                <c:pt idx="45">
                  <c:v>187.01880550370768</c:v>
                </c:pt>
                <c:pt idx="46">
                  <c:v>209.12377767073491</c:v>
                </c:pt>
                <c:pt idx="47">
                  <c:v>227.54460904197683</c:v>
                </c:pt>
                <c:pt idx="48">
                  <c:v>252.27028842519417</c:v>
                </c:pt>
                <c:pt idx="49">
                  <c:v>258.95496786566315</c:v>
                </c:pt>
                <c:pt idx="50">
                  <c:v>232.40618455219803</c:v>
                </c:pt>
                <c:pt idx="51">
                  <c:v>265.29778628125649</c:v>
                </c:pt>
                <c:pt idx="52">
                  <c:v>280.64215318791025</c:v>
                </c:pt>
                <c:pt idx="53">
                  <c:v>279.73060122278639</c:v>
                </c:pt>
                <c:pt idx="54">
                  <c:v>307.95053940903756</c:v>
                </c:pt>
                <c:pt idx="55">
                  <c:v>335.29691102111383</c:v>
                </c:pt>
                <c:pt idx="56">
                  <c:v>376.77223692812464</c:v>
                </c:pt>
                <c:pt idx="57">
                  <c:v>378.25350980815915</c:v>
                </c:pt>
                <c:pt idx="58">
                  <c:v>376.3924429679592</c:v>
                </c:pt>
                <c:pt idx="59">
                  <c:v>368.72025576779947</c:v>
                </c:pt>
                <c:pt idx="60">
                  <c:v>370.42941851253136</c:v>
                </c:pt>
                <c:pt idx="61">
                  <c:v>397.24403211964926</c:v>
                </c:pt>
                <c:pt idx="62">
                  <c:v>415.32303244067788</c:v>
                </c:pt>
                <c:pt idx="63">
                  <c:v>427.06401778576566</c:v>
                </c:pt>
                <c:pt idx="64">
                  <c:v>420.8442603467289</c:v>
                </c:pt>
                <c:pt idx="65">
                  <c:v>426.23970707560898</c:v>
                </c:pt>
                <c:pt idx="66">
                  <c:v>374.83315353531657</c:v>
                </c:pt>
                <c:pt idx="67">
                  <c:v>363.96733840884298</c:v>
                </c:pt>
                <c:pt idx="68">
                  <c:v>350.40378867743101</c:v>
                </c:pt>
                <c:pt idx="69">
                  <c:v>376.63161829305693</c:v>
                </c:pt>
                <c:pt idx="70">
                  <c:v>343.20987719081057</c:v>
                </c:pt>
                <c:pt idx="71">
                  <c:v>335.49140911187772</c:v>
                </c:pt>
                <c:pt idx="72">
                  <c:v>284.23473637734025</c:v>
                </c:pt>
                <c:pt idx="73">
                  <c:v>258.68133666611618</c:v>
                </c:pt>
                <c:pt idx="74">
                  <c:v>291.8033311441838</c:v>
                </c:pt>
                <c:pt idx="75">
                  <c:v>337.21495220090458</c:v>
                </c:pt>
                <c:pt idx="76">
                  <c:v>303.94308441074759</c:v>
                </c:pt>
                <c:pt idx="77">
                  <c:v>303.49345698081413</c:v>
                </c:pt>
                <c:pt idx="78">
                  <c:v>306.0413032863321</c:v>
                </c:pt>
                <c:pt idx="79">
                  <c:v>300.79572986954128</c:v>
                </c:pt>
                <c:pt idx="80">
                  <c:v>325.89953212549426</c:v>
                </c:pt>
                <c:pt idx="81">
                  <c:v>337.28987386961802</c:v>
                </c:pt>
                <c:pt idx="82">
                  <c:v>404.65794264108547</c:v>
                </c:pt>
                <c:pt idx="83">
                  <c:v>395.5156631099731</c:v>
                </c:pt>
                <c:pt idx="84">
                  <c:v>480.26899861547037</c:v>
                </c:pt>
                <c:pt idx="85">
                  <c:v>514.14040461597801</c:v>
                </c:pt>
                <c:pt idx="86">
                  <c:v>504.24876601808489</c:v>
                </c:pt>
                <c:pt idx="87">
                  <c:v>538.49481783048782</c:v>
                </c:pt>
                <c:pt idx="88">
                  <c:v>565.39704737585316</c:v>
                </c:pt>
                <c:pt idx="89">
                  <c:v>626.47042954590484</c:v>
                </c:pt>
                <c:pt idx="90">
                  <c:v>690.16658718385349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C1-4859-A7E8-DCA5013F4E02}"/>
            </c:ext>
          </c:extLst>
        </c:ser>
        <c:ser>
          <c:idx val="1"/>
          <c:order val="1"/>
          <c:tx>
            <c:strRef>
              <c:f>Dell!$G$1</c:f>
              <c:strCache>
                <c:ptCount val="1"/>
                <c:pt idx="0">
                  <c:v>S&amp;P500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Dell!$E$2:$E$92</c:f>
              <c:numCache>
                <c:formatCode>m/d/yyyy</c:formatCode>
                <c:ptCount val="91"/>
                <c:pt idx="0">
                  <c:v>42614</c:v>
                </c:pt>
                <c:pt idx="1">
                  <c:v>42644</c:v>
                </c:pt>
                <c:pt idx="2">
                  <c:v>42675</c:v>
                </c:pt>
                <c:pt idx="3">
                  <c:v>42705</c:v>
                </c:pt>
                <c:pt idx="4">
                  <c:v>42736</c:v>
                </c:pt>
                <c:pt idx="5">
                  <c:v>42767</c:v>
                </c:pt>
                <c:pt idx="6">
                  <c:v>42795</c:v>
                </c:pt>
                <c:pt idx="7">
                  <c:v>42826</c:v>
                </c:pt>
                <c:pt idx="8">
                  <c:v>42856</c:v>
                </c:pt>
                <c:pt idx="9">
                  <c:v>42887</c:v>
                </c:pt>
                <c:pt idx="10">
                  <c:v>42917</c:v>
                </c:pt>
                <c:pt idx="11">
                  <c:v>42948</c:v>
                </c:pt>
                <c:pt idx="12">
                  <c:v>42979</c:v>
                </c:pt>
                <c:pt idx="13">
                  <c:v>43009</c:v>
                </c:pt>
                <c:pt idx="14">
                  <c:v>43040</c:v>
                </c:pt>
                <c:pt idx="15">
                  <c:v>43070</c:v>
                </c:pt>
                <c:pt idx="16">
                  <c:v>43101</c:v>
                </c:pt>
                <c:pt idx="17">
                  <c:v>43132</c:v>
                </c:pt>
                <c:pt idx="18">
                  <c:v>43160</c:v>
                </c:pt>
                <c:pt idx="19">
                  <c:v>43191</c:v>
                </c:pt>
                <c:pt idx="20">
                  <c:v>43221</c:v>
                </c:pt>
                <c:pt idx="21">
                  <c:v>43252</c:v>
                </c:pt>
                <c:pt idx="22">
                  <c:v>43282</c:v>
                </c:pt>
                <c:pt idx="23">
                  <c:v>43313</c:v>
                </c:pt>
                <c:pt idx="24">
                  <c:v>43344</c:v>
                </c:pt>
                <c:pt idx="25">
                  <c:v>43374</c:v>
                </c:pt>
                <c:pt idx="26">
                  <c:v>43405</c:v>
                </c:pt>
                <c:pt idx="27">
                  <c:v>43435</c:v>
                </c:pt>
                <c:pt idx="28">
                  <c:v>43466</c:v>
                </c:pt>
                <c:pt idx="29">
                  <c:v>43497</c:v>
                </c:pt>
                <c:pt idx="30">
                  <c:v>43525</c:v>
                </c:pt>
                <c:pt idx="31">
                  <c:v>43556</c:v>
                </c:pt>
                <c:pt idx="32">
                  <c:v>43586</c:v>
                </c:pt>
                <c:pt idx="33">
                  <c:v>43617</c:v>
                </c:pt>
                <c:pt idx="34">
                  <c:v>43647</c:v>
                </c:pt>
                <c:pt idx="35">
                  <c:v>43678</c:v>
                </c:pt>
                <c:pt idx="36">
                  <c:v>43709</c:v>
                </c:pt>
                <c:pt idx="37">
                  <c:v>43739</c:v>
                </c:pt>
                <c:pt idx="38">
                  <c:v>43770</c:v>
                </c:pt>
                <c:pt idx="39">
                  <c:v>43800</c:v>
                </c:pt>
                <c:pt idx="40">
                  <c:v>43831</c:v>
                </c:pt>
                <c:pt idx="41">
                  <c:v>43862</c:v>
                </c:pt>
                <c:pt idx="42">
                  <c:v>43891</c:v>
                </c:pt>
                <c:pt idx="43">
                  <c:v>43922</c:v>
                </c:pt>
                <c:pt idx="44">
                  <c:v>43952</c:v>
                </c:pt>
                <c:pt idx="45">
                  <c:v>43983</c:v>
                </c:pt>
                <c:pt idx="46">
                  <c:v>44013</c:v>
                </c:pt>
                <c:pt idx="47">
                  <c:v>44044</c:v>
                </c:pt>
                <c:pt idx="48">
                  <c:v>44075</c:v>
                </c:pt>
                <c:pt idx="49">
                  <c:v>44105</c:v>
                </c:pt>
                <c:pt idx="50">
                  <c:v>44136</c:v>
                </c:pt>
                <c:pt idx="51">
                  <c:v>44166</c:v>
                </c:pt>
                <c:pt idx="52">
                  <c:v>44197</c:v>
                </c:pt>
                <c:pt idx="53">
                  <c:v>44228</c:v>
                </c:pt>
                <c:pt idx="54">
                  <c:v>44256</c:v>
                </c:pt>
                <c:pt idx="55">
                  <c:v>44287</c:v>
                </c:pt>
                <c:pt idx="56">
                  <c:v>44317</c:v>
                </c:pt>
                <c:pt idx="57">
                  <c:v>44348</c:v>
                </c:pt>
                <c:pt idx="58">
                  <c:v>44378</c:v>
                </c:pt>
                <c:pt idx="59">
                  <c:v>44409</c:v>
                </c:pt>
                <c:pt idx="60">
                  <c:v>44440</c:v>
                </c:pt>
                <c:pt idx="61">
                  <c:v>44470</c:v>
                </c:pt>
                <c:pt idx="62">
                  <c:v>44501</c:v>
                </c:pt>
                <c:pt idx="63">
                  <c:v>44531</c:v>
                </c:pt>
                <c:pt idx="64">
                  <c:v>44562</c:v>
                </c:pt>
                <c:pt idx="65">
                  <c:v>44593</c:v>
                </c:pt>
                <c:pt idx="66">
                  <c:v>44621</c:v>
                </c:pt>
                <c:pt idx="67">
                  <c:v>44652</c:v>
                </c:pt>
                <c:pt idx="68">
                  <c:v>44682</c:v>
                </c:pt>
                <c:pt idx="69">
                  <c:v>44713</c:v>
                </c:pt>
                <c:pt idx="70">
                  <c:v>44743</c:v>
                </c:pt>
                <c:pt idx="71">
                  <c:v>44774</c:v>
                </c:pt>
                <c:pt idx="72">
                  <c:v>44805</c:v>
                </c:pt>
                <c:pt idx="73">
                  <c:v>44835</c:v>
                </c:pt>
                <c:pt idx="74">
                  <c:v>44866</c:v>
                </c:pt>
                <c:pt idx="75">
                  <c:v>44896</c:v>
                </c:pt>
                <c:pt idx="76">
                  <c:v>44927</c:v>
                </c:pt>
                <c:pt idx="77">
                  <c:v>44958</c:v>
                </c:pt>
                <c:pt idx="78">
                  <c:v>44986</c:v>
                </c:pt>
                <c:pt idx="79">
                  <c:v>45017</c:v>
                </c:pt>
                <c:pt idx="80">
                  <c:v>45047</c:v>
                </c:pt>
                <c:pt idx="81">
                  <c:v>45078</c:v>
                </c:pt>
                <c:pt idx="82">
                  <c:v>45108</c:v>
                </c:pt>
                <c:pt idx="83">
                  <c:v>45139</c:v>
                </c:pt>
                <c:pt idx="84">
                  <c:v>45170</c:v>
                </c:pt>
                <c:pt idx="85">
                  <c:v>45200</c:v>
                </c:pt>
                <c:pt idx="86">
                  <c:v>45231</c:v>
                </c:pt>
                <c:pt idx="87">
                  <c:v>45261</c:v>
                </c:pt>
                <c:pt idx="88">
                  <c:v>45292</c:v>
                </c:pt>
                <c:pt idx="89">
                  <c:v>45323</c:v>
                </c:pt>
                <c:pt idx="90">
                  <c:v>45350</c:v>
                </c:pt>
              </c:numCache>
            </c:numRef>
          </c:xVal>
          <c:yVal>
            <c:numRef>
              <c:f>Dell!$G$2:$G$92</c:f>
              <c:numCache>
                <c:formatCode>General</c:formatCode>
                <c:ptCount val="91"/>
                <c:pt idx="0">
                  <c:v>100</c:v>
                </c:pt>
                <c:pt idx="1">
                  <c:v>96.657629208113164</c:v>
                </c:pt>
                <c:pt idx="2">
                  <c:v>95.080019474457629</c:v>
                </c:pt>
                <c:pt idx="3">
                  <c:v>101.7884341374736</c:v>
                </c:pt>
                <c:pt idx="4">
                  <c:v>105.57478683062135</c:v>
                </c:pt>
                <c:pt idx="5">
                  <c:v>105.53369393835172</c:v>
                </c:pt>
                <c:pt idx="6">
                  <c:v>106.49312364047292</c:v>
                </c:pt>
                <c:pt idx="7">
                  <c:v>107.72591040856163</c:v>
                </c:pt>
                <c:pt idx="8">
                  <c:v>108.24448484252936</c:v>
                </c:pt>
                <c:pt idx="9">
                  <c:v>110.33888236266266</c:v>
                </c:pt>
                <c:pt idx="10">
                  <c:v>110.39918171544959</c:v>
                </c:pt>
                <c:pt idx="11">
                  <c:v>112.53020550912754</c:v>
                </c:pt>
                <c:pt idx="12">
                  <c:v>115.02704537637965</c:v>
                </c:pt>
                <c:pt idx="13">
                  <c:v>118.25730403826999</c:v>
                </c:pt>
                <c:pt idx="14">
                  <c:v>119.41996489237683</c:v>
                </c:pt>
                <c:pt idx="15">
                  <c:v>126.12882621726527</c:v>
                </c:pt>
                <c:pt idx="16">
                  <c:v>121.21643894355535</c:v>
                </c:pt>
                <c:pt idx="17">
                  <c:v>117.95759392182524</c:v>
                </c:pt>
                <c:pt idx="18">
                  <c:v>118.2782971462773</c:v>
                </c:pt>
                <c:pt idx="19">
                  <c:v>120.83409638069885</c:v>
                </c:pt>
                <c:pt idx="20">
                  <c:v>121.41922343366848</c:v>
                </c:pt>
                <c:pt idx="21">
                  <c:v>125.79293648914836</c:v>
                </c:pt>
                <c:pt idx="22">
                  <c:v>129.59983562843092</c:v>
                </c:pt>
                <c:pt idx="23">
                  <c:v>130.15637632156083</c:v>
                </c:pt>
                <c:pt idx="24">
                  <c:v>121.12308661220369</c:v>
                </c:pt>
                <c:pt idx="25">
                  <c:v>123.28627006070136</c:v>
                </c:pt>
                <c:pt idx="26">
                  <c:v>111.97143150663517</c:v>
                </c:pt>
                <c:pt idx="27">
                  <c:v>120.78183694161683</c:v>
                </c:pt>
                <c:pt idx="28">
                  <c:v>124.37255173461139</c:v>
                </c:pt>
                <c:pt idx="29">
                  <c:v>126.60184114023843</c:v>
                </c:pt>
                <c:pt idx="30">
                  <c:v>131.57899438546028</c:v>
                </c:pt>
                <c:pt idx="31">
                  <c:v>122.92402728210718</c:v>
                </c:pt>
                <c:pt idx="32">
                  <c:v>131.39720300335443</c:v>
                </c:pt>
                <c:pt idx="33">
                  <c:v>133.12221115493361</c:v>
                </c:pt>
                <c:pt idx="34">
                  <c:v>130.71381033843571</c:v>
                </c:pt>
                <c:pt idx="35">
                  <c:v>132.95962623334509</c:v>
                </c:pt>
                <c:pt idx="36">
                  <c:v>135.67622374186519</c:v>
                </c:pt>
                <c:pt idx="37">
                  <c:v>140.29560082721778</c:v>
                </c:pt>
                <c:pt idx="38">
                  <c:v>144.306624442231</c:v>
                </c:pt>
                <c:pt idx="39">
                  <c:v>144.07168029729814</c:v>
                </c:pt>
                <c:pt idx="40">
                  <c:v>131.95374369648434</c:v>
                </c:pt>
                <c:pt idx="41">
                  <c:v>115.4437809034183</c:v>
                </c:pt>
                <c:pt idx="42">
                  <c:v>130.08714373132395</c:v>
                </c:pt>
                <c:pt idx="43">
                  <c:v>135.97772050579991</c:v>
                </c:pt>
                <c:pt idx="44">
                  <c:v>138.47813366803197</c:v>
                </c:pt>
                <c:pt idx="45">
                  <c:v>146.10845843587947</c:v>
                </c:pt>
                <c:pt idx="46">
                  <c:v>156.34550189161303</c:v>
                </c:pt>
                <c:pt idx="47">
                  <c:v>150.21238772037179</c:v>
                </c:pt>
                <c:pt idx="48">
                  <c:v>146.05664565866994</c:v>
                </c:pt>
                <c:pt idx="49">
                  <c:v>161.76440372873333</c:v>
                </c:pt>
                <c:pt idx="50">
                  <c:v>167.76932594256823</c:v>
                </c:pt>
                <c:pt idx="51">
                  <c:v>165.90093932991786</c:v>
                </c:pt>
                <c:pt idx="52">
                  <c:v>170.22953953627564</c:v>
                </c:pt>
                <c:pt idx="53">
                  <c:v>177.45384866202437</c:v>
                </c:pt>
                <c:pt idx="54">
                  <c:v>186.75692214236901</c:v>
                </c:pt>
                <c:pt idx="55">
                  <c:v>187.78156447787458</c:v>
                </c:pt>
                <c:pt idx="56">
                  <c:v>191.95293970511383</c:v>
                </c:pt>
                <c:pt idx="57">
                  <c:v>196.31950617063379</c:v>
                </c:pt>
                <c:pt idx="58">
                  <c:v>202.01087174997656</c:v>
                </c:pt>
                <c:pt idx="59">
                  <c:v>192.40138822509974</c:v>
                </c:pt>
                <c:pt idx="60">
                  <c:v>205.70476543551766</c:v>
                </c:pt>
                <c:pt idx="61">
                  <c:v>203.99047716887839</c:v>
                </c:pt>
                <c:pt idx="62">
                  <c:v>212.88708834525175</c:v>
                </c:pt>
                <c:pt idx="63">
                  <c:v>201.69240183488697</c:v>
                </c:pt>
                <c:pt idx="64">
                  <c:v>195.36722305847249</c:v>
                </c:pt>
                <c:pt idx="65">
                  <c:v>202.3561413774159</c:v>
                </c:pt>
                <c:pt idx="66">
                  <c:v>202.3561413774159</c:v>
                </c:pt>
                <c:pt idx="67">
                  <c:v>184.55755908219919</c:v>
                </c:pt>
                <c:pt idx="68">
                  <c:v>184.56738564339406</c:v>
                </c:pt>
                <c:pt idx="69">
                  <c:v>169.07849189085371</c:v>
                </c:pt>
                <c:pt idx="70">
                  <c:v>184.48430653510985</c:v>
                </c:pt>
                <c:pt idx="71">
                  <c:v>176.65477057212919</c:v>
                </c:pt>
                <c:pt idx="72">
                  <c:v>160.15597432587558</c:v>
                </c:pt>
                <c:pt idx="73">
                  <c:v>172.94658370666821</c:v>
                </c:pt>
                <c:pt idx="74">
                  <c:v>179.83142980932004</c:v>
                </c:pt>
                <c:pt idx="75">
                  <c:v>182.55696055529003</c:v>
                </c:pt>
                <c:pt idx="76">
                  <c:v>172.11177266697339</c:v>
                </c:pt>
                <c:pt idx="77">
                  <c:v>181.79450873893956</c:v>
                </c:pt>
                <c:pt idx="78">
                  <c:v>175.92581839621587</c:v>
                </c:pt>
                <c:pt idx="79">
                  <c:v>184.38336095192579</c:v>
                </c:pt>
                <c:pt idx="80">
                  <c:v>185.99447032601853</c:v>
                </c:pt>
                <c:pt idx="81">
                  <c:v>189.42974678738449</c:v>
                </c:pt>
                <c:pt idx="82">
                  <c:v>198.40899041016959</c:v>
                </c:pt>
                <c:pt idx="83">
                  <c:v>203.27269153977747</c:v>
                </c:pt>
                <c:pt idx="84">
                  <c:v>201.44718446688677</c:v>
                </c:pt>
                <c:pt idx="85">
                  <c:v>190.71345300893771</c:v>
                </c:pt>
                <c:pt idx="86">
                  <c:v>190.64690038993581</c:v>
                </c:pt>
                <c:pt idx="87">
                  <c:v>203.87300509641196</c:v>
                </c:pt>
                <c:pt idx="88">
                  <c:v>211.94105849930546</c:v>
                </c:pt>
                <c:pt idx="89">
                  <c:v>217.12233622025792</c:v>
                </c:pt>
                <c:pt idx="90">
                  <c:v>226.3235707936735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6C1-4859-A7E8-DCA5013F4E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0624592"/>
        <c:axId val="1593979856"/>
      </c:scatterChart>
      <c:valAx>
        <c:axId val="1950624592"/>
        <c:scaling>
          <c:orientation val="minMax"/>
          <c:min val="426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3979856"/>
        <c:crosses val="autoZero"/>
        <c:crossBetween val="midCat"/>
      </c:valAx>
      <c:valAx>
        <c:axId val="1593979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6245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5393A3A7-C3C7-4FDD-A971-8A7FC90F0711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A1E113BB-8A3E-4364-8C29-9006828829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E113BB-8A3E-4364-8C29-90068288296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0C38-1528-4FA2-9684-3B6AFE5952BA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20CF-F76C-48FC-AB42-243FA4FC063C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F065F-4B8A-4226-B778-A4DC582CC9EC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6BC4-8690-4143-9CFC-45D6F592C28E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50173-C648-4346-9AD3-A4E8742FA402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E96C-30A6-4A3A-AA0C-4AD70210F153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B31F6-AE25-49C6-8B56-35CB796377B1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8ACF6-B575-48CA-8F72-A24AFC2F2DC9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CF00C-E173-4924-8175-BE13E84940DB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F1721-EB08-46FE-B718-FC1FDCB90F46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3B509-CF0A-4744-83FE-CF8133381E76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E7B61-3879-47A2-AD53-CCA93CAF0F15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E9D60-81D5-4ED2-8EF1-F16BF0A85A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09600"/>
            <a:ext cx="7772400" cy="1470025"/>
          </a:xfrm>
        </p:spPr>
        <p:txBody>
          <a:bodyPr>
            <a:normAutofit/>
          </a:bodyPr>
          <a:lstStyle/>
          <a:p>
            <a:r>
              <a:rPr lang="en-US" u="sng"/>
              <a:t>Class 23 </a:t>
            </a:r>
            <a:r>
              <a:rPr lang="en-US" u="sng" dirty="0"/>
              <a:t>Finance and Management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1. From perfect markets to incomplete contracts</a:t>
            </a:r>
          </a:p>
          <a:p>
            <a:pPr algn="l"/>
            <a:r>
              <a:rPr lang="en-US" b="1" dirty="0"/>
              <a:t>2. Leveraged Buyouts</a:t>
            </a:r>
          </a:p>
          <a:p>
            <a:pPr algn="l"/>
            <a:r>
              <a:rPr lang="en-US" b="1" dirty="0"/>
              <a:t>	Controlling incentives through debt</a:t>
            </a:r>
          </a:p>
          <a:p>
            <a:pPr algn="l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Perfect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Markets are perfect is equivalent complete contracts and no transactions costs</a:t>
            </a:r>
          </a:p>
          <a:p>
            <a:pPr lvl="1"/>
            <a:r>
              <a:rPr lang="en-US" dirty="0"/>
              <a:t>Shareholders can tell everyone in the firm exactly what they want to do in every situation that arises</a:t>
            </a:r>
          </a:p>
          <a:p>
            <a:pPr marL="457200" lvl="1" indent="0">
              <a:buNone/>
            </a:pPr>
            <a:r>
              <a:rPr lang="en-US" dirty="0"/>
              <a:t>and these contracts are free</a:t>
            </a:r>
          </a:p>
          <a:p>
            <a:pPr lvl="1"/>
            <a:r>
              <a:rPr lang="en-US" dirty="0"/>
              <a:t>In this case who initially owns the assets does not matter to the value of output. (</a:t>
            </a:r>
            <a:r>
              <a:rPr lang="en-US" dirty="0" err="1"/>
              <a:t>Coase</a:t>
            </a:r>
            <a:r>
              <a:rPr lang="en-US" dirty="0"/>
              <a:t> theorem)</a:t>
            </a:r>
          </a:p>
          <a:p>
            <a:pPr lvl="1"/>
            <a:r>
              <a:rPr lang="en-US" dirty="0"/>
              <a:t>Individuals will take actions to maximize the return of all assets</a:t>
            </a:r>
          </a:p>
          <a:p>
            <a:r>
              <a:rPr lang="en-US" dirty="0"/>
              <a:t>When markets are perfect there is still finance</a:t>
            </a:r>
          </a:p>
          <a:p>
            <a:pPr lvl="1"/>
            <a:r>
              <a:rPr lang="en-US" dirty="0"/>
              <a:t>Allocate capital </a:t>
            </a:r>
          </a:p>
          <a:p>
            <a:pPr lvl="2"/>
            <a:r>
              <a:rPr lang="en-US" dirty="0"/>
              <a:t>Talented individuals have finite wealth they will want to issue claims on those assets.</a:t>
            </a:r>
          </a:p>
          <a:p>
            <a:pPr lvl="2"/>
            <a:r>
              <a:rPr lang="en-US" dirty="0"/>
              <a:t>People want to save and spend</a:t>
            </a:r>
          </a:p>
          <a:p>
            <a:pPr lvl="1"/>
            <a:r>
              <a:rPr lang="en-US" dirty="0"/>
              <a:t>Allocate risk </a:t>
            </a:r>
          </a:p>
          <a:p>
            <a:pPr lvl="2"/>
            <a:r>
              <a:rPr lang="en-US" dirty="0"/>
              <a:t>Back to modules 2 and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5A96-FB94-A98A-360B-4506EA30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Imperfect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1915-67EB-ED7A-1535-7848A1C88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382000" cy="4754563"/>
          </a:xfrm>
        </p:spPr>
        <p:txBody>
          <a:bodyPr>
            <a:normAutofit/>
          </a:bodyPr>
          <a:lstStyle/>
          <a:p>
            <a:r>
              <a:rPr lang="en-US" dirty="0"/>
              <a:t>Incomplete contracts</a:t>
            </a:r>
          </a:p>
          <a:p>
            <a:pPr lvl="1"/>
            <a:r>
              <a:rPr lang="en-US" dirty="0"/>
              <a:t>You can’t write a contract that tells every employee what to do.</a:t>
            </a:r>
          </a:p>
          <a:p>
            <a:pPr lvl="1"/>
            <a:r>
              <a:rPr lang="en-US" dirty="0"/>
              <a:t>CEO and employees have discretion</a:t>
            </a:r>
          </a:p>
          <a:p>
            <a:pPr lvl="1"/>
            <a:r>
              <a:rPr lang="en-US" dirty="0"/>
              <a:t>Individuals maximize private return not firm return</a:t>
            </a:r>
          </a:p>
          <a:p>
            <a:r>
              <a:rPr lang="en-US" dirty="0"/>
              <a:t>Now who owns the firm matters</a:t>
            </a:r>
          </a:p>
          <a:p>
            <a:pPr lvl="1"/>
            <a:r>
              <a:rPr lang="en-US" dirty="0"/>
              <a:t>Who owns is who decides</a:t>
            </a:r>
          </a:p>
          <a:p>
            <a:r>
              <a:rPr lang="en-US" dirty="0"/>
              <a:t>Now compensation structure matters</a:t>
            </a:r>
          </a:p>
          <a:p>
            <a:pPr lvl="1"/>
            <a:r>
              <a:rPr lang="en-US" dirty="0"/>
              <a:t>Compensation produces incentives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7B39-9EC4-F89A-5422-C06CDE41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1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5288-58BD-A6A6-9086-DC5CE4732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Imperfect Markets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42EB7-5F0C-58E5-E49C-D3655060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owns the firm</a:t>
            </a:r>
          </a:p>
          <a:p>
            <a:pPr lvl="1"/>
            <a:r>
              <a:rPr lang="en-US" dirty="0"/>
              <a:t>Firms with dispersed ownership face a double tragedy of the commons </a:t>
            </a:r>
          </a:p>
          <a:p>
            <a:pPr lvl="1"/>
            <a:r>
              <a:rPr lang="en-US" dirty="0"/>
              <a:t>Shareholders</a:t>
            </a:r>
          </a:p>
          <a:p>
            <a:pPr lvl="2"/>
            <a:r>
              <a:rPr lang="en-US" dirty="0"/>
              <a:t>Costly to monitor so rather have someone else do it. </a:t>
            </a:r>
          </a:p>
          <a:p>
            <a:pPr lvl="2"/>
            <a:r>
              <a:rPr lang="en-US" dirty="0"/>
              <a:t>Ideal is one-owner firm </a:t>
            </a:r>
          </a:p>
          <a:p>
            <a:pPr lvl="1"/>
            <a:r>
              <a:rPr lang="en-US" dirty="0"/>
              <a:t>Employees</a:t>
            </a:r>
          </a:p>
          <a:p>
            <a:pPr lvl="2"/>
            <a:r>
              <a:rPr lang="en-US" dirty="0"/>
              <a:t>Rather put in less effort than more</a:t>
            </a:r>
          </a:p>
          <a:p>
            <a:pPr lvl="2"/>
            <a:r>
              <a:rPr lang="en-US" dirty="0"/>
              <a:t>Compensation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05130-189F-67E2-3CA5-097D62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55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Solving these problems through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If there should be a single owner, there are multiple ways of doing so.</a:t>
            </a:r>
          </a:p>
          <a:p>
            <a:r>
              <a:rPr lang="en-US" dirty="0"/>
              <a:t>An all equity deal (see Comcast) with a dominant owner. Majority-owner decides. Incentives on non contractible investment are positive for both sides (because they each own roughly half the firm).</a:t>
            </a:r>
          </a:p>
          <a:p>
            <a:r>
              <a:rPr lang="en-US" dirty="0"/>
              <a:t>Problem each owner gets 50% of the value of their effort.</a:t>
            </a:r>
          </a:p>
          <a:p>
            <a:r>
              <a:rPr lang="en-US" dirty="0"/>
              <a:t>Question who buys whom?</a:t>
            </a:r>
          </a:p>
          <a:p>
            <a:pPr lvl="1"/>
            <a:r>
              <a:rPr lang="en-US" dirty="0"/>
              <a:t>If everything is symmetric then it does not matter</a:t>
            </a:r>
          </a:p>
          <a:p>
            <a:pPr lvl="1"/>
            <a:r>
              <a:rPr lang="en-US" dirty="0"/>
              <a:t>If not the party that is more important than the other should own (because decision rights matter).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67856-DEE6-45EB-E50D-06BEE684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 vs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C7FB-8524-827D-9FCC-964712A77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/>
              <a:t>When minority owns equity</a:t>
            </a:r>
          </a:p>
          <a:p>
            <a:pPr lvl="1"/>
            <a:r>
              <a:rPr lang="en-US" dirty="0"/>
              <a:t>Still have a problem.</a:t>
            </a:r>
          </a:p>
          <a:p>
            <a:pPr lvl="1"/>
            <a:r>
              <a:rPr lang="en-US" dirty="0"/>
              <a:t>But less risk for the majority</a:t>
            </a:r>
          </a:p>
          <a:p>
            <a:r>
              <a:rPr lang="en-US" dirty="0"/>
              <a:t>Alternative: one party buys the other firm with debt (or cash).</a:t>
            </a:r>
          </a:p>
          <a:p>
            <a:pPr lvl="1"/>
            <a:r>
              <a:rPr lang="en-US" dirty="0"/>
              <a:t>Owner decides who does what so no fear of hold up,</a:t>
            </a:r>
          </a:p>
          <a:p>
            <a:pPr lvl="1"/>
            <a:r>
              <a:rPr lang="en-US" dirty="0"/>
              <a:t>Owner has no distortion at margin</a:t>
            </a:r>
          </a:p>
          <a:p>
            <a:pPr lvl="1"/>
            <a:r>
              <a:rPr lang="en-US" dirty="0"/>
              <a:t>Seller makes no effort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96268-AB16-AD66-8B25-37A7E388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06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84FF4-96E4-2207-6833-595D710E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Paramount buys Warner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E554-C565-6D22-13B7-9B02EC263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Paramount will pay $31.00 per share in cash for all outstanding shares of WBD. ($110 Billion)</a:t>
            </a:r>
          </a:p>
          <a:p>
            <a:r>
              <a:rPr lang="en-US" dirty="0"/>
              <a:t>Paramount issuing $47 billion of new Class B shares at $16.02 per share, supported by a fully committed investment from the Ellison Family and </a:t>
            </a:r>
            <a:r>
              <a:rPr lang="en-US" dirty="0" err="1"/>
              <a:t>RedBird</a:t>
            </a:r>
            <a:r>
              <a:rPr lang="en-US" dirty="0"/>
              <a:t> Capital Partners</a:t>
            </a:r>
          </a:p>
          <a:p>
            <a:r>
              <a:rPr lang="en-US" dirty="0"/>
              <a:t>Prior bids ($ per share)</a:t>
            </a:r>
          </a:p>
          <a:p>
            <a:pPr lvl="1"/>
            <a:r>
              <a:rPr lang="en-US" dirty="0"/>
              <a:t>Paramount Sept 25 $19 (67% cash 33% equity)</a:t>
            </a:r>
          </a:p>
          <a:p>
            <a:pPr lvl="1"/>
            <a:r>
              <a:rPr lang="en-US" dirty="0"/>
              <a:t>Paramount October 25 $23.5 (80% cash 20% equity)</a:t>
            </a:r>
          </a:p>
          <a:p>
            <a:pPr lvl="1"/>
            <a:r>
              <a:rPr lang="en-US" dirty="0"/>
              <a:t>Netflix November 25 $27.5 (most but not all of the company)</a:t>
            </a:r>
          </a:p>
          <a:p>
            <a:pPr lvl="1"/>
            <a:r>
              <a:rPr lang="en-US" dirty="0"/>
              <a:t>December Warner accepts Netflix</a:t>
            </a:r>
          </a:p>
          <a:p>
            <a:pPr lvl="1"/>
            <a:r>
              <a:rPr lang="en-US" dirty="0"/>
              <a:t>Paramount December 5 $30(cash)</a:t>
            </a:r>
          </a:p>
          <a:p>
            <a:pPr lvl="1"/>
            <a:r>
              <a:rPr lang="en-US" dirty="0"/>
              <a:t>Netflix November 25 $27.5 (cash)</a:t>
            </a:r>
          </a:p>
          <a:p>
            <a:r>
              <a:rPr lang="en-US" dirty="0"/>
              <a:t>Two things at stake? How much to pay and how to pay</a:t>
            </a:r>
          </a:p>
          <a:p>
            <a:pPr lvl="1"/>
            <a:r>
              <a:rPr lang="en-US" dirty="0"/>
              <a:t>Battle of egos or what is most efficient?</a:t>
            </a:r>
          </a:p>
          <a:p>
            <a:pPr lvl="1"/>
            <a:r>
              <a:rPr lang="en-US" dirty="0"/>
              <a:t>Both Netflix and Paramount (via Oracle) have vast resources (both $400 billion companies)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CD4A8-0D87-B410-0D4C-F1E02D1A3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82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Leveraged buy 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Late 1970s liberalization of bond markets allow issuers to sell junk (not investment grade) bonds.</a:t>
            </a:r>
          </a:p>
          <a:p>
            <a:pPr lvl="1"/>
            <a:r>
              <a:rPr lang="en-US" dirty="0"/>
              <a:t>Used in a variety of settings.</a:t>
            </a:r>
          </a:p>
          <a:p>
            <a:pPr lvl="1"/>
            <a:r>
              <a:rPr lang="en-US" dirty="0"/>
              <a:t>In particular to do high risk project</a:t>
            </a:r>
          </a:p>
          <a:p>
            <a:r>
              <a:rPr lang="en-US" dirty="0"/>
              <a:t>Leveraged Buy Out market.</a:t>
            </a:r>
          </a:p>
          <a:p>
            <a:pPr lvl="1"/>
            <a:r>
              <a:rPr lang="en-US" dirty="0"/>
              <a:t>In theory entrepreneur identifies an underperforming firm, has business plan to turn it around.</a:t>
            </a:r>
          </a:p>
          <a:p>
            <a:pPr lvl="1"/>
            <a:r>
              <a:rPr lang="en-US" dirty="0"/>
              <a:t>Makes a tender offer for the stock that is based on borrowing nearly all the total expense of buying the stock.</a:t>
            </a:r>
          </a:p>
          <a:p>
            <a:pPr lvl="1"/>
            <a:r>
              <a:rPr lang="en-US" dirty="0"/>
              <a:t>Takes a firm with low leverage and turns it into a firm with very high leverage.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Leveraged buy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owners of the firm before the LBO have an option at strike price B</a:t>
            </a:r>
            <a:r>
              <a:rPr lang="en-US" baseline="-25000" dirty="0"/>
              <a:t>L</a:t>
            </a:r>
            <a:endParaRPr lang="en-US" dirty="0"/>
          </a:p>
          <a:p>
            <a:pPr lvl="1"/>
            <a:r>
              <a:rPr lang="en-US" dirty="0"/>
              <a:t>Can afford to pick low risk low return project</a:t>
            </a:r>
          </a:p>
          <a:p>
            <a:r>
              <a:rPr lang="en-US" dirty="0"/>
              <a:t>LBO buys out the equity and old debt with debt sold at a fraction of par</a:t>
            </a:r>
          </a:p>
          <a:p>
            <a:pPr lvl="1"/>
            <a:r>
              <a:rPr lang="en-US" dirty="0"/>
              <a:t>So B</a:t>
            </a:r>
            <a:r>
              <a:rPr lang="en-US" baseline="-25000" dirty="0"/>
              <a:t>H </a:t>
            </a:r>
            <a:r>
              <a:rPr lang="en-US" dirty="0"/>
              <a:t>&gt; B</a:t>
            </a:r>
            <a:r>
              <a:rPr lang="en-US" baseline="-25000" dirty="0"/>
              <a:t>L </a:t>
            </a:r>
            <a:r>
              <a:rPr lang="en-US" dirty="0"/>
              <a:t>+E  Difference between what they owe and what they spent.</a:t>
            </a:r>
          </a:p>
          <a:p>
            <a:r>
              <a:rPr lang="en-US" dirty="0"/>
              <a:t>The owners of the firm after the LBO have an option at a much higher strike price B</a:t>
            </a:r>
            <a:r>
              <a:rPr lang="en-US" baseline="-25000" dirty="0"/>
              <a:t>H</a:t>
            </a:r>
            <a:endParaRPr lang="en-US" dirty="0"/>
          </a:p>
          <a:p>
            <a:pPr lvl="1"/>
            <a:r>
              <a:rPr lang="en-US" dirty="0"/>
              <a:t>So they have to generate higher profits to be in the money.</a:t>
            </a:r>
          </a:p>
          <a:p>
            <a:pPr lvl="1"/>
            <a:r>
              <a:rPr lang="en-US" dirty="0"/>
              <a:t>If they fail, the firm becomes bankrupt and control passes to creditors</a:t>
            </a:r>
          </a:p>
          <a:p>
            <a:pPr lvl="1"/>
            <a:r>
              <a:rPr lang="en-US" dirty="0"/>
              <a:t>The higher the leverage of the LBO the stronger the incentives!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the LBO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get to profits above B</a:t>
            </a:r>
            <a:r>
              <a:rPr lang="en-US" baseline="-25000" dirty="0"/>
              <a:t>H</a:t>
            </a:r>
            <a:r>
              <a:rPr lang="en-US" dirty="0"/>
              <a:t> management can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Find assets that would fetch a higher price on the market than their present value in the firm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Implement cost savings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Increase sales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Innovate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Hope for interest rate drop</a:t>
            </a:r>
          </a:p>
          <a:p>
            <a:r>
              <a:rPr lang="en-US" dirty="0"/>
              <a:t>Last one is rare and most of the gains come from the first two </a:t>
            </a:r>
          </a:p>
          <a:p>
            <a:pPr lvl="1"/>
            <a:r>
              <a:rPr lang="en-US" dirty="0"/>
              <a:t>LBO firms have specialized expertise, they are turn-around specialists</a:t>
            </a:r>
          </a:p>
          <a:p>
            <a:pPr lvl="1"/>
            <a:r>
              <a:rPr lang="en-US" dirty="0"/>
              <a:t>Usually little sector-specific experience</a:t>
            </a:r>
          </a:p>
          <a:p>
            <a:r>
              <a:rPr lang="en-US" dirty="0"/>
              <a:t>Other sources of profits are interest rate declines, </a:t>
            </a:r>
          </a:p>
          <a:p>
            <a:pPr lvl="1"/>
            <a:r>
              <a:rPr lang="en-US" dirty="0"/>
              <a:t>Bonds are callable. (the firm has a call option on the bonds at par)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000" dirty="0"/>
              <a:t>Was for while the largest seller of PC in the world</a:t>
            </a:r>
          </a:p>
          <a:p>
            <a:pPr lvl="1"/>
            <a:r>
              <a:rPr lang="en-US" sz="1800" dirty="0"/>
              <a:t>In the past few years has missed its targets.</a:t>
            </a:r>
          </a:p>
          <a:p>
            <a:r>
              <a:rPr lang="en-US" sz="2000" dirty="0"/>
              <a:t>In July 2013 has about 7 billion dollars in debt and 10 billion dollars in equity.</a:t>
            </a:r>
          </a:p>
          <a:p>
            <a:r>
              <a:rPr lang="en-US" sz="2000" dirty="0"/>
              <a:t>In 2012 ago founder Michael Dell and an investment firm propose an LBO to take the company private. </a:t>
            </a:r>
          </a:p>
          <a:p>
            <a:pPr lvl="1"/>
            <a:r>
              <a:rPr lang="en-US" sz="1800" dirty="0"/>
              <a:t>Buy out the company for 24.9 Billion dollars in cash and issue bonds for about 20 billion dollars moving to a very high degree of leverage. (13% to 90%)</a:t>
            </a:r>
          </a:p>
          <a:p>
            <a:r>
              <a:rPr lang="en-US" sz="2000" dirty="0"/>
              <a:t>The idea is that the company that was once the largest seller of PC needs change</a:t>
            </a:r>
          </a:p>
          <a:p>
            <a:pPr lvl="1"/>
            <a:r>
              <a:rPr lang="en-US" sz="1800" dirty="0"/>
              <a:t>hard choices</a:t>
            </a:r>
          </a:p>
          <a:p>
            <a:pPr lvl="1"/>
            <a:r>
              <a:rPr lang="en-US" sz="1800" dirty="0"/>
              <a:t>it will take a bit of time…</a:t>
            </a:r>
          </a:p>
          <a:p>
            <a:r>
              <a:rPr lang="en-US" sz="2000" dirty="0"/>
              <a:t>If they succeed they will make a fortune. If not..</a:t>
            </a:r>
          </a:p>
          <a:p>
            <a:pPr lvl="1"/>
            <a:r>
              <a:rPr lang="en-US" sz="1800" dirty="0"/>
              <a:t>Return to the market in 2016 at 35 billion. Peek in late 2021 at 82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CD31-E9A3-2029-F8E6-3F060379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Since returning to the market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28EF-DA97-5FC8-BC1A-17601DCEE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67F12C-7C25-CE05-36AA-4972E2A20A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786048"/>
              </p:ext>
            </p:extLst>
          </p:nvPr>
        </p:nvGraphicFramePr>
        <p:xfrm>
          <a:off x="457200" y="914400"/>
          <a:ext cx="8229600" cy="5211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767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4721-82FF-FA79-5DE3-AFFEF551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equity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E0251-8707-CEB2-CC93-651D2AA3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952EA-A202-C8C0-FC92-6DD855080678}"/>
              </a:ext>
            </a:extLst>
          </p:cNvPr>
          <p:cNvSpPr txBox="1"/>
          <p:nvPr/>
        </p:nvSpPr>
        <p:spPr>
          <a:xfrm>
            <a:off x="480060" y="619117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https://www.macrotrends.net/stocks/charts/DELL/dell/market-cap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E9689836-4995-7A25-94E5-A04A57BB11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123789"/>
              </p:ext>
            </p:extLst>
          </p:nvPr>
        </p:nvGraphicFramePr>
        <p:xfrm>
          <a:off x="228600" y="1524000"/>
          <a:ext cx="3810000" cy="4128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948110326"/>
                    </a:ext>
                  </a:extLst>
                </a:gridCol>
                <a:gridCol w="831273">
                  <a:extLst>
                    <a:ext uri="{9D8B030D-6E8A-4147-A177-3AD203B41FA5}">
                      <a16:colId xmlns:a16="http://schemas.microsoft.com/office/drawing/2014/main" val="2595373982"/>
                    </a:ext>
                  </a:extLst>
                </a:gridCol>
                <a:gridCol w="900545">
                  <a:extLst>
                    <a:ext uri="{9D8B030D-6E8A-4147-A177-3AD203B41FA5}">
                      <a16:colId xmlns:a16="http://schemas.microsoft.com/office/drawing/2014/main" val="2851898425"/>
                    </a:ext>
                  </a:extLst>
                </a:gridCol>
                <a:gridCol w="1316182">
                  <a:extLst>
                    <a:ext uri="{9D8B030D-6E8A-4147-A177-3AD203B41FA5}">
                      <a16:colId xmlns:a16="http://schemas.microsoft.com/office/drawing/2014/main" val="36968325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Equity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Debt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Ratio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5363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2016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35.1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47.2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134.47%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870552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2017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62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70.97%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70372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2018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35.1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40.5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115.38%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2289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2019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37.89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44.32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116.97%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791005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2021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42.9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31.7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73.89%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16922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2022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28.8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20.5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71.18%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00988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2023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54.43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20.1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36.93%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89613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2024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64.67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20.1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31.08%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501481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2025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71.7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19.4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27.06%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85515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32.145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636573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9C50FA8-71A1-2FFC-9EB2-7E410BB5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28800"/>
            <a:ext cx="4911741" cy="371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4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844C0-DB67-D65D-7D6D-52438338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438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QUIZ 8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FBCEB-DEFC-32E3-2428-8E2F8CAB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D60-81D5-4ED2-8EF1-F16BF0A85AC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1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1098</Words>
  <Application>Microsoft Office PowerPoint</Application>
  <PresentationFormat>On-screen Show (4:3)</PresentationFormat>
  <Paragraphs>172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Class 23 Finance and Management</vt:lpstr>
      <vt:lpstr>Perfect Markets</vt:lpstr>
      <vt:lpstr>Imperfect Markets</vt:lpstr>
      <vt:lpstr>Imperfect Markets (2)</vt:lpstr>
      <vt:lpstr>Solving these problems through finance</vt:lpstr>
      <vt:lpstr>Debt vs equity</vt:lpstr>
      <vt:lpstr>Paramount buys Warner</vt:lpstr>
      <vt:lpstr>Example: Leveraged buy outs</vt:lpstr>
      <vt:lpstr>Leveraged buy out</vt:lpstr>
      <vt:lpstr>Making the LBO work</vt:lpstr>
      <vt:lpstr>Example Dell</vt:lpstr>
      <vt:lpstr>Since returning to the market</vt:lpstr>
      <vt:lpstr>Value of equity</vt:lpstr>
      <vt:lpstr>QUIZ 8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11-18 Class 15  Risk and the firm (one project)</dc:title>
  <dc:creator>Jean-Laurent</dc:creator>
  <cp:lastModifiedBy>Rosenthal, Jean-Laurent</cp:lastModifiedBy>
  <cp:revision>25</cp:revision>
  <cp:lastPrinted>2023-02-28T00:35:10Z</cp:lastPrinted>
  <dcterms:created xsi:type="dcterms:W3CDTF">2013-11-16T16:15:56Z</dcterms:created>
  <dcterms:modified xsi:type="dcterms:W3CDTF">2026-03-06T16:42:53Z</dcterms:modified>
</cp:coreProperties>
</file>