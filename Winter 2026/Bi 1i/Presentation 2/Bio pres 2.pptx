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
  </p:notesMasterIdLst>
  <p:sldIdLst>
    <p:sldId id="256" r:id="rId5"/>
    <p:sldId id="257" r:id="rId6"/>
    <p:sldId id="258" r:id="rId7"/>
    <p:sldId id="259" r:id="rId8"/>
    <p:sldId id="260" r:id="rId9"/>
    <p:sldId id="261" r:id="rId10"/>
    <p:sldId id="262" r:id="rId11"/>
    <p:sldId id="264" r:id="rId12"/>
    <p:sldId id="265" r:id="rId13"/>
    <p:sldId id="266" r:id="rId14"/>
    <p:sldId id="267"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69585" autoAdjust="0"/>
  </p:normalViewPr>
  <p:slideViewPr>
    <p:cSldViewPr snapToGrid="0" snapToObjects="1">
      <p:cViewPr>
        <p:scale>
          <a:sx n="159" d="100"/>
          <a:sy n="159" d="100"/>
        </p:scale>
        <p:origin x="472" y="-760"/>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325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”Hello, I’m Om and today I’ll cover what happens to a CD8 T cell after it sees an antigen for the first time?”</a:t>
            </a:r>
          </a:p>
          <a:p>
            <a:endParaRPr lang="en-US" dirty="0"/>
          </a:p>
          <a:p>
            <a:r>
              <a:rPr lang="en-US" sz="1200" b="1" dirty="0"/>
              <a:t>EXPLANATION FOR UNDERSTANDING</a:t>
            </a:r>
          </a:p>
          <a:p>
            <a:r>
              <a:rPr lang="en-US" sz="1100" dirty="0"/>
              <a:t>This presentation answers a four-part immunology question:</a:t>
            </a:r>
          </a:p>
          <a:p>
            <a:r>
              <a:rPr lang="en-US" sz="1100" dirty="0"/>
              <a:t>(a) What are the three fates? (b) What conditions bias them? (c) What role does CD4 help play? (d) Why do lower-affinity T cells form memory?</a:t>
            </a:r>
          </a:p>
          <a:p>
            <a:r>
              <a:rPr lang="en-US" sz="1100" dirty="0"/>
              <a:t>The three fate pills on the slide — Killer Effector, Memory Cell, Exhausted Cell — each represent a distinct differentiation state with its own transcriptional programme, epigenetic signature, and functional outcome. Keep these three categories in mind as you go through each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So CD8 T Cells or </a:t>
            </a:r>
            <a:r>
              <a:rPr lang="en-US" dirty="0"/>
              <a:t>cytotoxic T lymphocytes immune cells who find and kill infected or abnormal cells in your body</a:t>
            </a:r>
            <a:r>
              <a:rPr lang="en-US" sz="1200" b="0" dirty="0"/>
              <a:t>. When a CD8 T cell </a:t>
            </a:r>
            <a:r>
              <a:rPr lang="en-US" dirty="0"/>
              <a:t>encounters antigen for the first time, it enters a differentiation process that transforms it to one of three types of cells.</a:t>
            </a:r>
          </a:p>
          <a:p>
            <a:endParaRPr lang="en-US" sz="1200" b="0" dirty="0"/>
          </a:p>
          <a:p>
            <a:r>
              <a:rPr lang="en-US" sz="1100" b="0" dirty="0"/>
              <a:t>The Killer Effector is the immediate response, so it proliferates a bunch, kills target cells using cytotoxic molecules (so Granzyme B and Perforin), and secretes high levels of </a:t>
            </a:r>
            <a:r>
              <a:rPr lang="en-US" sz="1100" b="0" dirty="0" err="1"/>
              <a:t>cytokenes</a:t>
            </a:r>
            <a:r>
              <a:rPr lang="en-US" sz="1100" b="0" dirty="0"/>
              <a:t> IFN-gamma and TNF-alpha. But this cell is designed to be temporary: after antigen is cleared, about 90% die by day 7–10 through apoptosis.</a:t>
            </a:r>
          </a:p>
          <a:p>
            <a:endParaRPr lang="en-US" sz="1100" b="0" dirty="0"/>
          </a:p>
          <a:p>
            <a:r>
              <a:rPr lang="en-US" sz="1100" b="0" dirty="0"/>
              <a:t>The Memory Cell is like long term defense so It expresses IL-7 receptor alpha so it can receive homeostasis-based survival signals, and it can also last for decades as it uses </a:t>
            </a:r>
            <a:r>
              <a:rPr lang="en-US" sz="1100" dirty="0"/>
              <a:t>Bcl-2 to resist apoptosis which binds to and neutralizes </a:t>
            </a:r>
            <a:r>
              <a:rPr lang="en-US" sz="1200" b="0" i="0" kern="1200" dirty="0">
                <a:solidFill>
                  <a:schemeClr val="tx1"/>
                </a:solidFill>
                <a:effectLst/>
                <a:latin typeface="+mn-lt"/>
                <a:ea typeface="+mn-ea"/>
                <a:cs typeface="+mn-cs"/>
              </a:rPr>
              <a:t>Bim and Bax at the mitochondria</a:t>
            </a:r>
            <a:r>
              <a:rPr lang="en-US" sz="1100" b="0" dirty="0"/>
              <a:t>. Memory cells also </a:t>
            </a:r>
            <a:r>
              <a:rPr lang="en-US" sz="1100" dirty="0"/>
              <a:t>split into central memory cells in lymph nodes and effector memory cells which stay in the surrounding tissues.</a:t>
            </a:r>
            <a:endParaRPr lang="en-US" sz="1100" b="0" dirty="0"/>
          </a:p>
          <a:p>
            <a:endParaRPr lang="en-US" sz="1100" b="0" dirty="0"/>
          </a:p>
          <a:p>
            <a:r>
              <a:rPr lang="en-US" sz="1100" b="0" dirty="0"/>
              <a:t>The Exhausted Cell is the problem in cancer and is what happens under severe </a:t>
            </a:r>
            <a:r>
              <a:rPr lang="en-US" sz="1100" dirty="0"/>
              <a:t>antigen stimulation</a:t>
            </a:r>
            <a:r>
              <a:rPr lang="en-US" sz="1100" b="0" dirty="0"/>
              <a:t>. There’s a progressive loss of function, first IL-2, then TNF-alpha, then we also see the continuous build up of </a:t>
            </a:r>
            <a:r>
              <a:rPr lang="en-US" sz="1100" dirty="0"/>
              <a:t>co-inhibitory receptors</a:t>
            </a:r>
            <a:r>
              <a:rPr lang="en-US" sz="1100" b="0" dirty="0"/>
              <a:t> which is locked into this building up state by a transcription factor called TOX. The receptors produced n</a:t>
            </a:r>
            <a:r>
              <a:rPr lang="en-US" sz="1200" b="0" i="0" kern="1200" dirty="0">
                <a:solidFill>
                  <a:schemeClr val="tx1"/>
                </a:solidFill>
                <a:effectLst/>
                <a:latin typeface="+mn-lt"/>
                <a:ea typeface="+mn-ea"/>
                <a:cs typeface="+mn-cs"/>
              </a:rPr>
              <a:t>egatively regulate T-cell activation.</a:t>
            </a:r>
          </a:p>
          <a:p>
            <a:r>
              <a:rPr lang="en-US" sz="1100" b="0" dirty="0"/>
              <a:t>There are also two sub-states: progenitor exhausted cells that still respond to therapy, and terminal exhausted cells that don’t.</a:t>
            </a:r>
          </a:p>
          <a:p>
            <a:endParaRPr lang="en-US" sz="1100" b="0" dirty="0"/>
          </a:p>
          <a:p>
            <a:endParaRPr lang="en-US" sz="1100" b="0" dirty="0"/>
          </a:p>
          <a:p>
            <a:endParaRPr lang="en-US" b="0" dirty="0"/>
          </a:p>
          <a:p>
            <a:r>
              <a:rPr lang="en-US" sz="1200" b="0" dirty="0"/>
              <a:t>EXPLANATION FOR UNDERSTANDING</a:t>
            </a:r>
          </a:p>
          <a:p>
            <a:r>
              <a:rPr lang="en-US" sz="1100" b="0" dirty="0"/>
              <a:t>Key distinction: exhaustion is NOT simply strong activation — it is a distinct cell fate with its own transcriptional </a:t>
            </a:r>
            <a:r>
              <a:rPr lang="en-US" sz="1100" b="0" dirty="0" err="1"/>
              <a:t>programme</a:t>
            </a:r>
            <a:r>
              <a:rPr lang="en-US" sz="1100" b="0" dirty="0"/>
              <a:t> driven by TOX and NR4A factors.</a:t>
            </a:r>
          </a:p>
          <a:p>
            <a:r>
              <a:rPr lang="en-US" sz="1100" b="0" dirty="0"/>
              <a:t>Hierarchy of function loss in exhaustion: IL-2 → TNF-alpha → IFN-gamma → cytolysis. This order matters for assessing dysfunction severity.</a:t>
            </a:r>
          </a:p>
          <a:p>
            <a:r>
              <a:rPr lang="en-US" sz="1100" b="0" dirty="0"/>
              <a:t>Interconversion rules: Effectors cannot revert to memory. Terminal Tex cannot be rescued. Only progenitor Tex (TCF-1+ PD-1lo) responds meaningfully to anti-PD-1 checkpoint blockade — this is why knowing the ratio of progenitor to terminal Tex predicts therapy outcome.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On this slide I put together a cool decision tree visual that tracks a CD8 T cell to each of the three different fates.</a:t>
            </a:r>
          </a:p>
          <a:p>
            <a:endParaRPr lang="en-US" sz="1100" dirty="0"/>
          </a:p>
          <a:p>
            <a:r>
              <a:rPr lang="en-US" sz="1100" dirty="0"/>
              <a:t>At the top a naive cell encounters an antigen. The strength and nature of that encounter — TCR signal, co-stimulation, cytokine context — determine which branch it takes.</a:t>
            </a:r>
          </a:p>
          <a:p>
            <a:endParaRPr lang="en-US" sz="1100" dirty="0"/>
          </a:p>
          <a:p>
            <a:r>
              <a:rPr lang="en-US" sz="1100" dirty="0"/>
              <a:t>Strong TCR signals with IL-12 push toward the killer effector branch. </a:t>
            </a:r>
          </a:p>
          <a:p>
            <a:endParaRPr lang="en-US" sz="1100" dirty="0"/>
          </a:p>
          <a:p>
            <a:r>
              <a:rPr lang="en-US" sz="1100" dirty="0"/>
              <a:t>A weaker TCR signal with IL-7 </a:t>
            </a:r>
            <a:r>
              <a:rPr lang="en-US" sz="1100" dirty="0" err="1"/>
              <a:t>signalling</a:t>
            </a:r>
            <a:r>
              <a:rPr lang="en-US" sz="1100" dirty="0"/>
              <a:t> push toward memory.</a:t>
            </a:r>
          </a:p>
          <a:p>
            <a:endParaRPr lang="en-US" sz="1100" dirty="0"/>
          </a:p>
          <a:p>
            <a:r>
              <a:rPr lang="en-US" sz="1100" dirty="0"/>
              <a:t>And then Chronic, persistent antigen — what happens in a tumour — pushes toward exhaustion because of the TOX transcription factor. </a:t>
            </a:r>
          </a:p>
          <a:p>
            <a:endParaRPr lang="en-US" dirty="0"/>
          </a:p>
          <a:p>
            <a:r>
              <a:rPr lang="en-US" sz="1200" b="1" dirty="0"/>
              <a:t>EXPLANATION FOR UNDERSTANDING</a:t>
            </a:r>
          </a:p>
          <a:p>
            <a:r>
              <a:rPr lang="en-US" sz="1100" dirty="0"/>
              <a:t>The branching happens early — memory precursor effector cells (MPECs) are identifiable as early as the first cell division.</a:t>
            </a:r>
          </a:p>
          <a:p>
            <a:r>
              <a:rPr lang="en-US" sz="1100" dirty="0"/>
              <a:t>Key transcription factors at each branch:</a:t>
            </a:r>
          </a:p>
          <a:p>
            <a:pPr marL="342900" indent="0"/>
            <a:r>
              <a:rPr lang="en-US" sz="1000" dirty="0"/>
              <a:t>- Effector branch: T-bet (high), Eomes (low), mTOR active</a:t>
            </a:r>
          </a:p>
          <a:p>
            <a:pPr marL="342900" indent="0"/>
            <a:r>
              <a:rPr lang="en-US" sz="1000" dirty="0"/>
              <a:t>- Memory branch: TCF-1 (high), FOXO1 active, Eomes (high later)</a:t>
            </a:r>
          </a:p>
          <a:p>
            <a:pPr marL="342900" indent="0"/>
            <a:r>
              <a:rPr lang="en-US" sz="1000" dirty="0"/>
              <a:t>- Exhaustion branch: TOX (high), NR4A1/2/3, NFAT without AP-1</a:t>
            </a:r>
          </a:p>
          <a:p>
            <a:r>
              <a:rPr lang="en-US" sz="1100" dirty="0"/>
              <a:t>The Tcm/Tem distinction within memory is important: central memory (CCR7+) homes to lymph nodes, effector memory (CCR7-) patrols peripheral tissues.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slide shows how T cells are activated by the three Signals that we discussed in the homework. </a:t>
            </a:r>
          </a:p>
          <a:p>
            <a:r>
              <a:rPr lang="en-US" sz="1100" dirty="0"/>
              <a:t>The Antigen Presenting Cell uses MHC to present the antigen to the T cell receptor which is Signal 1. </a:t>
            </a:r>
          </a:p>
          <a:p>
            <a:r>
              <a:rPr lang="en-US" sz="1100" dirty="0"/>
              <a:t>B7 molecules on the APC engage CD28 on the T cell which is Signal 2. </a:t>
            </a:r>
          </a:p>
          <a:p>
            <a:r>
              <a:rPr lang="en-US" sz="1100" dirty="0"/>
              <a:t>Cytokines like IL-12 and IL-2 in the environment provide Signal 3. </a:t>
            </a:r>
          </a:p>
          <a:p>
            <a:endParaRPr lang="en-US" sz="1100" dirty="0"/>
          </a:p>
          <a:p>
            <a:r>
              <a:rPr lang="en-US" sz="1100" dirty="0"/>
              <a:t>Depending on which receptor gets engaged on the cell surface each signal will traverse it’s own pathway of proteins which includes various kinases and transcription factors to eventually result in some gene expression. </a:t>
            </a:r>
          </a:p>
          <a:p>
            <a:endParaRPr lang="en-US" sz="1100" dirty="0"/>
          </a:p>
          <a:p>
            <a:r>
              <a:rPr lang="en-US" sz="1100" dirty="0"/>
              <a:t>For Signal 1 alone (antigen recognition without cytokines) the cell recognizes its target but becomes functionally unresponsive.</a:t>
            </a:r>
          </a:p>
          <a:p>
            <a:r>
              <a:rPr lang="en-US" sz="1100" dirty="0"/>
              <a:t>Signals 1 and 2 together produce both effector and memory differentiation and then adding Signal 3 will strongly bias this toward the effector fate. </a:t>
            </a:r>
          </a:p>
          <a:p>
            <a:r>
              <a:rPr lang="en-US" sz="1100" dirty="0"/>
              <a:t>Finally, Signals 1 and 2 under severe antigen exposure will result in exhaustion.</a:t>
            </a:r>
          </a:p>
          <a:p>
            <a:endParaRPr lang="en-US" sz="1100" dirty="0"/>
          </a:p>
          <a:p>
            <a:endParaRPr lang="en-US" sz="1100" dirty="0"/>
          </a:p>
          <a:p>
            <a:endParaRPr lang="en-US" dirty="0"/>
          </a:p>
          <a:p>
            <a:r>
              <a:rPr lang="en-US" sz="1200" b="1" dirty="0"/>
              <a:t>EXPLANATION FOR UNDERSTANDING</a:t>
            </a:r>
          </a:p>
          <a:p>
            <a:r>
              <a:rPr lang="en-US" sz="1100" dirty="0"/>
              <a:t>Why three signals? Because each provides essential, non-redundant information:</a:t>
            </a:r>
          </a:p>
          <a:p>
            <a:pPr marL="342900" indent="0"/>
            <a:r>
              <a:rPr lang="en-US" sz="1000" dirty="0"/>
              <a:t>Signal 1 alone → anergy (the cell recognises antigen but receives no danger signal)</a:t>
            </a:r>
          </a:p>
          <a:p>
            <a:pPr marL="342900" indent="0"/>
            <a:r>
              <a:rPr lang="en-US" sz="1000" dirty="0"/>
              <a:t>Signals 1+2 → activation + effector/memory differentiation</a:t>
            </a:r>
          </a:p>
          <a:p>
            <a:pPr marL="342900" indent="0"/>
            <a:r>
              <a:rPr lang="en-US" sz="1000" dirty="0"/>
              <a:t>Signals 1+2+3 (IL-12) → strong effector commitment; IL-12 is the key 'effector-biasing' cytokine</a:t>
            </a:r>
          </a:p>
          <a:p>
            <a:pPr marL="342900" indent="0"/>
            <a:r>
              <a:rPr lang="en-US" sz="1000" dirty="0"/>
              <a:t>Signals 1+2 + chronic stimulation → exhaustion via NFAT/TOX</a:t>
            </a:r>
          </a:p>
          <a:p>
            <a:endParaRPr lang="en-US" dirty="0"/>
          </a:p>
          <a:p>
            <a:r>
              <a:rPr lang="en-US" sz="1100" dirty="0"/>
              <a:t>The PI3K→Akt→mTOR axis (Signal 2) is particularly important: mTOR activation phosphorylates and inactivates FOXO1, directly preventing the memory programme. This is why strong co-stimulation can paradoxically reduce memory formation at high doses.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Next I wanted to explain </a:t>
            </a:r>
            <a:r>
              <a:rPr lang="en-US" sz="1100" b="0" dirty="0"/>
              <a:t>what actually determines fate at the molecular level.</a:t>
            </a:r>
          </a:p>
          <a:p>
            <a:endParaRPr lang="en-US" sz="1100" b="0" dirty="0"/>
          </a:p>
          <a:p>
            <a:r>
              <a:rPr lang="en-US" sz="1100" b="0" dirty="0"/>
              <a:t>The first signal, which is TCR affinity </a:t>
            </a:r>
            <a:r>
              <a:rPr lang="en-US" sz="1100" dirty="0"/>
              <a:t>is measured by how long the MHC stays bound to the T cell receptor. Low affinity will keep the regulatory transcription factor FOXO1 active and preserves TCF-1 which biases towards memory cells.</a:t>
            </a:r>
          </a:p>
          <a:p>
            <a:r>
              <a:rPr lang="en-US" sz="1100" dirty="0"/>
              <a:t>High affinity activates a kinase called mTOR and increases expression of  T-bet protein biasing towards effector cells.</a:t>
            </a:r>
          </a:p>
          <a:p>
            <a:r>
              <a:rPr lang="en-US" sz="1100" dirty="0"/>
              <a:t>And if the signal is chronic and persistent, you get induction TOX and increased expression of PD-1 which biases towards exhaustion.</a:t>
            </a:r>
          </a:p>
          <a:p>
            <a:r>
              <a:rPr lang="en-US" sz="1100" dirty="0"/>
              <a:t>Something important to note Is that signal </a:t>
            </a:r>
            <a:r>
              <a:rPr lang="en-US" sz="1100" i="1" dirty="0"/>
              <a:t>duration</a:t>
            </a:r>
            <a:r>
              <a:rPr lang="en-US" sz="1100" dirty="0"/>
              <a:t> matters as much as signal </a:t>
            </a:r>
            <a:r>
              <a:rPr lang="en-US" sz="1100" i="1" dirty="0"/>
              <a:t>strength</a:t>
            </a:r>
            <a:r>
              <a:rPr lang="en-US" sz="1100" dirty="0"/>
              <a:t>.</a:t>
            </a:r>
            <a:endParaRPr lang="en-US" sz="1100" b="0" dirty="0"/>
          </a:p>
          <a:p>
            <a:endParaRPr lang="en-US" sz="1100" b="0" dirty="0"/>
          </a:p>
          <a:p>
            <a:endParaRPr lang="en-US" b="0" dirty="0"/>
          </a:p>
          <a:p>
            <a:r>
              <a:rPr lang="en-US" sz="1200" b="0" dirty="0"/>
              <a:t>EXPLANATION FOR UNDERSTANDING</a:t>
            </a:r>
          </a:p>
          <a:p>
            <a:r>
              <a:rPr lang="en-US" sz="1100" b="0" dirty="0"/>
              <a:t>The NFAT/AP-1 switch is a key concept: under acute stimulation, NFAT partners with AP-1 (FOS/JUN) to activate effector genes. Under chronic stimulation, AP-1 is lost (suppressive TME signals reduce FOS/JUN), so NFAT acts alone — activating TOX, NR4A, PD-1 instead.</a:t>
            </a:r>
          </a:p>
          <a:p>
            <a:r>
              <a:rPr lang="en-US" sz="1100" b="0" dirty="0"/>
              <a:t>The mTOR/FOXO1 seesaw: strong TCR+CD28 → PI3K → Akt → mTOR → phospho-FOXO1 (cytoplasmic, inactive) → no IL-7R, no TCF-1 → effector fate. Weak signal → FOXO1 stays nuclear → memory fate.</a:t>
            </a:r>
          </a:p>
          <a:p>
            <a:r>
              <a:rPr lang="en-US" sz="1100" b="0" dirty="0"/>
              <a:t>For exam purposes: know the three signals, their receptors, downstream pathways (ZAP-70/ERK, PI3K/Akt/mTOR, JAK/STAT), and how each biases the T-bet vs. FOXO1/TCF-1 balance.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So, final time I’ll describe this but just to present the big picture: </a:t>
            </a:r>
          </a:p>
          <a:p>
            <a:endParaRPr lang="en-US" sz="1100" dirty="0"/>
          </a:p>
          <a:p>
            <a:r>
              <a:rPr lang="en-US" sz="1100" dirty="0"/>
              <a:t>Effector Pathway: mTOR complex activates two transcription factors — T-bet (Tbx21), which drives effector gene programs. T-bet directly increases expression of the </a:t>
            </a:r>
            <a:r>
              <a:rPr lang="en-US" sz="1200" b="1" i="0" kern="1200" dirty="0">
                <a:solidFill>
                  <a:schemeClr val="tx1"/>
                </a:solidFill>
                <a:effectLst/>
                <a:latin typeface="+mn-lt"/>
                <a:ea typeface="+mn-ea"/>
                <a:cs typeface="+mn-cs"/>
              </a:rPr>
              <a:t>cytolytic </a:t>
            </a:r>
            <a:r>
              <a:rPr lang="en-US" sz="1200" b="1" i="0" kern="1200" dirty="0" err="1">
                <a:solidFill>
                  <a:schemeClr val="tx1"/>
                </a:solidFill>
                <a:effectLst/>
                <a:latin typeface="+mn-lt"/>
                <a:ea typeface="+mn-ea"/>
                <a:cs typeface="+mn-cs"/>
              </a:rPr>
              <a:t>protiens</a:t>
            </a:r>
            <a:r>
              <a:rPr lang="en-US" sz="1200" b="1" i="0" kern="1200" dirty="0">
                <a:solidFill>
                  <a:schemeClr val="tx1"/>
                </a:solidFill>
                <a:effectLst/>
                <a:latin typeface="+mn-lt"/>
                <a:ea typeface="+mn-ea"/>
                <a:cs typeface="+mn-cs"/>
              </a:rPr>
              <a:t> listed here</a:t>
            </a:r>
            <a:r>
              <a:rPr lang="el-GR" sz="1100" dirty="0"/>
              <a:t>. </a:t>
            </a:r>
            <a:r>
              <a:rPr lang="en-US" sz="1100" dirty="0"/>
              <a:t>The result is a short lived CTL or effector cell. Another important thing is if you see the the dashed arrow: mTOR actually phosphorylates and inactivates FOXO1, which represents the switch between effector and memory and how you can sort of only converge on one side.. When mTOR is on, FOXO1 is off, and vice versa.</a:t>
            </a:r>
          </a:p>
          <a:p>
            <a:endParaRPr lang="en-US" sz="1100" dirty="0"/>
          </a:p>
          <a:p>
            <a:r>
              <a:rPr lang="en-US" sz="1100" b="1" dirty="0"/>
              <a:t>Memory pathway:</a:t>
            </a:r>
            <a:r>
              <a:rPr lang="en-US" sz="1100" dirty="0"/>
              <a:t> FOXO1 drives expression of the CD127 which is listed as IL-7R</a:t>
            </a:r>
            <a:r>
              <a:rPr lang="el-GR" sz="1100" dirty="0"/>
              <a:t>α</a:t>
            </a:r>
            <a:r>
              <a:rPr lang="en-US" sz="1100" dirty="0"/>
              <a:t> here. TCF-1 which is a self-renewing transcription factor allowing memory cells to last hence maintaining the properties of memory cells. Together they activate </a:t>
            </a:r>
            <a:r>
              <a:rPr lang="en-US" sz="1100" dirty="0" err="1"/>
              <a:t>Eomes</a:t>
            </a:r>
            <a:r>
              <a:rPr lang="en-US" sz="1100" dirty="0"/>
              <a:t>, which is like T-bet’s but for the memory pathway which will produce it’s own molecules to enforce memory cell function. The T-bet/</a:t>
            </a:r>
            <a:r>
              <a:rPr lang="en-US" sz="1100" dirty="0" err="1"/>
              <a:t>Eomes</a:t>
            </a:r>
            <a:r>
              <a:rPr lang="en-US" sz="1100" dirty="0"/>
              <a:t> balance is key: high T-bet + low </a:t>
            </a:r>
            <a:r>
              <a:rPr lang="en-US" sz="1100" dirty="0" err="1"/>
              <a:t>Eomes</a:t>
            </a:r>
            <a:r>
              <a:rPr lang="en-US" sz="1100" dirty="0"/>
              <a:t> = short-lived effector; low T-bet + high </a:t>
            </a:r>
            <a:r>
              <a:rPr lang="en-US" sz="1100" dirty="0" err="1"/>
              <a:t>Eomes</a:t>
            </a:r>
            <a:r>
              <a:rPr lang="en-US" sz="1100" dirty="0"/>
              <a:t> = long-lived memory.</a:t>
            </a:r>
          </a:p>
          <a:p>
            <a:endParaRPr lang="en-US" sz="1100" dirty="0"/>
          </a:p>
          <a:p>
            <a:r>
              <a:rPr lang="en-US" sz="1100" b="0" dirty="0"/>
              <a:t>And finally is the exhaustion pathway which I went into depth of earlier. TOX creates </a:t>
            </a:r>
            <a:r>
              <a:rPr lang="en-US" sz="1100" dirty="0"/>
              <a:t>feed-forward loop where exhaustion reinforces itself.</a:t>
            </a:r>
            <a:endParaRPr lang="en-US" sz="1100" b="0" dirty="0"/>
          </a:p>
          <a:p>
            <a:endParaRPr lang="en-US" sz="1100" dirty="0"/>
          </a:p>
          <a:p>
            <a:endParaRPr lang="en-US" sz="1100" dirty="0"/>
          </a:p>
          <a:p>
            <a:r>
              <a:rPr lang="en-US" sz="1100" dirty="0"/>
              <a:t>"This three-column infographic maps the molecular pathway for each fate separately. Left column — effector: mTOR drives glycolysis, T-bet and IRF4 drive cytotoxic gene expression, Bcl-2 family balance shifts toward pro-apoptotic. Middle column — memory: FOXO1 remains nuclear, TCF-1 drives self-renewal genes, Eomes maintains cytotoxic potential, Bcl-2 is upregulated for survival. Right column — exhaustion: TOX drives chromatin remodelling at PD-1, TIM-3, LAG-3 loci, locking in the dysfunctional state. The cross-pathway inhibition arrows show that these programmes are mutually antagonistic — you can't be fully in two fates at once."</a:t>
            </a:r>
          </a:p>
          <a:p>
            <a:endParaRPr lang="en-US" dirty="0"/>
          </a:p>
          <a:p>
            <a:r>
              <a:rPr lang="en-US" sz="1200" b="1" dirty="0"/>
              <a:t>EXPLANATION FOR UNDERSTANDING</a:t>
            </a:r>
          </a:p>
          <a:p>
            <a:r>
              <a:rPr lang="en-US" sz="1100" dirty="0"/>
              <a:t>Epigenetic lock in exhaustion: TOX recruits HDAC complexes that create a stable chromatin state. This is why exhaustion is hard to reverse — the marks persist even after antigen removal or PD-1 blockade. It is not just a transcriptional switch; it is a permanent chromatin reorganisation.</a:t>
            </a:r>
          </a:p>
          <a:p>
            <a:r>
              <a:rPr lang="en-US" sz="1100" dirty="0"/>
              <a:t>IRF4 dose-response: at low levels IRF4 promotes memory; at high levels (high TCR signal) it drives terminal effector and eventually exhaustion programmes. This is a classic case of a transcription factor having dose-dependent, qualitatively different effects.</a:t>
            </a:r>
          </a:p>
          <a:p>
            <a:r>
              <a:rPr lang="en-US" sz="1100" dirty="0"/>
              <a:t>Metabolic-transcriptional coupling: mTOR promotes aerobic glycolysis (Warburg effect) suited to rapid effector expansion. Memory cells shift to oxidative phosphorylation (OXPHOS) and fatty acid oxidation — more efficient for long-term maintenance. Exhausted cells lose mitochondrial fitness entirely.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This slide </a:t>
            </a:r>
            <a:r>
              <a:rPr lang="en-US" sz="1100" dirty="0"/>
              <a:t>compares what happens WITH versus WITHOUT CD4 help. CD4 help is pretty important during CD8 priming. With CD4 help, dendritic cells become better licensed, meaning they produce cytokines that support CD8 expansion and memory formation. CD4 cells also provide IL-2, which helps CD8 cells proliferate and like basically survive. As a result you’ll have stronger clonal expansion, better memory development, and less exhaustion. Without CD4 help, you get what I think is called helpless priming. Here the dendritic cells aren’t activated too much, you have weaker CD8 responses, and the cells are more likely to become dysfunctional or exhausted. So CD4 cells are actively shaping the priming environment to determines the quality of CD8.</a:t>
            </a:r>
          </a:p>
          <a:p>
            <a:endParaRPr lang="en-US" dirty="0"/>
          </a:p>
          <a:p>
            <a:r>
              <a:rPr lang="en-US" sz="1200" b="1" dirty="0"/>
              <a:t>EXPLANATION FOR UNDERSTANDING</a:t>
            </a:r>
          </a:p>
          <a:p>
            <a:r>
              <a:rPr lang="en-US" sz="1100" dirty="0"/>
              <a:t>This explains why helpless priming is a major problem in cancer. Tumours achieve CD4 help deprivation by two mechanisms: (1) Foxp3+ Tregs dominate the CD4 compartment within the TME, suppressing conventional Th1 responses; (2) many tumours downregulate MHC class II, preventing CD4 priming against tumour antigens.</a:t>
            </a:r>
          </a:p>
          <a:p>
            <a:r>
              <a:rPr lang="en-US" sz="1100" dirty="0"/>
              <a:t>For exam: the three mechanisms of CD4 help are: DC licensing (CD40L→CD40 → B7↑, IL-12↑), IL-2 provision in trans (drives proliferation, Bcl-2↑, memory precursor formation), and prevention of PD-1/exhaustion by maintaining adequate co-stimulation.</a:t>
            </a:r>
          </a:p>
          <a:p>
            <a:r>
              <a:rPr lang="en-US" sz="1100" dirty="0"/>
              <a:t>Helpless CD8 T cells show normal primary responses but fail secondary responses — important distinction for vaccine design.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is one of the most counterintuitive and interesting findings in T cell biology. The bell curve on the left shows a typical distribution of TCR affinities responding to a given antigen. The memory zone — the blue area — is shifted LEFT of the peak response. We find that lower-affinity cells, not the highest-affinity one, are the ones that survive to form memory. </a:t>
            </a:r>
            <a:r>
              <a:rPr lang="en-US" sz="1100" dirty="0" err="1"/>
              <a:t>Whyis</a:t>
            </a:r>
            <a:r>
              <a:rPr lang="en-US" sz="1100" dirty="0"/>
              <a:t> this? There are two reasons: first, high-affinity cells upregulate Bim strongly during activation, making them susceptible to cell. Second, mTOR activation in high-affinity cells will phosphorylate FOXO1, removing its ability to express thing things it needs long-term survival. </a:t>
            </a:r>
          </a:p>
          <a:p>
            <a:endParaRPr lang="en-US" dirty="0"/>
          </a:p>
          <a:p>
            <a:r>
              <a:rPr lang="en-US" sz="1200" b="1" dirty="0"/>
              <a:t>EXPLANATION FOR UNDERSTANDING</a:t>
            </a:r>
          </a:p>
          <a:p>
            <a:r>
              <a:rPr lang="en-US" sz="1100" dirty="0"/>
              <a:t>The Zehn et al. 2009 paper (Nature) is the landmark reference — they used altered peptide ligands of known affinities and tracked which clones ended up in memory. Lower affinity = disproportionate memory contribution.</a:t>
            </a:r>
          </a:p>
          <a:p>
            <a:r>
              <a:rPr lang="en-US" sz="1100" dirty="0"/>
              <a:t>Four systems advantages of lower-affinity memory:</a:t>
            </a:r>
          </a:p>
          <a:p>
            <a:pPr marL="342900" indent="0"/>
            <a:r>
              <a:rPr lang="en-US" sz="1000" dirty="0"/>
              <a:t>1. Cross-reactivity: lower affinity TCRs bind a broader range of structurally similar peptides — critical for recognising mutated tumour neoantigens</a:t>
            </a:r>
          </a:p>
          <a:p>
            <a:pPr marL="342900" indent="0"/>
            <a:r>
              <a:rPr lang="en-US" sz="1000" dirty="0"/>
              <a:t>2. Repertoire breadth: diversity protects against single-epitope escape</a:t>
            </a:r>
          </a:p>
          <a:p>
            <a:pPr marL="342900" indent="0"/>
            <a:r>
              <a:rPr lang="en-US" sz="1000" dirty="0"/>
              <a:t>3. Avoidance of autoimmunity: highest affinity T cells are closest to self-reactivity thresholds</a:t>
            </a:r>
          </a:p>
          <a:p>
            <a:pPr marL="342900" indent="0"/>
            <a:r>
              <a:rPr lang="en-US" sz="1000" dirty="0"/>
              <a:t>4. Sustained recall: moderate re-stimulation drives durable responses; very high affinity risks rapid re-exhaustion</a:t>
            </a:r>
          </a:p>
          <a:p>
            <a:r>
              <a:rPr lang="en-US" sz="1100" dirty="0"/>
              <a:t>For the exam: the key mechanism is mTOR-mediated FOXO1 inactivation in high-affinity cells → loss of CD127/Bcl-2 → death during contraction.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100" dirty="0"/>
              <a:t>"This slide shows the </a:t>
            </a:r>
            <a:r>
              <a:rPr lang="en-US" sz="1100" dirty="0" err="1"/>
              <a:t>tumour</a:t>
            </a:r>
            <a:r>
              <a:rPr lang="en-US" sz="1100" dirty="0"/>
              <a:t> </a:t>
            </a:r>
            <a:r>
              <a:rPr lang="en-US" sz="1100" dirty="0" err="1"/>
              <a:t>enviornment</a:t>
            </a:r>
            <a:r>
              <a:rPr lang="en-US" sz="1100" dirty="0"/>
              <a:t> with an exhausted T cell on the right and a tumour cell on the left. Multiple inhibitory receptor-ligand pairs are shown. The big idea here is that tumors push CD8 T cells into some exhausted state by activating inhibitors like PD-1 and also um CTLA-4 I think was one. These block those signals so T cells can regain some of their ability to attack tumor cells. Anti-PD-1 mainly give strength exhausted T cells already in the tumor, while anti-CTLA-4 helps earlier during T-cell activation and can reduce suppression by regulatory T cells. Overall, therapy doesn’t create new T cells, </a:t>
            </a:r>
            <a:r>
              <a:rPr lang="en-US" sz="1100" dirty="0" err="1"/>
              <a:t>butit</a:t>
            </a:r>
            <a:r>
              <a:rPr lang="en-US" sz="1100" dirty="0"/>
              <a:t> mainly slows existing anti-tumor T cells so they can function again.</a:t>
            </a:r>
          </a:p>
          <a:p>
            <a:endParaRPr lang="en-US" dirty="0"/>
          </a:p>
          <a:p>
            <a:r>
              <a:rPr lang="en-US" sz="1200" b="1" dirty="0"/>
              <a:t>EXPLANATION FOR UNDERSTANDING</a:t>
            </a:r>
          </a:p>
          <a:p>
            <a:r>
              <a:rPr lang="en-US" sz="1100" dirty="0"/>
              <a:t>Adaptive immune resistance is a critical concept: tumour cells sense IFN-gamma (produced by functional T cells) and upregulate PD-L1 in response. This means the immune response to the tumour directly induces the tumour's ability to suppress that response — a self-defeating feedback loop.</a:t>
            </a:r>
          </a:p>
          <a:p>
            <a:r>
              <a:rPr lang="en-US" sz="1100" dirty="0"/>
              <a:t>Why does anti-PD-1 work in some patients but not others? The progenitor Tex pool. Patients with few TCF-1+ progenitor exhausted cells at baseline respond poorly — they only have terminal exhausted cells that don't proliferate after PD-1 blockade.</a:t>
            </a:r>
          </a:p>
          <a:p>
            <a:r>
              <a:rPr lang="en-US" sz="1100" dirty="0"/>
              <a:t>Drug names to know: pembrolizumab (anti-PD-1, Keytruda), nivolumab (anti-PD-1, Opdivo), atezolizumab (anti-PD-L1), ipilimumab (anti-CTLA-4, Yervoy), relatlimab (anti-LAG-3, combined with nivolumab = Opdualag).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Nearing the end of the presentation now </a:t>
            </a:r>
            <a:r>
              <a:rPr lang="en-US" sz="1100" b="1" dirty="0"/>
              <a:t>t</a:t>
            </a:r>
            <a:r>
              <a:rPr lang="en-US" sz="1100" dirty="0"/>
              <a:t>his slide maps out exhaustion. On the left you’ll have the four stages: Effector-like (early, partial function, still proliferative), Progenitor, Transitory, and Terminal. All exhausted T cells are the same. Early ones have the ability to grow and respond to treatment while later ones are much more dysfunctional and harder to rescue. Checkpoint therapies mainly work by targeting those earlier-stage exhausted cells and boosting their activity. So timing and the state of the T cells really matter for how well treatment works.</a:t>
            </a:r>
          </a:p>
          <a:p>
            <a:endParaRPr lang="en-US" sz="1100" dirty="0"/>
          </a:p>
          <a:p>
            <a:endParaRPr lang="en-US" dirty="0"/>
          </a:p>
          <a:p>
            <a:r>
              <a:rPr lang="en-US" sz="1200" b="1" dirty="0"/>
              <a:t>EXPLANATION FOR UNDERSTANDING</a:t>
            </a:r>
          </a:p>
          <a:p>
            <a:r>
              <a:rPr lang="en-US" sz="1100" dirty="0"/>
              <a:t>The stage of exhaustion matters for prognosis and therapy selection:</a:t>
            </a:r>
          </a:p>
          <a:p>
            <a:pPr marL="342900" indent="0"/>
            <a:r>
              <a:rPr lang="en-US" sz="1000" dirty="0"/>
              <a:t>- Progenitor Tex (TCF-1+): responds to anti-PD-1 → expands → transitory effector → tumour control</a:t>
            </a:r>
          </a:p>
          <a:p>
            <a:pPr marL="342900" indent="0"/>
            <a:r>
              <a:rPr lang="en-US" sz="1000" dirty="0"/>
              <a:t>- Terminal Tex (TIM-3+ TOXhi): does NOT respond to anti-PD-1; epigenetically locked</a:t>
            </a:r>
          </a:p>
          <a:p>
            <a:pPr marL="342900" indent="0"/>
            <a:r>
              <a:rPr lang="en-US" sz="1000" dirty="0"/>
              <a:t>- Therefore: measuring TCF-1 expression in tumour biopsies predicts anti-PD-1 response</a:t>
            </a:r>
          </a:p>
          <a:p>
            <a:endParaRPr lang="en-US" dirty="0"/>
          </a:p>
          <a:p>
            <a:r>
              <a:rPr lang="en-US" sz="1100" dirty="0"/>
              <a:t>Why combine anti-PD-1 + anti-CTLA-4? They have distinct mechanisms:</a:t>
            </a:r>
          </a:p>
          <a:p>
            <a:pPr marL="342900" indent="0"/>
            <a:r>
              <a:rPr lang="en-US" sz="1000" dirty="0"/>
              <a:t>- Anti-PD-1: removes brake in TME, primarily affects progenitor Tex</a:t>
            </a:r>
          </a:p>
          <a:p>
            <a:pPr marL="342900" indent="0"/>
            <a:r>
              <a:rPr lang="en-US" sz="1000" dirty="0"/>
              <a:t>- Anti-CTLA-4: amplifies priming in lymph node + depletes Tregs in TME → more CD4 help → better CD8 priming</a:t>
            </a:r>
          </a:p>
          <a:p>
            <a:r>
              <a:rPr lang="en-US" sz="1100" dirty="0"/>
              <a:t>Together they address different nodes of suppression — synergy rather than just addition.</a:t>
            </a:r>
          </a:p>
          <a:p>
            <a:endParaRPr lang="en-US" dirty="0"/>
          </a:p>
          <a:p>
            <a:r>
              <a:rPr lang="en-US" sz="1100" dirty="0"/>
              <a:t>LAG-3 approval context: Opdualag (relatlimab + nivolumab) approved FDA 2022 for unresectable melanoma. First new checkpoint combination in &gt;10 years.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I guess I can summarize the main points/questions answered by this presentation. First, the three fates – </a:t>
            </a:r>
            <a:r>
              <a:rPr lang="en-US" sz="1100" b="0" dirty="0"/>
              <a:t>Killer Effectors, Memory, Exhausted T Cells — are distinct epigenetic states, not just points on a spectrum. Second — Fate is determined by signal strength, stimulation, and cytokine context especially how I mentioned the trade off of T-bet vs. FOXO1 or TCF-1. Third — CD4 help is not optional: </a:t>
            </a:r>
            <a:r>
              <a:rPr lang="en-US" sz="1100" b="0" dirty="0" err="1"/>
              <a:t>dendredic</a:t>
            </a:r>
            <a:r>
              <a:rPr lang="en-US" sz="1100" b="0" dirty="0"/>
              <a:t> cell licensing, IL-2, and prevention of exhaustion are all CD4-dependent. Without it, CD8 responses are inferior and prone exhaustion. Finally, Memory clones are lower-affinity because high-affinity cells die by </a:t>
            </a:r>
            <a:r>
              <a:rPr lang="en-US" sz="1200" b="0" i="0" kern="1200" dirty="0">
                <a:solidFill>
                  <a:schemeClr val="tx1"/>
                </a:solidFill>
                <a:effectLst/>
                <a:latin typeface="+mn-lt"/>
                <a:ea typeface="+mn-ea"/>
                <a:cs typeface="+mn-cs"/>
              </a:rPr>
              <a:t>Activation-induced cell death.</a:t>
            </a:r>
            <a:r>
              <a:rPr lang="en-US" sz="1100" b="0" dirty="0"/>
              <a:t> For cancer: this means the memory pool that can surveil tumours and respond to checkpoint therapy is built from moderate-affinity clones."</a:t>
            </a:r>
          </a:p>
          <a:p>
            <a:endParaRPr lang="en-US" b="0" dirty="0"/>
          </a:p>
          <a:p>
            <a:r>
              <a:rPr lang="en-US" sz="1200" b="0" dirty="0"/>
              <a:t>EXPLANATION FOR UNDERSTANDING</a:t>
            </a:r>
          </a:p>
          <a:p>
            <a:r>
              <a:rPr lang="en-US" sz="1100" b="0" dirty="0"/>
              <a:t>The closing quote — 'The identity of a T cell is written not just in its genes, but in the history of its encounters with antigen' — captures the key principle: T cell fate is epigenetically imprinted by the signals it receives. Transcription factors write the immediate programme; chromatin remodelling makes it permanent.</a:t>
            </a:r>
          </a:p>
          <a:p>
            <a:endParaRPr lang="en-US" b="0" dirty="0"/>
          </a:p>
          <a:p>
            <a:r>
              <a:rPr lang="en-US" sz="1100" b="0" dirty="0"/>
              <a:t>Integration for the exam:</a:t>
            </a:r>
          </a:p>
          <a:p>
            <a:pPr marL="342900" indent="0"/>
            <a:r>
              <a:rPr lang="en-US" sz="1000" b="0" dirty="0"/>
              <a:t>- Know the transcription factors: T-bet (effector), FOXO1/TCF-1 (memory), TOX/NR4A (exhaustion)</a:t>
            </a:r>
          </a:p>
          <a:p>
            <a:pPr marL="342900" indent="0"/>
            <a:r>
              <a:rPr lang="en-US" sz="1000" b="0" dirty="0"/>
              <a:t>- Know the upstream signals: TCR → ZAP-70 → ERK/NFAT; CD28 → PI3K → Akt → mTOR; cytokines → JAK → STAT</a:t>
            </a:r>
          </a:p>
          <a:p>
            <a:pPr marL="342900" indent="0"/>
            <a:r>
              <a:rPr lang="en-US" sz="1000" b="0" dirty="0"/>
              <a:t>- Know the mTOR/FOXO1 seesaw: strong mTOR → FOXO1 phospho → cytoplasm → no memory programme</a:t>
            </a:r>
          </a:p>
          <a:p>
            <a:pPr marL="342900" indent="0"/>
            <a:r>
              <a:rPr lang="en-US" sz="1000" b="0" dirty="0"/>
              <a:t>- Know CD4 help mechanisms: CD40L→CD40 licensing + IL-2 in trans + B7 maintenance</a:t>
            </a:r>
          </a:p>
          <a:p>
            <a:pPr marL="342900" indent="0"/>
            <a:r>
              <a:rPr lang="en-US" sz="1000" b="0" dirty="0"/>
              <a:t>- Know why lower-affinity = memory: AICD avoidance (less Fas/Bim), FOXO1 preservation (less mTOR), cross-reactivity advantage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1565C0"/>
          </a:solidFill>
          <a:ln/>
        </p:spPr>
        <p:txBody>
          <a:bodyPr/>
          <a:lstStyle/>
          <a:p>
            <a:endParaRPr lang="en-US"/>
          </a:p>
        </p:txBody>
      </p:sp>
      <p:sp>
        <p:nvSpPr>
          <p:cNvPr id="3" name="Shape 1"/>
          <p:cNvSpPr/>
          <p:nvPr/>
        </p:nvSpPr>
        <p:spPr>
          <a:xfrm>
            <a:off x="0" y="5102352"/>
            <a:ext cx="9144000" cy="41148"/>
          </a:xfrm>
          <a:prstGeom prst="rect">
            <a:avLst/>
          </a:prstGeom>
          <a:solidFill>
            <a:srgbClr val="00897B"/>
          </a:solidFill>
          <a:ln/>
        </p:spPr>
        <p:txBody>
          <a:bodyPr/>
          <a:lstStyle/>
          <a:p>
            <a:endParaRPr lang="en-US"/>
          </a:p>
        </p:txBody>
      </p:sp>
      <p:sp>
        <p:nvSpPr>
          <p:cNvPr id="9" name="Text 7"/>
          <p:cNvSpPr/>
          <p:nvPr/>
        </p:nvSpPr>
        <p:spPr>
          <a:xfrm>
            <a:off x="347472" y="502920"/>
            <a:ext cx="5943600" cy="960120"/>
          </a:xfrm>
          <a:prstGeom prst="rect">
            <a:avLst/>
          </a:prstGeom>
          <a:noFill/>
          <a:ln/>
        </p:spPr>
        <p:txBody>
          <a:bodyPr wrap="square" lIns="0" tIns="0" rIns="0" bIns="0"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CD8 T Cell Fates</a:t>
            </a:r>
            <a:endParaRPr lang="en-US" sz="4400" dirty="0"/>
          </a:p>
        </p:txBody>
      </p:sp>
      <p:sp>
        <p:nvSpPr>
          <p:cNvPr id="10" name="Text 8"/>
          <p:cNvSpPr/>
          <p:nvPr/>
        </p:nvSpPr>
        <p:spPr>
          <a:xfrm>
            <a:off x="347472" y="1417320"/>
            <a:ext cx="5943600" cy="777240"/>
          </a:xfrm>
          <a:prstGeom prst="rect">
            <a:avLst/>
          </a:prstGeom>
          <a:noFill/>
          <a:ln/>
        </p:spPr>
        <p:txBody>
          <a:bodyPr wrap="square" lIns="0" tIns="0" rIns="0" bIns="0" rtlCol="0" anchor="ctr"/>
          <a:lstStyle/>
          <a:p>
            <a:pPr marL="0" indent="0">
              <a:buNone/>
            </a:pPr>
            <a:r>
              <a:rPr lang="en-US" sz="3000" dirty="0">
                <a:solidFill>
                  <a:srgbClr val="CFD8DC"/>
                </a:solidFill>
                <a:latin typeface="Calibri" pitchFamily="34" charset="0"/>
                <a:ea typeface="Calibri" pitchFamily="34" charset="-122"/>
                <a:cs typeface="Calibri" pitchFamily="34" charset="-120"/>
              </a:rPr>
              <a:t>&amp; Tumor Immunotherapy</a:t>
            </a:r>
            <a:endParaRPr lang="en-US" sz="3000" dirty="0"/>
          </a:p>
        </p:txBody>
      </p:sp>
      <p:sp>
        <p:nvSpPr>
          <p:cNvPr id="11" name="Shape 9"/>
          <p:cNvSpPr/>
          <p:nvPr/>
        </p:nvSpPr>
        <p:spPr>
          <a:xfrm>
            <a:off x="347472" y="2331720"/>
            <a:ext cx="5029200" cy="45720"/>
          </a:xfrm>
          <a:prstGeom prst="rect">
            <a:avLst/>
          </a:prstGeom>
          <a:solidFill>
            <a:srgbClr val="1565C0"/>
          </a:solidFill>
          <a:ln/>
        </p:spPr>
        <p:txBody>
          <a:bodyPr/>
          <a:lstStyle/>
          <a:p>
            <a:endParaRPr lang="en-US"/>
          </a:p>
        </p:txBody>
      </p:sp>
      <p:sp>
        <p:nvSpPr>
          <p:cNvPr id="12" name="Text 10"/>
          <p:cNvSpPr/>
          <p:nvPr/>
        </p:nvSpPr>
        <p:spPr>
          <a:xfrm>
            <a:off x="347472" y="2487168"/>
            <a:ext cx="5852160" cy="411480"/>
          </a:xfrm>
          <a:prstGeom prst="rect">
            <a:avLst/>
          </a:prstGeom>
          <a:noFill/>
          <a:ln/>
        </p:spPr>
        <p:txBody>
          <a:bodyPr wrap="square" lIns="0" tIns="0" rIns="0" bIns="0" rtlCol="0" anchor="ctr"/>
          <a:lstStyle/>
          <a:p>
            <a:pPr marL="0" indent="0">
              <a:buNone/>
            </a:pPr>
            <a:r>
              <a:rPr lang="en-US" sz="1400" i="1" dirty="0">
                <a:solidFill>
                  <a:srgbClr val="00897B"/>
                </a:solidFill>
                <a:latin typeface="Calibri" pitchFamily="34" charset="0"/>
                <a:ea typeface="Calibri" pitchFamily="34" charset="-122"/>
                <a:cs typeface="Calibri" pitchFamily="34" charset="-120"/>
              </a:rPr>
              <a:t>Effectors · Memory · Exhaustion · CD4 Help · Checkpoint Immunotherapy</a:t>
            </a:r>
            <a:endParaRPr lang="en-US" sz="1400" dirty="0"/>
          </a:p>
        </p:txBody>
      </p:sp>
      <p:sp>
        <p:nvSpPr>
          <p:cNvPr id="13" name="Shape 11"/>
          <p:cNvSpPr/>
          <p:nvPr/>
        </p:nvSpPr>
        <p:spPr>
          <a:xfrm>
            <a:off x="384048" y="3246120"/>
            <a:ext cx="1737360" cy="475488"/>
          </a:xfrm>
          <a:prstGeom prst="ellipse">
            <a:avLst/>
          </a:prstGeom>
          <a:solidFill>
            <a:srgbClr val="E65100"/>
          </a:solidFill>
          <a:ln/>
        </p:spPr>
        <p:txBody>
          <a:bodyPr/>
          <a:lstStyle/>
          <a:p>
            <a:endParaRPr lang="en-US"/>
          </a:p>
        </p:txBody>
      </p:sp>
      <p:sp>
        <p:nvSpPr>
          <p:cNvPr id="14" name="Text 12"/>
          <p:cNvSpPr/>
          <p:nvPr/>
        </p:nvSpPr>
        <p:spPr>
          <a:xfrm>
            <a:off x="384048" y="3246120"/>
            <a:ext cx="173736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Killer Effector</a:t>
            </a:r>
            <a:endParaRPr lang="en-US" sz="1200" dirty="0"/>
          </a:p>
        </p:txBody>
      </p:sp>
      <p:sp>
        <p:nvSpPr>
          <p:cNvPr id="15" name="Shape 13"/>
          <p:cNvSpPr/>
          <p:nvPr/>
        </p:nvSpPr>
        <p:spPr>
          <a:xfrm>
            <a:off x="2304288" y="3246120"/>
            <a:ext cx="1737360" cy="475488"/>
          </a:xfrm>
          <a:prstGeom prst="ellipse">
            <a:avLst/>
          </a:prstGeom>
          <a:solidFill>
            <a:srgbClr val="00897B"/>
          </a:solidFill>
          <a:ln/>
        </p:spPr>
        <p:txBody>
          <a:bodyPr/>
          <a:lstStyle/>
          <a:p>
            <a:endParaRPr lang="en-US"/>
          </a:p>
        </p:txBody>
      </p:sp>
      <p:sp>
        <p:nvSpPr>
          <p:cNvPr id="16" name="Text 14"/>
          <p:cNvSpPr/>
          <p:nvPr/>
        </p:nvSpPr>
        <p:spPr>
          <a:xfrm>
            <a:off x="2304288" y="3246120"/>
            <a:ext cx="173736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Memory Cell</a:t>
            </a:r>
            <a:endParaRPr lang="en-US" sz="1200" dirty="0"/>
          </a:p>
        </p:txBody>
      </p:sp>
      <p:sp>
        <p:nvSpPr>
          <p:cNvPr id="17" name="Shape 15"/>
          <p:cNvSpPr/>
          <p:nvPr/>
        </p:nvSpPr>
        <p:spPr>
          <a:xfrm>
            <a:off x="4224528" y="3246120"/>
            <a:ext cx="1737360" cy="475488"/>
          </a:xfrm>
          <a:prstGeom prst="ellipse">
            <a:avLst/>
          </a:prstGeom>
          <a:solidFill>
            <a:srgbClr val="C62828"/>
          </a:solidFill>
          <a:ln/>
        </p:spPr>
        <p:txBody>
          <a:bodyPr/>
          <a:lstStyle/>
          <a:p>
            <a:endParaRPr lang="en-US"/>
          </a:p>
        </p:txBody>
      </p:sp>
      <p:sp>
        <p:nvSpPr>
          <p:cNvPr id="18" name="Text 16"/>
          <p:cNvSpPr/>
          <p:nvPr/>
        </p:nvSpPr>
        <p:spPr>
          <a:xfrm>
            <a:off x="4224528" y="3246120"/>
            <a:ext cx="1737360" cy="47548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Exhausted Cell</a:t>
            </a:r>
            <a:endParaRPr lang="en-US" sz="1200" dirty="0"/>
          </a:p>
        </p:txBody>
      </p:sp>
      <p:sp>
        <p:nvSpPr>
          <p:cNvPr id="19" name="Text 17"/>
          <p:cNvSpPr/>
          <p:nvPr/>
        </p:nvSpPr>
        <p:spPr>
          <a:xfrm>
            <a:off x="347472" y="4617720"/>
            <a:ext cx="3657600" cy="32004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D"/>
        </a:solidFill>
        <a:effectLst/>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1B3A5C"/>
          </a:solidFill>
          <a:ln/>
        </p:spPr>
        <p:txBody>
          <a:bodyPr/>
          <a:lstStyle/>
          <a:p>
            <a:endParaRPr lang="en-US"/>
          </a:p>
        </p:txBody>
      </p:sp>
      <p:sp>
        <p:nvSpPr>
          <p:cNvPr id="3" name="Text 1"/>
          <p:cNvSpPr/>
          <p:nvPr/>
        </p:nvSpPr>
        <p:spPr>
          <a:xfrm>
            <a:off x="320040" y="0"/>
            <a:ext cx="8503920" cy="749808"/>
          </a:xfrm>
          <a:prstGeom prst="rect">
            <a:avLst/>
          </a:prstGeom>
          <a:noFill/>
          <a:ln/>
        </p:spPr>
        <p:txBody>
          <a:bodyPr wrap="square" lIns="0" tIns="0" rIns="0" bIns="0" rtlCol="0" anchor="ctr"/>
          <a:lstStyle/>
          <a:p>
            <a:pPr marL="0" indent="0">
              <a:buNone/>
            </a:pPr>
            <a:r>
              <a:rPr lang="en-US" sz="2100" b="1" dirty="0">
                <a:solidFill>
                  <a:srgbClr val="FFFFFF"/>
                </a:solidFill>
                <a:latin typeface="Calibri" pitchFamily="34" charset="0"/>
                <a:ea typeface="Calibri" pitchFamily="34" charset="-122"/>
                <a:cs typeface="Calibri" pitchFamily="34" charset="-120"/>
              </a:rPr>
              <a:t>Three CD8 T Cell Fates: Overview</a:t>
            </a:r>
            <a:endParaRPr lang="en-US" sz="2100" dirty="0"/>
          </a:p>
        </p:txBody>
      </p:sp>
      <p:sp>
        <p:nvSpPr>
          <p:cNvPr id="4" name="Shape 2"/>
          <p:cNvSpPr/>
          <p:nvPr/>
        </p:nvSpPr>
        <p:spPr>
          <a:xfrm>
            <a:off x="201168" y="841248"/>
            <a:ext cx="2798064" cy="411480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a:p>
        </p:txBody>
      </p:sp>
      <p:sp>
        <p:nvSpPr>
          <p:cNvPr id="5" name="Shape 3"/>
          <p:cNvSpPr/>
          <p:nvPr/>
        </p:nvSpPr>
        <p:spPr>
          <a:xfrm>
            <a:off x="201168" y="841248"/>
            <a:ext cx="2798064" cy="475488"/>
          </a:xfrm>
          <a:prstGeom prst="rect">
            <a:avLst/>
          </a:prstGeom>
          <a:solidFill>
            <a:srgbClr val="E65100"/>
          </a:solidFill>
          <a:ln/>
        </p:spPr>
        <p:txBody>
          <a:bodyPr/>
          <a:lstStyle/>
          <a:p>
            <a:endParaRPr lang="en-US"/>
          </a:p>
        </p:txBody>
      </p:sp>
      <p:sp>
        <p:nvSpPr>
          <p:cNvPr id="6" name="Text 4"/>
          <p:cNvSpPr/>
          <p:nvPr/>
        </p:nvSpPr>
        <p:spPr>
          <a:xfrm>
            <a:off x="201168" y="841248"/>
            <a:ext cx="2798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Killer Effector</a:t>
            </a:r>
            <a:endParaRPr lang="en-US" sz="1400" dirty="0"/>
          </a:p>
        </p:txBody>
      </p:sp>
      <p:sp>
        <p:nvSpPr>
          <p:cNvPr id="7" name="Text 5"/>
          <p:cNvSpPr/>
          <p:nvPr/>
        </p:nvSpPr>
        <p:spPr>
          <a:xfrm>
            <a:off x="292608" y="1389888"/>
            <a:ext cx="2615184" cy="3474720"/>
          </a:xfrm>
          <a:prstGeom prst="rect">
            <a:avLst/>
          </a:prstGeom>
          <a:noFill/>
          <a:ln/>
        </p:spPr>
        <p:txBody>
          <a:bodyPr wrap="square" rtlCol="0" anchor="t"/>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Immediate cytotoxic function — kills within hours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Deploys Granzyme B, Perforin, TRAIL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Secretes IFN-γ, TNF-α at high levels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Expresses T-bet hi / Eomes lo</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Short-lived: undergoes clonal contraction</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~90% die by day 7–10 post-infection</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Cannot self-renew; no homeostatic proliferation</a:t>
            </a:r>
            <a:endParaRPr lang="en-US" sz="1100" dirty="0"/>
          </a:p>
        </p:txBody>
      </p:sp>
      <p:sp>
        <p:nvSpPr>
          <p:cNvPr id="8" name="Shape 6"/>
          <p:cNvSpPr/>
          <p:nvPr/>
        </p:nvSpPr>
        <p:spPr>
          <a:xfrm>
            <a:off x="3182112" y="841248"/>
            <a:ext cx="2798064" cy="411480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dirty="0"/>
          </a:p>
        </p:txBody>
      </p:sp>
      <p:sp>
        <p:nvSpPr>
          <p:cNvPr id="9" name="Shape 7"/>
          <p:cNvSpPr/>
          <p:nvPr/>
        </p:nvSpPr>
        <p:spPr>
          <a:xfrm>
            <a:off x="3182112" y="841248"/>
            <a:ext cx="2798064" cy="475488"/>
          </a:xfrm>
          <a:prstGeom prst="rect">
            <a:avLst/>
          </a:prstGeom>
          <a:solidFill>
            <a:srgbClr val="00897B"/>
          </a:solidFill>
          <a:ln/>
        </p:spPr>
        <p:txBody>
          <a:bodyPr/>
          <a:lstStyle/>
          <a:p>
            <a:endParaRPr lang="en-US"/>
          </a:p>
        </p:txBody>
      </p:sp>
      <p:sp>
        <p:nvSpPr>
          <p:cNvPr id="10" name="Text 8"/>
          <p:cNvSpPr/>
          <p:nvPr/>
        </p:nvSpPr>
        <p:spPr>
          <a:xfrm>
            <a:off x="3182112" y="841248"/>
            <a:ext cx="2798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Memory Cell</a:t>
            </a:r>
            <a:endParaRPr lang="en-US" sz="1400" dirty="0"/>
          </a:p>
        </p:txBody>
      </p:sp>
      <p:sp>
        <p:nvSpPr>
          <p:cNvPr id="11" name="Text 9"/>
          <p:cNvSpPr/>
          <p:nvPr/>
        </p:nvSpPr>
        <p:spPr>
          <a:xfrm>
            <a:off x="3273552" y="1389888"/>
            <a:ext cx="2615184" cy="3474720"/>
          </a:xfrm>
          <a:prstGeom prst="rect">
            <a:avLst/>
          </a:prstGeom>
          <a:noFill/>
          <a:ln/>
        </p:spPr>
        <p:txBody>
          <a:bodyPr wrap="square" rtlCol="0" anchor="t"/>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Long-lived: persists for years/decades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Expresses IL-7Rα (CD127) for survival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High TCF-1 (Tcf7) for self-renewal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Eomes hi, Bcl-2 hi (anti-apoptotic)</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Central (Tcm: lymph nodes) &amp; Effector (Tem: tissue) subtypes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Rapid recall on re-challenge (24–48 hrs)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Maintained by homeostatic IL-7/IL-15 signaling</a:t>
            </a:r>
            <a:endParaRPr lang="en-US" sz="1100" dirty="0"/>
          </a:p>
        </p:txBody>
      </p:sp>
      <p:sp>
        <p:nvSpPr>
          <p:cNvPr id="12" name="Shape 10"/>
          <p:cNvSpPr/>
          <p:nvPr/>
        </p:nvSpPr>
        <p:spPr>
          <a:xfrm>
            <a:off x="6163056" y="841248"/>
            <a:ext cx="2798064" cy="411480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a:p>
        </p:txBody>
      </p:sp>
      <p:sp>
        <p:nvSpPr>
          <p:cNvPr id="13" name="Shape 11"/>
          <p:cNvSpPr/>
          <p:nvPr/>
        </p:nvSpPr>
        <p:spPr>
          <a:xfrm>
            <a:off x="6163056" y="841248"/>
            <a:ext cx="2798064" cy="475488"/>
          </a:xfrm>
          <a:prstGeom prst="rect">
            <a:avLst/>
          </a:prstGeom>
          <a:solidFill>
            <a:srgbClr val="C62828"/>
          </a:solidFill>
          <a:ln/>
        </p:spPr>
        <p:txBody>
          <a:bodyPr/>
          <a:lstStyle/>
          <a:p>
            <a:endParaRPr lang="en-US"/>
          </a:p>
        </p:txBody>
      </p:sp>
      <p:sp>
        <p:nvSpPr>
          <p:cNvPr id="14" name="Text 12"/>
          <p:cNvSpPr/>
          <p:nvPr/>
        </p:nvSpPr>
        <p:spPr>
          <a:xfrm>
            <a:off x="6163056" y="841248"/>
            <a:ext cx="27980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Exhausted Cell</a:t>
            </a:r>
            <a:endParaRPr lang="en-US" sz="1400" dirty="0"/>
          </a:p>
        </p:txBody>
      </p:sp>
      <p:sp>
        <p:nvSpPr>
          <p:cNvPr id="15" name="Text 13"/>
          <p:cNvSpPr/>
          <p:nvPr/>
        </p:nvSpPr>
        <p:spPr>
          <a:xfrm>
            <a:off x="6254496" y="1389888"/>
            <a:ext cx="2615184" cy="3474720"/>
          </a:xfrm>
          <a:prstGeom prst="rect">
            <a:avLst/>
          </a:prstGeom>
          <a:noFill/>
          <a:ln/>
        </p:spPr>
        <p:txBody>
          <a:bodyPr wrap="square" rtlCol="0" anchor="t"/>
          <a:lstStyle/>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Progressive loss of function over time</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Hierarchical loss: IL-2 first → TNF → IFN-γ → CTL</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Co-inhibitory receptors: PD-1, TIM-3, LAG-3, TIGIT</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TOX transcription factor drives epigenetic lock</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Progenitor (TCF-1+ PD-1lo) → Terminal (TIM-3+ TOXhi)</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Metabolic dysfunction: impaired OXPHOS &amp; glycolysis</a:t>
            </a:r>
            <a:endParaRPr lang="en-US" sz="1100" dirty="0"/>
          </a:p>
          <a:p>
            <a:pPr marL="342900" indent="-342900">
              <a:spcAft>
                <a:spcPts val="300"/>
              </a:spcAft>
              <a:buSzPct val="100000"/>
              <a:buChar char="•"/>
            </a:pPr>
            <a:r>
              <a:rPr lang="en-US" sz="1100" dirty="0">
                <a:solidFill>
                  <a:srgbClr val="1A2332"/>
                </a:solidFill>
                <a:latin typeface="Calibri" pitchFamily="34" charset="0"/>
                <a:ea typeface="Calibri" pitchFamily="34" charset="-122"/>
                <a:cs typeface="Calibri" pitchFamily="34" charset="-120"/>
              </a:rPr>
              <a:t>Partially reinvigorated by anti-PD-1 therapy</a:t>
            </a:r>
            <a:endParaRPr lang="en-US" sz="1100" dirty="0"/>
          </a:p>
        </p:txBody>
      </p:sp>
      <p:sp>
        <p:nvSpPr>
          <p:cNvPr id="16" name="Shape 14"/>
          <p:cNvSpPr/>
          <p:nvPr/>
        </p:nvSpPr>
        <p:spPr>
          <a:xfrm>
            <a:off x="201168" y="4864608"/>
            <a:ext cx="8759952" cy="219456"/>
          </a:xfrm>
          <a:prstGeom prst="rect">
            <a:avLst/>
          </a:prstGeom>
          <a:solidFill>
            <a:srgbClr val="1B3A5C">
              <a:alpha val="90000"/>
            </a:srgbClr>
          </a:solidFill>
          <a:ln/>
        </p:spPr>
        <p:txBody>
          <a:bodyPr/>
          <a:lstStyle/>
          <a:p>
            <a:endParaRPr lang="en-US"/>
          </a:p>
        </p:txBody>
      </p:sp>
      <p:sp>
        <p:nvSpPr>
          <p:cNvPr id="17" name="Text 15"/>
          <p:cNvSpPr/>
          <p:nvPr/>
        </p:nvSpPr>
        <p:spPr>
          <a:xfrm>
            <a:off x="292608" y="4864608"/>
            <a:ext cx="8503920" cy="219456"/>
          </a:xfrm>
          <a:prstGeom prst="rect">
            <a:avLst/>
          </a:prstGeom>
          <a:noFill/>
          <a:ln/>
        </p:spPr>
        <p:txBody>
          <a:bodyPr wrap="square" lIns="0" tIns="0" rIns="0" bIns="0" rtlCol="0" anchor="ctr"/>
          <a:lstStyle/>
          <a:p>
            <a:pPr marL="0" indent="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3A5C"/>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CD8 T Cell Fate Decision Tree</a:t>
            </a:r>
            <a:endParaRPr lang="en-US" sz="2200" dirty="0"/>
          </a:p>
        </p:txBody>
      </p:sp>
      <p:pic>
        <p:nvPicPr>
          <p:cNvPr id="4" name="Image 0" descr="preencoded.png"/>
          <p:cNvPicPr>
            <a:picLocks noChangeAspect="1"/>
          </p:cNvPicPr>
          <p:nvPr/>
        </p:nvPicPr>
        <p:blipFill>
          <a:blip r:embed="rId3"/>
          <a:srcRect b="4507"/>
          <a:stretch>
            <a:fillRect/>
          </a:stretch>
        </p:blipFill>
        <p:spPr>
          <a:xfrm>
            <a:off x="137160" y="713232"/>
            <a:ext cx="8869680" cy="41738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65C0"/>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Three Signals of T Cell Activation</a:t>
            </a:r>
            <a:endParaRPr lang="en-US" sz="2200" dirty="0"/>
          </a:p>
        </p:txBody>
      </p:sp>
      <p:pic>
        <p:nvPicPr>
          <p:cNvPr id="4" name="Image 0" descr="preencoded.png"/>
          <p:cNvPicPr>
            <a:picLocks noChangeAspect="1"/>
          </p:cNvPicPr>
          <p:nvPr/>
        </p:nvPicPr>
        <p:blipFill>
          <a:blip r:embed="rId3"/>
          <a:srcRect b="3816"/>
          <a:stretch>
            <a:fillRect/>
          </a:stretch>
        </p:blipFill>
        <p:spPr>
          <a:xfrm>
            <a:off x="91440" y="694944"/>
            <a:ext cx="8961120" cy="42919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565C0"/>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Conditions During Antigen Presentation That Bias Fate</a:t>
            </a:r>
            <a:endParaRPr lang="en-US" sz="1900" dirty="0"/>
          </a:p>
        </p:txBody>
      </p:sp>
      <p:sp>
        <p:nvSpPr>
          <p:cNvPr id="4" name="Shape 2"/>
          <p:cNvSpPr/>
          <p:nvPr/>
        </p:nvSpPr>
        <p:spPr>
          <a:xfrm>
            <a:off x="941832" y="777240"/>
            <a:ext cx="1234440" cy="1234440"/>
          </a:xfrm>
          <a:prstGeom prst="ellipse">
            <a:avLst/>
          </a:prstGeom>
          <a:solidFill>
            <a:srgbClr val="1565C0"/>
          </a:solidFill>
          <a:ln/>
        </p:spPr>
        <p:txBody>
          <a:bodyPr/>
          <a:lstStyle/>
          <a:p>
            <a:endParaRPr lang="en-US"/>
          </a:p>
        </p:txBody>
      </p:sp>
      <p:sp>
        <p:nvSpPr>
          <p:cNvPr id="5" name="Text 3"/>
          <p:cNvSpPr/>
          <p:nvPr/>
        </p:nvSpPr>
        <p:spPr>
          <a:xfrm>
            <a:off x="941832" y="777240"/>
            <a:ext cx="1234440" cy="123444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1</a:t>
            </a:r>
            <a:endParaRPr lang="en-US" sz="4000" dirty="0"/>
          </a:p>
        </p:txBody>
      </p:sp>
      <p:sp>
        <p:nvSpPr>
          <p:cNvPr id="6" name="Text 4"/>
          <p:cNvSpPr/>
          <p:nvPr/>
        </p:nvSpPr>
        <p:spPr>
          <a:xfrm>
            <a:off x="164592" y="2103120"/>
            <a:ext cx="2743200" cy="384048"/>
          </a:xfrm>
          <a:prstGeom prst="rect">
            <a:avLst/>
          </a:prstGeom>
          <a:noFill/>
          <a:ln/>
        </p:spPr>
        <p:txBody>
          <a:bodyPr wrap="square" lIns="0" tIns="0" rIns="0" bIns="0" rtlCol="0" anchor="ctr"/>
          <a:lstStyle/>
          <a:p>
            <a:pPr marL="0" indent="0" algn="ctr">
              <a:buNone/>
            </a:pPr>
            <a:r>
              <a:rPr lang="en-US" sz="1200" b="1" dirty="0">
                <a:solidFill>
                  <a:srgbClr val="1565C0"/>
                </a:solidFill>
                <a:latin typeface="Calibri" pitchFamily="34" charset="0"/>
                <a:ea typeface="Calibri" pitchFamily="34" charset="-122"/>
                <a:cs typeface="Calibri" pitchFamily="34" charset="-120"/>
              </a:rPr>
              <a:t>TCR Signal Strength</a:t>
            </a:r>
            <a:endParaRPr lang="en-US" sz="1200" dirty="0"/>
          </a:p>
        </p:txBody>
      </p:sp>
      <p:sp>
        <p:nvSpPr>
          <p:cNvPr id="7" name="Shape 5"/>
          <p:cNvSpPr/>
          <p:nvPr/>
        </p:nvSpPr>
        <p:spPr>
          <a:xfrm>
            <a:off x="164592" y="2542032"/>
            <a:ext cx="2798064" cy="233172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a:p>
        </p:txBody>
      </p:sp>
      <p:sp>
        <p:nvSpPr>
          <p:cNvPr id="8" name="Shape 6"/>
          <p:cNvSpPr/>
          <p:nvPr/>
        </p:nvSpPr>
        <p:spPr>
          <a:xfrm>
            <a:off x="164592" y="2542032"/>
            <a:ext cx="91440" cy="2331720"/>
          </a:xfrm>
          <a:prstGeom prst="rect">
            <a:avLst/>
          </a:prstGeom>
          <a:solidFill>
            <a:srgbClr val="1565C0"/>
          </a:solidFill>
          <a:ln/>
        </p:spPr>
        <p:txBody>
          <a:bodyPr/>
          <a:lstStyle/>
          <a:p>
            <a:endParaRPr lang="en-US"/>
          </a:p>
        </p:txBody>
      </p:sp>
      <p:sp>
        <p:nvSpPr>
          <p:cNvPr id="9" name="Text 7"/>
          <p:cNvSpPr/>
          <p:nvPr/>
        </p:nvSpPr>
        <p:spPr>
          <a:xfrm>
            <a:off x="347472" y="2615184"/>
            <a:ext cx="2542032" cy="2194560"/>
          </a:xfrm>
          <a:prstGeom prst="rect">
            <a:avLst/>
          </a:prstGeom>
          <a:noFill/>
          <a:ln/>
        </p:spPr>
        <p:txBody>
          <a:bodyPr wrap="square" rtlCol="0" anchor="t"/>
          <a:lstStyle/>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Low affinity → memory bias (FOXO1 active, TCF-1 preserved)</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High affinity → effector bias (mTOR active, T-bet↑)</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Chronic/persistent → exhaustion (TOX induction, PD-1↑)</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Signal strength measured by pMHC dwell time &amp; CD8 co-receptor engagement</a:t>
            </a:r>
            <a:endParaRPr lang="en-US" sz="1100" dirty="0"/>
          </a:p>
        </p:txBody>
      </p:sp>
      <p:sp>
        <p:nvSpPr>
          <p:cNvPr id="10" name="Shape 8"/>
          <p:cNvSpPr/>
          <p:nvPr/>
        </p:nvSpPr>
        <p:spPr>
          <a:xfrm>
            <a:off x="3931920" y="777240"/>
            <a:ext cx="1234440" cy="1234440"/>
          </a:xfrm>
          <a:prstGeom prst="ellipse">
            <a:avLst/>
          </a:prstGeom>
          <a:solidFill>
            <a:srgbClr val="00897B"/>
          </a:solidFill>
          <a:ln/>
        </p:spPr>
        <p:txBody>
          <a:bodyPr/>
          <a:lstStyle/>
          <a:p>
            <a:endParaRPr lang="en-US"/>
          </a:p>
        </p:txBody>
      </p:sp>
      <p:sp>
        <p:nvSpPr>
          <p:cNvPr id="11" name="Text 9"/>
          <p:cNvSpPr/>
          <p:nvPr/>
        </p:nvSpPr>
        <p:spPr>
          <a:xfrm>
            <a:off x="3931920" y="777240"/>
            <a:ext cx="1234440" cy="123444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2</a:t>
            </a:r>
            <a:endParaRPr lang="en-US" sz="4000" dirty="0"/>
          </a:p>
        </p:txBody>
      </p:sp>
      <p:sp>
        <p:nvSpPr>
          <p:cNvPr id="12" name="Text 10"/>
          <p:cNvSpPr/>
          <p:nvPr/>
        </p:nvSpPr>
        <p:spPr>
          <a:xfrm>
            <a:off x="3154680" y="2103120"/>
            <a:ext cx="2743200" cy="384048"/>
          </a:xfrm>
          <a:prstGeom prst="rect">
            <a:avLst/>
          </a:prstGeom>
          <a:noFill/>
          <a:ln/>
        </p:spPr>
        <p:txBody>
          <a:bodyPr wrap="square" lIns="0" tIns="0" rIns="0" bIns="0" rtlCol="0" anchor="ctr"/>
          <a:lstStyle/>
          <a:p>
            <a:pPr marL="0" indent="0" algn="ctr">
              <a:buNone/>
            </a:pPr>
            <a:r>
              <a:rPr lang="en-US" sz="1200" b="1" dirty="0">
                <a:solidFill>
                  <a:srgbClr val="00897B"/>
                </a:solidFill>
                <a:latin typeface="Calibri" pitchFamily="34" charset="0"/>
                <a:ea typeface="Calibri" pitchFamily="34" charset="-122"/>
                <a:cs typeface="Calibri" pitchFamily="34" charset="-120"/>
              </a:rPr>
              <a:t>Co-stimulation (Signal 2)</a:t>
            </a:r>
            <a:endParaRPr lang="en-US" sz="1200" dirty="0"/>
          </a:p>
        </p:txBody>
      </p:sp>
      <p:sp>
        <p:nvSpPr>
          <p:cNvPr id="13" name="Shape 11"/>
          <p:cNvSpPr/>
          <p:nvPr/>
        </p:nvSpPr>
        <p:spPr>
          <a:xfrm>
            <a:off x="3154680" y="2542032"/>
            <a:ext cx="2798064" cy="233172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a:p>
        </p:txBody>
      </p:sp>
      <p:sp>
        <p:nvSpPr>
          <p:cNvPr id="14" name="Shape 12"/>
          <p:cNvSpPr/>
          <p:nvPr/>
        </p:nvSpPr>
        <p:spPr>
          <a:xfrm>
            <a:off x="3154680" y="2542032"/>
            <a:ext cx="91440" cy="2331720"/>
          </a:xfrm>
          <a:prstGeom prst="rect">
            <a:avLst/>
          </a:prstGeom>
          <a:solidFill>
            <a:srgbClr val="00897B"/>
          </a:solidFill>
          <a:ln/>
        </p:spPr>
        <p:txBody>
          <a:bodyPr/>
          <a:lstStyle/>
          <a:p>
            <a:endParaRPr lang="en-US"/>
          </a:p>
        </p:txBody>
      </p:sp>
      <p:sp>
        <p:nvSpPr>
          <p:cNvPr id="15" name="Text 13"/>
          <p:cNvSpPr/>
          <p:nvPr/>
        </p:nvSpPr>
        <p:spPr>
          <a:xfrm>
            <a:off x="3337560" y="2615184"/>
            <a:ext cx="2542032" cy="2194560"/>
          </a:xfrm>
          <a:prstGeom prst="rect">
            <a:avLst/>
          </a:prstGeom>
          <a:noFill/>
          <a:ln/>
        </p:spPr>
        <p:txBody>
          <a:bodyPr wrap="square" rtlCol="0" anchor="t"/>
          <a:lstStyle/>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CD28:B7 engagement activates PI3K → Akt → mTOR</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Strong CD28 → promotes both effector AND memory</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Weak/absent co-stim → anergy (NFAT without AP-1)</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CTLA-4 competes with CD28 for B7 binding (inhibitory)</a:t>
            </a:r>
            <a:endParaRPr lang="en-US" sz="1100" dirty="0"/>
          </a:p>
        </p:txBody>
      </p:sp>
      <p:sp>
        <p:nvSpPr>
          <p:cNvPr id="16" name="Shape 14"/>
          <p:cNvSpPr/>
          <p:nvPr/>
        </p:nvSpPr>
        <p:spPr>
          <a:xfrm>
            <a:off x="6922008" y="777240"/>
            <a:ext cx="1234440" cy="1234440"/>
          </a:xfrm>
          <a:prstGeom prst="ellipse">
            <a:avLst/>
          </a:prstGeom>
          <a:solidFill>
            <a:srgbClr val="E65100"/>
          </a:solidFill>
          <a:ln/>
        </p:spPr>
        <p:txBody>
          <a:bodyPr/>
          <a:lstStyle/>
          <a:p>
            <a:endParaRPr lang="en-US"/>
          </a:p>
        </p:txBody>
      </p:sp>
      <p:sp>
        <p:nvSpPr>
          <p:cNvPr id="17" name="Text 15"/>
          <p:cNvSpPr/>
          <p:nvPr/>
        </p:nvSpPr>
        <p:spPr>
          <a:xfrm>
            <a:off x="6922008" y="777240"/>
            <a:ext cx="1234440" cy="123444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3</a:t>
            </a:r>
            <a:endParaRPr lang="en-US" sz="4000" dirty="0"/>
          </a:p>
        </p:txBody>
      </p:sp>
      <p:sp>
        <p:nvSpPr>
          <p:cNvPr id="18" name="Text 16"/>
          <p:cNvSpPr/>
          <p:nvPr/>
        </p:nvSpPr>
        <p:spPr>
          <a:xfrm>
            <a:off x="6144768" y="2103120"/>
            <a:ext cx="2743200" cy="384048"/>
          </a:xfrm>
          <a:prstGeom prst="rect">
            <a:avLst/>
          </a:prstGeom>
          <a:noFill/>
          <a:ln/>
        </p:spPr>
        <p:txBody>
          <a:bodyPr wrap="square" lIns="0" tIns="0" rIns="0" bIns="0" rtlCol="0" anchor="ctr"/>
          <a:lstStyle/>
          <a:p>
            <a:pPr marL="0" indent="0" algn="ctr">
              <a:buNone/>
            </a:pPr>
            <a:r>
              <a:rPr lang="en-US" sz="1200" b="1" dirty="0">
                <a:solidFill>
                  <a:srgbClr val="E65100"/>
                </a:solidFill>
                <a:latin typeface="Calibri" pitchFamily="34" charset="0"/>
                <a:ea typeface="Calibri" pitchFamily="34" charset="-122"/>
                <a:cs typeface="Calibri" pitchFamily="34" charset="-120"/>
              </a:rPr>
              <a:t>Cytokine Milieu (Signal 3)</a:t>
            </a:r>
            <a:endParaRPr lang="en-US" sz="1200" dirty="0"/>
          </a:p>
        </p:txBody>
      </p:sp>
      <p:sp>
        <p:nvSpPr>
          <p:cNvPr id="19" name="Shape 17"/>
          <p:cNvSpPr/>
          <p:nvPr/>
        </p:nvSpPr>
        <p:spPr>
          <a:xfrm>
            <a:off x="6144768" y="2542032"/>
            <a:ext cx="2798064" cy="2331720"/>
          </a:xfrm>
          <a:prstGeom prst="rect">
            <a:avLst/>
          </a:prstGeom>
          <a:solidFill>
            <a:srgbClr val="FFFFFF"/>
          </a:solidFill>
          <a:ln/>
          <a:effectLst>
            <a:outerShdw blurRad="101600" dist="25400" dir="8100000" algn="bl" rotWithShape="0">
              <a:srgbClr val="000000">
                <a:alpha val="13000"/>
              </a:srgbClr>
            </a:outerShdw>
          </a:effectLst>
        </p:spPr>
        <p:txBody>
          <a:bodyPr/>
          <a:lstStyle/>
          <a:p>
            <a:endParaRPr lang="en-US"/>
          </a:p>
        </p:txBody>
      </p:sp>
      <p:sp>
        <p:nvSpPr>
          <p:cNvPr id="20" name="Shape 18"/>
          <p:cNvSpPr/>
          <p:nvPr/>
        </p:nvSpPr>
        <p:spPr>
          <a:xfrm>
            <a:off x="6144768" y="2542032"/>
            <a:ext cx="91440" cy="2331720"/>
          </a:xfrm>
          <a:prstGeom prst="rect">
            <a:avLst/>
          </a:prstGeom>
          <a:solidFill>
            <a:srgbClr val="E65100"/>
          </a:solidFill>
          <a:ln/>
        </p:spPr>
        <p:txBody>
          <a:bodyPr/>
          <a:lstStyle/>
          <a:p>
            <a:endParaRPr lang="en-US"/>
          </a:p>
        </p:txBody>
      </p:sp>
      <p:sp>
        <p:nvSpPr>
          <p:cNvPr id="21" name="Text 19"/>
          <p:cNvSpPr/>
          <p:nvPr/>
        </p:nvSpPr>
        <p:spPr>
          <a:xfrm>
            <a:off x="6327648" y="2615184"/>
            <a:ext cx="2542032" cy="2194560"/>
          </a:xfrm>
          <a:prstGeom prst="rect">
            <a:avLst/>
          </a:prstGeom>
          <a:noFill/>
          <a:ln/>
        </p:spPr>
        <p:txBody>
          <a:bodyPr wrap="square" rtlCol="0" anchor="t"/>
          <a:lstStyle/>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IL-12 + IFN-α: strong T-bet induction → effector fate</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IL-2: survival signal; promotes effector + early memory</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IL-7/IL-15: homeostatic memory maintenance</a:t>
            </a:r>
            <a:endParaRPr lang="en-US" sz="1100" dirty="0"/>
          </a:p>
          <a:p>
            <a:pPr marL="342900" indent="-342900">
              <a:spcAft>
                <a:spcPts val="500"/>
              </a:spcAft>
              <a:buSzPct val="100000"/>
              <a:buChar char="•"/>
            </a:pPr>
            <a:r>
              <a:rPr lang="en-US" sz="1100" dirty="0">
                <a:solidFill>
                  <a:srgbClr val="1A2332"/>
                </a:solidFill>
                <a:latin typeface="Calibri" pitchFamily="34" charset="0"/>
                <a:ea typeface="Calibri" pitchFamily="34" charset="-122"/>
                <a:cs typeface="Calibri" pitchFamily="34" charset="-120"/>
              </a:rPr>
              <a:t>TGF-β + IL-10: exhaustion-promoting; SMAD signaling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6A1B9A"/>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Molecular Pathways: T-bet, FOXO1, TCF-1, TOX</a:t>
            </a:r>
            <a:endParaRPr lang="en-US" sz="2000" dirty="0"/>
          </a:p>
        </p:txBody>
      </p:sp>
      <p:pic>
        <p:nvPicPr>
          <p:cNvPr id="4" name="Image 0" descr="preencoded.png"/>
          <p:cNvPicPr>
            <a:picLocks noChangeAspect="1"/>
          </p:cNvPicPr>
          <p:nvPr/>
        </p:nvPicPr>
        <p:blipFill>
          <a:blip r:embed="rId3"/>
          <a:stretch>
            <a:fillRect/>
          </a:stretch>
        </p:blipFill>
        <p:spPr>
          <a:xfrm>
            <a:off x="45720" y="694944"/>
            <a:ext cx="9052560" cy="44439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9A825"/>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100" b="1" dirty="0">
                <a:solidFill>
                  <a:srgbClr val="0D1B2A"/>
                </a:solidFill>
                <a:latin typeface="Calibri" pitchFamily="34" charset="0"/>
                <a:ea typeface="Calibri" pitchFamily="34" charset="-122"/>
                <a:cs typeface="Calibri" pitchFamily="34" charset="-120"/>
              </a:rPr>
              <a:t>Role of CD4 T Cell Help in CD8 Priming</a:t>
            </a:r>
            <a:endParaRPr lang="en-US" sz="2100" dirty="0"/>
          </a:p>
        </p:txBody>
      </p:sp>
      <p:pic>
        <p:nvPicPr>
          <p:cNvPr id="4" name="Image 0" descr="preencoded.png"/>
          <p:cNvPicPr>
            <a:picLocks noChangeAspect="1"/>
          </p:cNvPicPr>
          <p:nvPr/>
        </p:nvPicPr>
        <p:blipFill>
          <a:blip r:embed="rId3"/>
          <a:stretch>
            <a:fillRect/>
          </a:stretch>
        </p:blipFill>
        <p:spPr>
          <a:xfrm>
            <a:off x="91440" y="713232"/>
            <a:ext cx="8961120" cy="44074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0897B"/>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TCR Repertoire, Affinity, and Memory Cell Selection</a:t>
            </a:r>
            <a:endParaRPr lang="en-US" sz="2000" dirty="0"/>
          </a:p>
        </p:txBody>
      </p:sp>
      <p:pic>
        <p:nvPicPr>
          <p:cNvPr id="4" name="Image 0" descr="preencoded.png"/>
          <p:cNvPicPr>
            <a:picLocks noChangeAspect="1"/>
          </p:cNvPicPr>
          <p:nvPr/>
        </p:nvPicPr>
        <p:blipFill>
          <a:blip r:embed="rId3"/>
          <a:stretch>
            <a:fillRect/>
          </a:stretch>
        </p:blipFill>
        <p:spPr>
          <a:xfrm>
            <a:off x="91440" y="713232"/>
            <a:ext cx="8961120" cy="44074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62828"/>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Tumor Immunotherapy — Checkpoint Inhibitor Mechanisms</a:t>
            </a:r>
            <a:endParaRPr lang="en-US" sz="2000" dirty="0"/>
          </a:p>
        </p:txBody>
      </p:sp>
      <p:pic>
        <p:nvPicPr>
          <p:cNvPr id="4" name="Image 0" descr="preencoded.png"/>
          <p:cNvPicPr>
            <a:picLocks noChangeAspect="1"/>
          </p:cNvPicPr>
          <p:nvPr/>
        </p:nvPicPr>
        <p:blipFill>
          <a:blip r:embed="rId3"/>
          <a:stretch>
            <a:fillRect/>
          </a:stretch>
        </p:blipFill>
        <p:spPr>
          <a:xfrm>
            <a:off x="45720" y="694944"/>
            <a:ext cx="9052560" cy="44439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A0505"/>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C62828"/>
          </a:solidFill>
          <a:ln/>
        </p:spPr>
        <p:txBody>
          <a:bodyPr/>
          <a:lstStyle/>
          <a:p>
            <a:endParaRPr lang="en-US"/>
          </a:p>
        </p:txBody>
      </p:sp>
      <p:sp>
        <p:nvSpPr>
          <p:cNvPr id="3" name="Text 1"/>
          <p:cNvSpPr/>
          <p:nvPr/>
        </p:nvSpPr>
        <p:spPr>
          <a:xfrm>
            <a:off x="320040" y="0"/>
            <a:ext cx="8503920" cy="658368"/>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 Cell Exhaustion — Drivers, Stages, and Therapeutic Targets</a:t>
            </a:r>
            <a:endParaRPr lang="en-US" sz="1900" dirty="0"/>
          </a:p>
        </p:txBody>
      </p:sp>
      <p:sp>
        <p:nvSpPr>
          <p:cNvPr id="4" name="Text 2"/>
          <p:cNvSpPr/>
          <p:nvPr/>
        </p:nvSpPr>
        <p:spPr>
          <a:xfrm>
            <a:off x="182880" y="777240"/>
            <a:ext cx="4114800" cy="329184"/>
          </a:xfrm>
          <a:prstGeom prst="rect">
            <a:avLst/>
          </a:prstGeom>
          <a:noFill/>
          <a:ln/>
        </p:spPr>
        <p:txBody>
          <a:bodyPr wrap="square" lIns="0" tIns="0" rIns="0" bIns="0" rtlCol="0" anchor="ctr"/>
          <a:lstStyle/>
          <a:p>
            <a:pPr marL="0" indent="0">
              <a:buNone/>
            </a:pPr>
            <a:r>
              <a:rPr lang="en-US" sz="1300" b="1" kern="0" spc="200" dirty="0">
                <a:solidFill>
                  <a:srgbClr val="EF9A9A"/>
                </a:solidFill>
                <a:latin typeface="Calibri" pitchFamily="34" charset="0"/>
                <a:ea typeface="Calibri" pitchFamily="34" charset="-122"/>
                <a:cs typeface="Calibri" pitchFamily="34" charset="-120"/>
              </a:rPr>
              <a:t>STAGES OF EXHAUSTION</a:t>
            </a:r>
            <a:endParaRPr lang="en-US" sz="1300" dirty="0"/>
          </a:p>
        </p:txBody>
      </p:sp>
      <p:sp>
        <p:nvSpPr>
          <p:cNvPr id="5" name="Shape 3"/>
          <p:cNvSpPr/>
          <p:nvPr/>
        </p:nvSpPr>
        <p:spPr>
          <a:xfrm>
            <a:off x="182880" y="1188720"/>
            <a:ext cx="4160520" cy="777240"/>
          </a:xfrm>
          <a:prstGeom prst="rect">
            <a:avLst/>
          </a:prstGeom>
          <a:solidFill>
            <a:srgbClr val="E65100">
              <a:alpha val="82000"/>
            </a:srgbClr>
          </a:solidFill>
          <a:ln w="19050">
            <a:solidFill>
              <a:srgbClr val="E65100"/>
            </a:solidFill>
            <a:prstDash val="solid"/>
          </a:ln>
        </p:spPr>
        <p:txBody>
          <a:bodyPr/>
          <a:lstStyle/>
          <a:p>
            <a:endParaRPr lang="en-US"/>
          </a:p>
        </p:txBody>
      </p:sp>
      <p:sp>
        <p:nvSpPr>
          <p:cNvPr id="6" name="Shape 4"/>
          <p:cNvSpPr/>
          <p:nvPr/>
        </p:nvSpPr>
        <p:spPr>
          <a:xfrm>
            <a:off x="182880" y="1188720"/>
            <a:ext cx="109728" cy="777240"/>
          </a:xfrm>
          <a:prstGeom prst="rect">
            <a:avLst/>
          </a:prstGeom>
          <a:solidFill>
            <a:srgbClr val="E65100"/>
          </a:solidFill>
          <a:ln/>
        </p:spPr>
        <p:txBody>
          <a:bodyPr/>
          <a:lstStyle/>
          <a:p>
            <a:endParaRPr lang="en-US"/>
          </a:p>
        </p:txBody>
      </p:sp>
      <p:sp>
        <p:nvSpPr>
          <p:cNvPr id="7" name="Text 5"/>
          <p:cNvSpPr/>
          <p:nvPr/>
        </p:nvSpPr>
        <p:spPr>
          <a:xfrm>
            <a:off x="384048" y="1234440"/>
            <a:ext cx="1371600"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Effector-like</a:t>
            </a:r>
            <a:endParaRPr lang="en-US" sz="1150" dirty="0"/>
          </a:p>
        </p:txBody>
      </p:sp>
      <p:sp>
        <p:nvSpPr>
          <p:cNvPr id="8" name="Text 6"/>
          <p:cNvSpPr/>
          <p:nvPr/>
        </p:nvSpPr>
        <p:spPr>
          <a:xfrm>
            <a:off x="1828800" y="1234440"/>
            <a:ext cx="2423160" cy="68580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Early, partial function</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PD-1lo, TCF-1+, proliferative</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still responds to stimulation</a:t>
            </a:r>
            <a:endParaRPr lang="en-US" sz="1000" dirty="0"/>
          </a:p>
        </p:txBody>
      </p:sp>
      <p:sp>
        <p:nvSpPr>
          <p:cNvPr id="9" name="Shape 7"/>
          <p:cNvSpPr/>
          <p:nvPr/>
        </p:nvSpPr>
        <p:spPr>
          <a:xfrm>
            <a:off x="1463040" y="1965960"/>
            <a:ext cx="91440" cy="109728"/>
          </a:xfrm>
          <a:prstGeom prst="rect">
            <a:avLst/>
          </a:prstGeom>
          <a:solidFill>
            <a:srgbClr val="78909C"/>
          </a:solidFill>
          <a:ln/>
        </p:spPr>
        <p:txBody>
          <a:bodyPr/>
          <a:lstStyle/>
          <a:p>
            <a:endParaRPr lang="en-US"/>
          </a:p>
        </p:txBody>
      </p:sp>
      <p:sp>
        <p:nvSpPr>
          <p:cNvPr id="10" name="Shape 8"/>
          <p:cNvSpPr/>
          <p:nvPr/>
        </p:nvSpPr>
        <p:spPr>
          <a:xfrm>
            <a:off x="182880" y="2148840"/>
            <a:ext cx="4160520" cy="777240"/>
          </a:xfrm>
          <a:prstGeom prst="rect">
            <a:avLst/>
          </a:prstGeom>
          <a:solidFill>
            <a:srgbClr val="F9A825">
              <a:alpha val="82000"/>
            </a:srgbClr>
          </a:solidFill>
          <a:ln w="19050">
            <a:solidFill>
              <a:srgbClr val="F9A825"/>
            </a:solidFill>
            <a:prstDash val="solid"/>
          </a:ln>
        </p:spPr>
        <p:txBody>
          <a:bodyPr/>
          <a:lstStyle/>
          <a:p>
            <a:endParaRPr lang="en-US"/>
          </a:p>
        </p:txBody>
      </p:sp>
      <p:sp>
        <p:nvSpPr>
          <p:cNvPr id="11" name="Shape 9"/>
          <p:cNvSpPr/>
          <p:nvPr/>
        </p:nvSpPr>
        <p:spPr>
          <a:xfrm>
            <a:off x="182880" y="2148840"/>
            <a:ext cx="109728" cy="777240"/>
          </a:xfrm>
          <a:prstGeom prst="rect">
            <a:avLst/>
          </a:prstGeom>
          <a:solidFill>
            <a:srgbClr val="F9A825"/>
          </a:solidFill>
          <a:ln/>
        </p:spPr>
        <p:txBody>
          <a:bodyPr/>
          <a:lstStyle/>
          <a:p>
            <a:endParaRPr lang="en-US"/>
          </a:p>
        </p:txBody>
      </p:sp>
      <p:sp>
        <p:nvSpPr>
          <p:cNvPr id="12" name="Text 10"/>
          <p:cNvSpPr/>
          <p:nvPr/>
        </p:nvSpPr>
        <p:spPr>
          <a:xfrm>
            <a:off x="384048" y="2194560"/>
            <a:ext cx="1371600"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Progenitor</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Exhausted</a:t>
            </a:r>
            <a:endParaRPr lang="en-US" sz="1150" dirty="0"/>
          </a:p>
        </p:txBody>
      </p:sp>
      <p:sp>
        <p:nvSpPr>
          <p:cNvPr id="13" name="Text 11"/>
          <p:cNvSpPr/>
          <p:nvPr/>
        </p:nvSpPr>
        <p:spPr>
          <a:xfrm>
            <a:off x="1828800" y="2194560"/>
            <a:ext cx="2423160" cy="68580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TCF-1+, PD-1int, TOXlo</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Self-renewing subset</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Responds to anti-PD-1 therapy</a:t>
            </a:r>
            <a:endParaRPr lang="en-US" sz="1000" dirty="0"/>
          </a:p>
        </p:txBody>
      </p:sp>
      <p:sp>
        <p:nvSpPr>
          <p:cNvPr id="14" name="Shape 12"/>
          <p:cNvSpPr/>
          <p:nvPr/>
        </p:nvSpPr>
        <p:spPr>
          <a:xfrm>
            <a:off x="1463040" y="2926080"/>
            <a:ext cx="91440" cy="109728"/>
          </a:xfrm>
          <a:prstGeom prst="rect">
            <a:avLst/>
          </a:prstGeom>
          <a:solidFill>
            <a:srgbClr val="78909C"/>
          </a:solidFill>
          <a:ln/>
        </p:spPr>
        <p:txBody>
          <a:bodyPr/>
          <a:lstStyle/>
          <a:p>
            <a:endParaRPr lang="en-US"/>
          </a:p>
        </p:txBody>
      </p:sp>
      <p:sp>
        <p:nvSpPr>
          <p:cNvPr id="15" name="Shape 13"/>
          <p:cNvSpPr/>
          <p:nvPr/>
        </p:nvSpPr>
        <p:spPr>
          <a:xfrm>
            <a:off x="182880" y="3108960"/>
            <a:ext cx="4160520" cy="777240"/>
          </a:xfrm>
          <a:prstGeom prst="rect">
            <a:avLst/>
          </a:prstGeom>
          <a:solidFill>
            <a:srgbClr val="6A1B9A">
              <a:alpha val="82000"/>
            </a:srgbClr>
          </a:solidFill>
          <a:ln w="19050">
            <a:solidFill>
              <a:srgbClr val="6A1B9A"/>
            </a:solidFill>
            <a:prstDash val="solid"/>
          </a:ln>
        </p:spPr>
        <p:txBody>
          <a:bodyPr/>
          <a:lstStyle/>
          <a:p>
            <a:endParaRPr lang="en-US"/>
          </a:p>
        </p:txBody>
      </p:sp>
      <p:sp>
        <p:nvSpPr>
          <p:cNvPr id="16" name="Shape 14"/>
          <p:cNvSpPr/>
          <p:nvPr/>
        </p:nvSpPr>
        <p:spPr>
          <a:xfrm>
            <a:off x="182880" y="3108960"/>
            <a:ext cx="109728" cy="777240"/>
          </a:xfrm>
          <a:prstGeom prst="rect">
            <a:avLst/>
          </a:prstGeom>
          <a:solidFill>
            <a:srgbClr val="6A1B9A"/>
          </a:solidFill>
          <a:ln/>
        </p:spPr>
        <p:txBody>
          <a:bodyPr/>
          <a:lstStyle/>
          <a:p>
            <a:endParaRPr lang="en-US"/>
          </a:p>
        </p:txBody>
      </p:sp>
      <p:sp>
        <p:nvSpPr>
          <p:cNvPr id="17" name="Text 15"/>
          <p:cNvSpPr/>
          <p:nvPr/>
        </p:nvSpPr>
        <p:spPr>
          <a:xfrm>
            <a:off x="384048" y="3154680"/>
            <a:ext cx="1371600"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Transitory</a:t>
            </a:r>
            <a:endParaRPr lang="en-US" sz="1150" dirty="0"/>
          </a:p>
        </p:txBody>
      </p:sp>
      <p:sp>
        <p:nvSpPr>
          <p:cNvPr id="18" name="Text 16"/>
          <p:cNvSpPr/>
          <p:nvPr/>
        </p:nvSpPr>
        <p:spPr>
          <a:xfrm>
            <a:off x="1828800" y="3154680"/>
            <a:ext cx="2423160" cy="68580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Ki-67+, expanding</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Generated from progenitors</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after checkpoint blockade</a:t>
            </a:r>
            <a:endParaRPr lang="en-US" sz="1000" dirty="0"/>
          </a:p>
        </p:txBody>
      </p:sp>
      <p:sp>
        <p:nvSpPr>
          <p:cNvPr id="19" name="Shape 17"/>
          <p:cNvSpPr/>
          <p:nvPr/>
        </p:nvSpPr>
        <p:spPr>
          <a:xfrm>
            <a:off x="1463040" y="3886200"/>
            <a:ext cx="91440" cy="109728"/>
          </a:xfrm>
          <a:prstGeom prst="rect">
            <a:avLst/>
          </a:prstGeom>
          <a:solidFill>
            <a:srgbClr val="78909C"/>
          </a:solidFill>
          <a:ln/>
        </p:spPr>
        <p:txBody>
          <a:bodyPr/>
          <a:lstStyle/>
          <a:p>
            <a:endParaRPr lang="en-US"/>
          </a:p>
        </p:txBody>
      </p:sp>
      <p:sp>
        <p:nvSpPr>
          <p:cNvPr id="20" name="Shape 18"/>
          <p:cNvSpPr/>
          <p:nvPr/>
        </p:nvSpPr>
        <p:spPr>
          <a:xfrm>
            <a:off x="182880" y="4069080"/>
            <a:ext cx="4160520" cy="777240"/>
          </a:xfrm>
          <a:prstGeom prst="rect">
            <a:avLst/>
          </a:prstGeom>
          <a:solidFill>
            <a:srgbClr val="C62828">
              <a:alpha val="82000"/>
            </a:srgbClr>
          </a:solidFill>
          <a:ln w="19050">
            <a:solidFill>
              <a:srgbClr val="C62828"/>
            </a:solidFill>
            <a:prstDash val="solid"/>
          </a:ln>
        </p:spPr>
        <p:txBody>
          <a:bodyPr/>
          <a:lstStyle/>
          <a:p>
            <a:endParaRPr lang="en-US"/>
          </a:p>
        </p:txBody>
      </p:sp>
      <p:sp>
        <p:nvSpPr>
          <p:cNvPr id="21" name="Shape 19"/>
          <p:cNvSpPr/>
          <p:nvPr/>
        </p:nvSpPr>
        <p:spPr>
          <a:xfrm>
            <a:off x="182880" y="4069080"/>
            <a:ext cx="109728" cy="777240"/>
          </a:xfrm>
          <a:prstGeom prst="rect">
            <a:avLst/>
          </a:prstGeom>
          <a:solidFill>
            <a:srgbClr val="C62828"/>
          </a:solidFill>
          <a:ln/>
        </p:spPr>
        <p:txBody>
          <a:bodyPr/>
          <a:lstStyle/>
          <a:p>
            <a:endParaRPr lang="en-US"/>
          </a:p>
        </p:txBody>
      </p:sp>
      <p:sp>
        <p:nvSpPr>
          <p:cNvPr id="22" name="Text 20"/>
          <p:cNvSpPr/>
          <p:nvPr/>
        </p:nvSpPr>
        <p:spPr>
          <a:xfrm>
            <a:off x="384048" y="4114800"/>
            <a:ext cx="1371600" cy="685800"/>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Terminal</a:t>
            </a:r>
            <a:endParaRPr lang="en-US" sz="1150" dirty="0"/>
          </a:p>
          <a:p>
            <a:pPr marL="0" indent="0">
              <a:buNone/>
            </a:pPr>
            <a:r>
              <a:rPr lang="en-US" sz="1150" b="1" dirty="0">
                <a:solidFill>
                  <a:srgbClr val="FFFFFF"/>
                </a:solidFill>
                <a:latin typeface="Calibri" pitchFamily="34" charset="0"/>
                <a:ea typeface="Calibri" pitchFamily="34" charset="-122"/>
                <a:cs typeface="Calibri" pitchFamily="34" charset="-120"/>
              </a:rPr>
              <a:t>Exhausted</a:t>
            </a:r>
            <a:endParaRPr lang="en-US" sz="1150" dirty="0"/>
          </a:p>
        </p:txBody>
      </p:sp>
      <p:sp>
        <p:nvSpPr>
          <p:cNvPr id="23" name="Text 21"/>
          <p:cNvSpPr/>
          <p:nvPr/>
        </p:nvSpPr>
        <p:spPr>
          <a:xfrm>
            <a:off x="1828800" y="4114800"/>
            <a:ext cx="2423160" cy="68580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TIM-3+, TOXhi, CX3CR1-</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No self-renewal, AICD prone</a:t>
            </a:r>
            <a:endParaRPr lang="en-US" sz="1000" dirty="0"/>
          </a:p>
          <a:p>
            <a:pPr marL="0" indent="0">
              <a:buNone/>
            </a:pPr>
            <a:r>
              <a:rPr lang="en-US" sz="1000" dirty="0">
                <a:solidFill>
                  <a:srgbClr val="CFD8DC"/>
                </a:solidFill>
                <a:latin typeface="Calibri" pitchFamily="34" charset="0"/>
                <a:ea typeface="Calibri" pitchFamily="34" charset="-122"/>
                <a:cs typeface="Calibri" pitchFamily="34" charset="-120"/>
              </a:rPr>
              <a:t>Poor response to therapy</a:t>
            </a:r>
            <a:endParaRPr lang="en-US" sz="1000" dirty="0"/>
          </a:p>
        </p:txBody>
      </p:sp>
      <p:sp>
        <p:nvSpPr>
          <p:cNvPr id="24" name="Text 22"/>
          <p:cNvSpPr/>
          <p:nvPr/>
        </p:nvSpPr>
        <p:spPr>
          <a:xfrm>
            <a:off x="4800600" y="777240"/>
            <a:ext cx="4160520" cy="329184"/>
          </a:xfrm>
          <a:prstGeom prst="rect">
            <a:avLst/>
          </a:prstGeom>
          <a:noFill/>
          <a:ln/>
        </p:spPr>
        <p:txBody>
          <a:bodyPr wrap="square" lIns="0" tIns="0" rIns="0" bIns="0" rtlCol="0" anchor="ctr"/>
          <a:lstStyle/>
          <a:p>
            <a:pPr marL="0" indent="0">
              <a:buNone/>
            </a:pPr>
            <a:r>
              <a:rPr lang="en-US" sz="1300" b="1" kern="0" spc="200" dirty="0">
                <a:solidFill>
                  <a:srgbClr val="EF9A9A"/>
                </a:solidFill>
                <a:latin typeface="Calibri" pitchFamily="34" charset="0"/>
                <a:ea typeface="Calibri" pitchFamily="34" charset="-122"/>
                <a:cs typeface="Calibri" pitchFamily="34" charset="-120"/>
              </a:rPr>
              <a:t>THERAPEUTIC TARGETS</a:t>
            </a:r>
            <a:endParaRPr lang="en-US" sz="1300" dirty="0"/>
          </a:p>
        </p:txBody>
      </p:sp>
      <p:sp>
        <p:nvSpPr>
          <p:cNvPr id="25" name="Shape 23"/>
          <p:cNvSpPr/>
          <p:nvPr/>
        </p:nvSpPr>
        <p:spPr>
          <a:xfrm>
            <a:off x="4800600" y="1188720"/>
            <a:ext cx="4160520" cy="896112"/>
          </a:xfrm>
          <a:prstGeom prst="rect">
            <a:avLst/>
          </a:prstGeom>
          <a:solidFill>
            <a:srgbClr val="FFFFFF">
              <a:alpha val="95000"/>
            </a:srgbClr>
          </a:solidFill>
          <a:ln w="19050">
            <a:solidFill>
              <a:srgbClr val="6A1B9A"/>
            </a:solidFill>
            <a:prstDash val="solid"/>
          </a:ln>
        </p:spPr>
        <p:txBody>
          <a:bodyPr/>
          <a:lstStyle/>
          <a:p>
            <a:endParaRPr lang="en-US"/>
          </a:p>
        </p:txBody>
      </p:sp>
      <p:sp>
        <p:nvSpPr>
          <p:cNvPr id="26" name="Shape 24"/>
          <p:cNvSpPr/>
          <p:nvPr/>
        </p:nvSpPr>
        <p:spPr>
          <a:xfrm>
            <a:off x="4800600" y="1188720"/>
            <a:ext cx="4160520" cy="256032"/>
          </a:xfrm>
          <a:prstGeom prst="rect">
            <a:avLst/>
          </a:prstGeom>
          <a:solidFill>
            <a:srgbClr val="6A1B9A">
              <a:alpha val="90000"/>
            </a:srgbClr>
          </a:solidFill>
          <a:ln/>
        </p:spPr>
        <p:txBody>
          <a:bodyPr/>
          <a:lstStyle/>
          <a:p>
            <a:endParaRPr lang="en-US"/>
          </a:p>
        </p:txBody>
      </p:sp>
      <p:sp>
        <p:nvSpPr>
          <p:cNvPr id="27" name="Text 25"/>
          <p:cNvSpPr/>
          <p:nvPr/>
        </p:nvSpPr>
        <p:spPr>
          <a:xfrm>
            <a:off x="4892040" y="1188720"/>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anti-PD-1 / anti-PD-L1</a:t>
            </a:r>
            <a:endParaRPr lang="en-US" sz="1150" dirty="0"/>
          </a:p>
        </p:txBody>
      </p:sp>
      <p:sp>
        <p:nvSpPr>
          <p:cNvPr id="28" name="Text 26"/>
          <p:cNvSpPr/>
          <p:nvPr/>
        </p:nvSpPr>
        <p:spPr>
          <a:xfrm>
            <a:off x="4892040" y="1444752"/>
            <a:ext cx="3977640" cy="201168"/>
          </a:xfrm>
          <a:prstGeom prst="rect">
            <a:avLst/>
          </a:prstGeom>
          <a:noFill/>
          <a:ln/>
        </p:spPr>
        <p:txBody>
          <a:bodyPr wrap="square" lIns="0" tIns="0" rIns="0" bIns="0" rtlCol="0" anchor="ctr"/>
          <a:lstStyle/>
          <a:p>
            <a:pPr marL="0" indent="0">
              <a:buNone/>
            </a:pPr>
            <a:r>
              <a:rPr lang="en-US" sz="950" i="1" dirty="0">
                <a:solidFill>
                  <a:srgbClr val="6A1B9A"/>
                </a:solidFill>
                <a:latin typeface="Calibri" pitchFamily="34" charset="0"/>
                <a:ea typeface="Calibri" pitchFamily="34" charset="-122"/>
                <a:cs typeface="Calibri" pitchFamily="34" charset="-120"/>
              </a:rPr>
              <a:t>Pembrolizumab, Nivolumab, Atezolizumab</a:t>
            </a:r>
            <a:endParaRPr lang="en-US" sz="950" dirty="0"/>
          </a:p>
        </p:txBody>
      </p:sp>
      <p:sp>
        <p:nvSpPr>
          <p:cNvPr id="29" name="Text 27"/>
          <p:cNvSpPr/>
          <p:nvPr/>
        </p:nvSpPr>
        <p:spPr>
          <a:xfrm>
            <a:off x="4892040" y="1645920"/>
            <a:ext cx="3977640" cy="36576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Blocks SHP-2 activation; restores TCR signaling in progenitor Tex. Most effective at progenitor stage.</a:t>
            </a:r>
            <a:endParaRPr lang="en-US" sz="1000" dirty="0"/>
          </a:p>
        </p:txBody>
      </p:sp>
      <p:sp>
        <p:nvSpPr>
          <p:cNvPr id="30" name="Shape 28"/>
          <p:cNvSpPr/>
          <p:nvPr/>
        </p:nvSpPr>
        <p:spPr>
          <a:xfrm>
            <a:off x="4800600" y="2176272"/>
            <a:ext cx="4160520" cy="896112"/>
          </a:xfrm>
          <a:prstGeom prst="rect">
            <a:avLst/>
          </a:prstGeom>
          <a:solidFill>
            <a:srgbClr val="FFFFFF">
              <a:alpha val="95000"/>
            </a:srgbClr>
          </a:solidFill>
          <a:ln w="19050">
            <a:solidFill>
              <a:srgbClr val="1565C0"/>
            </a:solidFill>
            <a:prstDash val="solid"/>
          </a:ln>
        </p:spPr>
        <p:txBody>
          <a:bodyPr/>
          <a:lstStyle/>
          <a:p>
            <a:endParaRPr lang="en-US"/>
          </a:p>
        </p:txBody>
      </p:sp>
      <p:sp>
        <p:nvSpPr>
          <p:cNvPr id="31" name="Shape 29"/>
          <p:cNvSpPr/>
          <p:nvPr/>
        </p:nvSpPr>
        <p:spPr>
          <a:xfrm>
            <a:off x="4800600" y="2176272"/>
            <a:ext cx="4160520" cy="256032"/>
          </a:xfrm>
          <a:prstGeom prst="rect">
            <a:avLst/>
          </a:prstGeom>
          <a:solidFill>
            <a:srgbClr val="1565C0">
              <a:alpha val="90000"/>
            </a:srgbClr>
          </a:solidFill>
          <a:ln/>
        </p:spPr>
        <p:txBody>
          <a:bodyPr/>
          <a:lstStyle/>
          <a:p>
            <a:endParaRPr lang="en-US"/>
          </a:p>
        </p:txBody>
      </p:sp>
      <p:sp>
        <p:nvSpPr>
          <p:cNvPr id="32" name="Text 30"/>
          <p:cNvSpPr/>
          <p:nvPr/>
        </p:nvSpPr>
        <p:spPr>
          <a:xfrm>
            <a:off x="4892040" y="2176272"/>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anti-CTLA-4</a:t>
            </a:r>
            <a:endParaRPr lang="en-US" sz="1150" dirty="0"/>
          </a:p>
        </p:txBody>
      </p:sp>
      <p:sp>
        <p:nvSpPr>
          <p:cNvPr id="33" name="Text 31"/>
          <p:cNvSpPr/>
          <p:nvPr/>
        </p:nvSpPr>
        <p:spPr>
          <a:xfrm>
            <a:off x="4892040" y="2432304"/>
            <a:ext cx="3977640" cy="201168"/>
          </a:xfrm>
          <a:prstGeom prst="rect">
            <a:avLst/>
          </a:prstGeom>
          <a:noFill/>
          <a:ln/>
        </p:spPr>
        <p:txBody>
          <a:bodyPr wrap="square" lIns="0" tIns="0" rIns="0" bIns="0" rtlCol="0" anchor="ctr"/>
          <a:lstStyle/>
          <a:p>
            <a:pPr marL="0" indent="0">
              <a:buNone/>
            </a:pPr>
            <a:r>
              <a:rPr lang="en-US" sz="950" i="1" dirty="0">
                <a:solidFill>
                  <a:srgbClr val="1565C0"/>
                </a:solidFill>
                <a:latin typeface="Calibri" pitchFamily="34" charset="0"/>
                <a:ea typeface="Calibri" pitchFamily="34" charset="-122"/>
                <a:cs typeface="Calibri" pitchFamily="34" charset="-120"/>
              </a:rPr>
              <a:t>Ipilimumab, Tremelimumab</a:t>
            </a:r>
            <a:endParaRPr lang="en-US" sz="950" dirty="0"/>
          </a:p>
        </p:txBody>
      </p:sp>
      <p:sp>
        <p:nvSpPr>
          <p:cNvPr id="34" name="Text 32"/>
          <p:cNvSpPr/>
          <p:nvPr/>
        </p:nvSpPr>
        <p:spPr>
          <a:xfrm>
            <a:off x="4892040" y="2633472"/>
            <a:ext cx="3977640" cy="36576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Acts at priming phase. Depletes Tregs in TME via ADCC. Synergizes with anti-PD-1 in combination therapy.</a:t>
            </a:r>
            <a:endParaRPr lang="en-US" sz="1000" dirty="0"/>
          </a:p>
        </p:txBody>
      </p:sp>
      <p:sp>
        <p:nvSpPr>
          <p:cNvPr id="35" name="Shape 33"/>
          <p:cNvSpPr/>
          <p:nvPr/>
        </p:nvSpPr>
        <p:spPr>
          <a:xfrm>
            <a:off x="4800600" y="3163824"/>
            <a:ext cx="4160520" cy="896112"/>
          </a:xfrm>
          <a:prstGeom prst="rect">
            <a:avLst/>
          </a:prstGeom>
          <a:solidFill>
            <a:srgbClr val="FFFFFF">
              <a:alpha val="95000"/>
            </a:srgbClr>
          </a:solidFill>
          <a:ln w="19050">
            <a:solidFill>
              <a:srgbClr val="E65100"/>
            </a:solidFill>
            <a:prstDash val="solid"/>
          </a:ln>
        </p:spPr>
        <p:txBody>
          <a:bodyPr/>
          <a:lstStyle/>
          <a:p>
            <a:endParaRPr lang="en-US"/>
          </a:p>
        </p:txBody>
      </p:sp>
      <p:sp>
        <p:nvSpPr>
          <p:cNvPr id="36" name="Shape 34"/>
          <p:cNvSpPr/>
          <p:nvPr/>
        </p:nvSpPr>
        <p:spPr>
          <a:xfrm>
            <a:off x="4800600" y="3163824"/>
            <a:ext cx="4160520" cy="256032"/>
          </a:xfrm>
          <a:prstGeom prst="rect">
            <a:avLst/>
          </a:prstGeom>
          <a:solidFill>
            <a:srgbClr val="E65100">
              <a:alpha val="90000"/>
            </a:srgbClr>
          </a:solidFill>
          <a:ln/>
        </p:spPr>
        <p:txBody>
          <a:bodyPr/>
          <a:lstStyle/>
          <a:p>
            <a:endParaRPr lang="en-US"/>
          </a:p>
        </p:txBody>
      </p:sp>
      <p:sp>
        <p:nvSpPr>
          <p:cNvPr id="37" name="Text 35"/>
          <p:cNvSpPr/>
          <p:nvPr/>
        </p:nvSpPr>
        <p:spPr>
          <a:xfrm>
            <a:off x="4892040" y="3163824"/>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anti-LAG-3</a:t>
            </a:r>
            <a:endParaRPr lang="en-US" sz="1150" dirty="0"/>
          </a:p>
        </p:txBody>
      </p:sp>
      <p:sp>
        <p:nvSpPr>
          <p:cNvPr id="38" name="Text 36"/>
          <p:cNvSpPr/>
          <p:nvPr/>
        </p:nvSpPr>
        <p:spPr>
          <a:xfrm>
            <a:off x="4892040" y="3419856"/>
            <a:ext cx="3977640" cy="201168"/>
          </a:xfrm>
          <a:prstGeom prst="rect">
            <a:avLst/>
          </a:prstGeom>
          <a:noFill/>
          <a:ln/>
        </p:spPr>
        <p:txBody>
          <a:bodyPr wrap="square" lIns="0" tIns="0" rIns="0" bIns="0" rtlCol="0" anchor="ctr"/>
          <a:lstStyle/>
          <a:p>
            <a:pPr marL="0" indent="0">
              <a:buNone/>
            </a:pPr>
            <a:r>
              <a:rPr lang="en-US" sz="950" i="1" dirty="0">
                <a:solidFill>
                  <a:srgbClr val="E65100"/>
                </a:solidFill>
                <a:latin typeface="Calibri" pitchFamily="34" charset="0"/>
                <a:ea typeface="Calibri" pitchFamily="34" charset="-122"/>
                <a:cs typeface="Calibri" pitchFamily="34" charset="-120"/>
              </a:rPr>
              <a:t>Relatlimab (+ Nivolumab = Opdualag)</a:t>
            </a:r>
            <a:endParaRPr lang="en-US" sz="950" dirty="0"/>
          </a:p>
        </p:txBody>
      </p:sp>
      <p:sp>
        <p:nvSpPr>
          <p:cNvPr id="39" name="Text 37"/>
          <p:cNvSpPr/>
          <p:nvPr/>
        </p:nvSpPr>
        <p:spPr>
          <a:xfrm>
            <a:off x="4892040" y="3621024"/>
            <a:ext cx="3977640" cy="36576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LAG-3 binds MHC-II; blockade enhances TCR signaling. Approved for melanoma in combination with PD-1.</a:t>
            </a:r>
            <a:endParaRPr lang="en-US" sz="1000" dirty="0"/>
          </a:p>
        </p:txBody>
      </p:sp>
      <p:sp>
        <p:nvSpPr>
          <p:cNvPr id="40" name="Shape 38"/>
          <p:cNvSpPr/>
          <p:nvPr/>
        </p:nvSpPr>
        <p:spPr>
          <a:xfrm>
            <a:off x="4800600" y="4151376"/>
            <a:ext cx="4160520" cy="896112"/>
          </a:xfrm>
          <a:prstGeom prst="rect">
            <a:avLst/>
          </a:prstGeom>
          <a:solidFill>
            <a:srgbClr val="FFFFFF">
              <a:alpha val="95000"/>
            </a:srgbClr>
          </a:solidFill>
          <a:ln w="19050">
            <a:solidFill>
              <a:srgbClr val="F9A825"/>
            </a:solidFill>
            <a:prstDash val="solid"/>
          </a:ln>
        </p:spPr>
        <p:txBody>
          <a:bodyPr/>
          <a:lstStyle/>
          <a:p>
            <a:endParaRPr lang="en-US"/>
          </a:p>
        </p:txBody>
      </p:sp>
      <p:sp>
        <p:nvSpPr>
          <p:cNvPr id="41" name="Shape 39"/>
          <p:cNvSpPr/>
          <p:nvPr/>
        </p:nvSpPr>
        <p:spPr>
          <a:xfrm>
            <a:off x="4800600" y="4151376"/>
            <a:ext cx="4160520" cy="256032"/>
          </a:xfrm>
          <a:prstGeom prst="rect">
            <a:avLst/>
          </a:prstGeom>
          <a:solidFill>
            <a:srgbClr val="F9A825">
              <a:alpha val="90000"/>
            </a:srgbClr>
          </a:solidFill>
          <a:ln/>
        </p:spPr>
        <p:txBody>
          <a:bodyPr/>
          <a:lstStyle/>
          <a:p>
            <a:endParaRPr lang="en-US"/>
          </a:p>
        </p:txBody>
      </p:sp>
      <p:sp>
        <p:nvSpPr>
          <p:cNvPr id="42" name="Text 40"/>
          <p:cNvSpPr/>
          <p:nvPr/>
        </p:nvSpPr>
        <p:spPr>
          <a:xfrm>
            <a:off x="4892040" y="4151376"/>
            <a:ext cx="2926080" cy="256032"/>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anti-TIM-3 / anti-TIGIT</a:t>
            </a:r>
            <a:endParaRPr lang="en-US" sz="1150" dirty="0"/>
          </a:p>
        </p:txBody>
      </p:sp>
      <p:sp>
        <p:nvSpPr>
          <p:cNvPr id="43" name="Text 41"/>
          <p:cNvSpPr/>
          <p:nvPr/>
        </p:nvSpPr>
        <p:spPr>
          <a:xfrm>
            <a:off x="4892040" y="4407408"/>
            <a:ext cx="3977640" cy="201168"/>
          </a:xfrm>
          <a:prstGeom prst="rect">
            <a:avLst/>
          </a:prstGeom>
          <a:noFill/>
          <a:ln/>
        </p:spPr>
        <p:txBody>
          <a:bodyPr wrap="square" lIns="0" tIns="0" rIns="0" bIns="0" rtlCol="0" anchor="ctr"/>
          <a:lstStyle/>
          <a:p>
            <a:pPr marL="0" indent="0">
              <a:buNone/>
            </a:pPr>
            <a:r>
              <a:rPr lang="en-US" sz="950" i="1" dirty="0">
                <a:solidFill>
                  <a:srgbClr val="F9A825"/>
                </a:solidFill>
                <a:latin typeface="Calibri" pitchFamily="34" charset="0"/>
                <a:ea typeface="Calibri" pitchFamily="34" charset="-122"/>
                <a:cs typeface="Calibri" pitchFamily="34" charset="-120"/>
              </a:rPr>
              <a:t>Sabatolimab, Tiragolumab (trials)</a:t>
            </a:r>
            <a:endParaRPr lang="en-US" sz="950" dirty="0"/>
          </a:p>
        </p:txBody>
      </p:sp>
      <p:sp>
        <p:nvSpPr>
          <p:cNvPr id="44" name="Text 42"/>
          <p:cNvSpPr/>
          <p:nvPr/>
        </p:nvSpPr>
        <p:spPr>
          <a:xfrm>
            <a:off x="4892040" y="4608576"/>
            <a:ext cx="3977640" cy="365760"/>
          </a:xfrm>
          <a:prstGeom prst="rect">
            <a:avLst/>
          </a:prstGeom>
          <a:noFill/>
          <a:ln/>
        </p:spPr>
        <p:txBody>
          <a:bodyPr wrap="square" lIns="0" tIns="0" rIns="0" bIns="0" rtlCol="0" anchor="ctr"/>
          <a:lstStyle/>
          <a:p>
            <a:pPr marL="0" indent="0">
              <a:buNone/>
            </a:pPr>
            <a:r>
              <a:rPr lang="en-US" sz="1000" dirty="0">
                <a:solidFill>
                  <a:srgbClr val="CFD8DC"/>
                </a:solidFill>
                <a:latin typeface="Calibri" pitchFamily="34" charset="0"/>
                <a:ea typeface="Calibri" pitchFamily="34" charset="-122"/>
                <a:cs typeface="Calibri" pitchFamily="34" charset="-120"/>
              </a:rPr>
              <a:t>Target terminally exhausted cells. In trials alone and in combination. TIGIT competes with CD226 for CD155.</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7772400" y="365760"/>
            <a:ext cx="3200400" cy="3200400"/>
          </a:xfrm>
          <a:prstGeom prst="ellipse">
            <a:avLst/>
          </a:prstGeom>
          <a:solidFill>
            <a:srgbClr val="1565C0">
              <a:alpha val="12000"/>
            </a:srgbClr>
          </a:solidFill>
          <a:ln/>
        </p:spPr>
        <p:txBody>
          <a:bodyPr/>
          <a:lstStyle/>
          <a:p>
            <a:endParaRPr lang="en-US"/>
          </a:p>
        </p:txBody>
      </p:sp>
      <p:sp>
        <p:nvSpPr>
          <p:cNvPr id="3" name="Shape 1"/>
          <p:cNvSpPr/>
          <p:nvPr/>
        </p:nvSpPr>
        <p:spPr>
          <a:xfrm>
            <a:off x="6400800" y="3566160"/>
            <a:ext cx="2286000" cy="2286000"/>
          </a:xfrm>
          <a:prstGeom prst="ellipse">
            <a:avLst/>
          </a:prstGeom>
          <a:solidFill>
            <a:srgbClr val="00897B">
              <a:alpha val="14000"/>
            </a:srgbClr>
          </a:solidFill>
          <a:ln/>
        </p:spPr>
        <p:txBody>
          <a:bodyPr/>
          <a:lstStyle/>
          <a:p>
            <a:endParaRPr lang="en-US"/>
          </a:p>
        </p:txBody>
      </p:sp>
      <p:sp>
        <p:nvSpPr>
          <p:cNvPr id="4" name="Text 2"/>
          <p:cNvSpPr/>
          <p:nvPr/>
        </p:nvSpPr>
        <p:spPr>
          <a:xfrm>
            <a:off x="411480" y="228600"/>
            <a:ext cx="5486400" cy="621792"/>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5" name="Shape 3"/>
          <p:cNvSpPr/>
          <p:nvPr/>
        </p:nvSpPr>
        <p:spPr>
          <a:xfrm>
            <a:off x="411480" y="896112"/>
            <a:ext cx="5486400" cy="45720"/>
          </a:xfrm>
          <a:prstGeom prst="rect">
            <a:avLst/>
          </a:prstGeom>
          <a:solidFill>
            <a:srgbClr val="00897B"/>
          </a:solidFill>
          <a:ln/>
        </p:spPr>
        <p:txBody>
          <a:bodyPr/>
          <a:lstStyle/>
          <a:p>
            <a:endParaRPr lang="en-US"/>
          </a:p>
        </p:txBody>
      </p:sp>
      <p:sp>
        <p:nvSpPr>
          <p:cNvPr id="6" name="Shape 4"/>
          <p:cNvSpPr/>
          <p:nvPr/>
        </p:nvSpPr>
        <p:spPr>
          <a:xfrm>
            <a:off x="411480" y="1051560"/>
            <a:ext cx="475488" cy="475488"/>
          </a:xfrm>
          <a:prstGeom prst="ellipse">
            <a:avLst/>
          </a:prstGeom>
          <a:solidFill>
            <a:srgbClr val="E65100"/>
          </a:solidFill>
          <a:ln/>
        </p:spPr>
        <p:txBody>
          <a:bodyPr/>
          <a:lstStyle/>
          <a:p>
            <a:endParaRPr lang="en-US"/>
          </a:p>
        </p:txBody>
      </p:sp>
      <p:sp>
        <p:nvSpPr>
          <p:cNvPr id="7" name="Text 5"/>
          <p:cNvSpPr/>
          <p:nvPr/>
        </p:nvSpPr>
        <p:spPr>
          <a:xfrm>
            <a:off x="411480" y="105156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A</a:t>
            </a:r>
            <a:endParaRPr lang="en-US" sz="1700" dirty="0"/>
          </a:p>
        </p:txBody>
      </p:sp>
      <p:sp>
        <p:nvSpPr>
          <p:cNvPr id="8" name="Text 6"/>
          <p:cNvSpPr/>
          <p:nvPr/>
        </p:nvSpPr>
        <p:spPr>
          <a:xfrm>
            <a:off x="1051560" y="1024128"/>
            <a:ext cx="7726680" cy="530352"/>
          </a:xfrm>
          <a:prstGeom prst="rect">
            <a:avLst/>
          </a:prstGeom>
          <a:noFill/>
          <a:ln/>
        </p:spPr>
        <p:txBody>
          <a:bodyPr wrap="square" lIns="0" tIns="0" rIns="0" bIns="0" rtlCol="0" anchor="ctr"/>
          <a:lstStyle/>
          <a:p>
            <a:pPr marL="0" indent="0">
              <a:buNone/>
            </a:pPr>
            <a:r>
              <a:rPr lang="en-US" sz="1150" dirty="0">
                <a:solidFill>
                  <a:srgbClr val="CFD8DC"/>
                </a:solidFill>
                <a:latin typeface="Calibri" pitchFamily="34" charset="0"/>
                <a:ea typeface="Calibri" pitchFamily="34" charset="-122"/>
                <a:cs typeface="Calibri" pitchFamily="34" charset="-120"/>
              </a:rPr>
              <a:t>Three fates arise after antigen exposure: Effectors kill acutely; Memory cells self-renew for durable protection; Exhausted cells are epigenetically locked into dysfunction — but progenitor subsets remain targetable.</a:t>
            </a:r>
            <a:endParaRPr lang="en-US" sz="1150" dirty="0"/>
          </a:p>
        </p:txBody>
      </p:sp>
      <p:sp>
        <p:nvSpPr>
          <p:cNvPr id="9" name="Shape 7"/>
          <p:cNvSpPr/>
          <p:nvPr/>
        </p:nvSpPr>
        <p:spPr>
          <a:xfrm>
            <a:off x="411480" y="2011680"/>
            <a:ext cx="475488" cy="475488"/>
          </a:xfrm>
          <a:prstGeom prst="ellipse">
            <a:avLst/>
          </a:prstGeom>
          <a:solidFill>
            <a:srgbClr val="1565C0"/>
          </a:solidFill>
          <a:ln/>
        </p:spPr>
        <p:txBody>
          <a:bodyPr/>
          <a:lstStyle/>
          <a:p>
            <a:endParaRPr lang="en-US"/>
          </a:p>
        </p:txBody>
      </p:sp>
      <p:sp>
        <p:nvSpPr>
          <p:cNvPr id="10" name="Text 8"/>
          <p:cNvSpPr/>
          <p:nvPr/>
        </p:nvSpPr>
        <p:spPr>
          <a:xfrm>
            <a:off x="411480" y="201168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a:t>
            </a:r>
            <a:endParaRPr lang="en-US" sz="1700" dirty="0"/>
          </a:p>
        </p:txBody>
      </p:sp>
      <p:sp>
        <p:nvSpPr>
          <p:cNvPr id="11" name="Text 9"/>
          <p:cNvSpPr/>
          <p:nvPr/>
        </p:nvSpPr>
        <p:spPr>
          <a:xfrm>
            <a:off x="1051560" y="1984248"/>
            <a:ext cx="7726680" cy="530352"/>
          </a:xfrm>
          <a:prstGeom prst="rect">
            <a:avLst/>
          </a:prstGeom>
          <a:noFill/>
          <a:ln/>
        </p:spPr>
        <p:txBody>
          <a:bodyPr wrap="square" lIns="0" tIns="0" rIns="0" bIns="0" rtlCol="0" anchor="ctr"/>
          <a:lstStyle/>
          <a:p>
            <a:pPr marL="0" indent="0">
              <a:buNone/>
            </a:pPr>
            <a:r>
              <a:rPr lang="en-US" sz="1150" dirty="0">
                <a:solidFill>
                  <a:srgbClr val="CFD8DC"/>
                </a:solidFill>
                <a:latin typeface="Calibri" pitchFamily="34" charset="0"/>
                <a:ea typeface="Calibri" pitchFamily="34" charset="-122"/>
                <a:cs typeface="Calibri" pitchFamily="34" charset="-120"/>
              </a:rPr>
              <a:t>Fate is determined by TCR signal strength, co-stimulation (CD28:B7), and cytokine context (IL-12 vs. TGF-β). Key TFs: T-bet (effector), FOXO1/TCF-1/Eomes (memory), TOX/NR4A1 (exhaustion). mTOR vs. FOXO1 balance is central.</a:t>
            </a:r>
            <a:endParaRPr lang="en-US" sz="1150" dirty="0"/>
          </a:p>
        </p:txBody>
      </p:sp>
      <p:sp>
        <p:nvSpPr>
          <p:cNvPr id="12" name="Shape 10"/>
          <p:cNvSpPr/>
          <p:nvPr/>
        </p:nvSpPr>
        <p:spPr>
          <a:xfrm>
            <a:off x="411480" y="2971800"/>
            <a:ext cx="475488" cy="475488"/>
          </a:xfrm>
          <a:prstGeom prst="ellipse">
            <a:avLst/>
          </a:prstGeom>
          <a:solidFill>
            <a:srgbClr val="F9A825"/>
          </a:solidFill>
          <a:ln/>
        </p:spPr>
        <p:txBody>
          <a:bodyPr/>
          <a:lstStyle/>
          <a:p>
            <a:endParaRPr lang="en-US"/>
          </a:p>
        </p:txBody>
      </p:sp>
      <p:sp>
        <p:nvSpPr>
          <p:cNvPr id="13" name="Text 11"/>
          <p:cNvSpPr/>
          <p:nvPr/>
        </p:nvSpPr>
        <p:spPr>
          <a:xfrm>
            <a:off x="411480" y="297180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a:t>
            </a:r>
            <a:endParaRPr lang="en-US" sz="1700" dirty="0"/>
          </a:p>
        </p:txBody>
      </p:sp>
      <p:sp>
        <p:nvSpPr>
          <p:cNvPr id="14" name="Text 12"/>
          <p:cNvSpPr/>
          <p:nvPr/>
        </p:nvSpPr>
        <p:spPr>
          <a:xfrm>
            <a:off x="1051560" y="2944368"/>
            <a:ext cx="7726680" cy="530352"/>
          </a:xfrm>
          <a:prstGeom prst="rect">
            <a:avLst/>
          </a:prstGeom>
          <a:noFill/>
          <a:ln/>
        </p:spPr>
        <p:txBody>
          <a:bodyPr wrap="square" lIns="0" tIns="0" rIns="0" bIns="0" rtlCol="0" anchor="ctr"/>
          <a:lstStyle/>
          <a:p>
            <a:pPr marL="0" indent="0">
              <a:buNone/>
            </a:pPr>
            <a:r>
              <a:rPr lang="en-US" sz="1150" dirty="0">
                <a:solidFill>
                  <a:srgbClr val="CFD8DC"/>
                </a:solidFill>
                <a:latin typeface="Calibri" pitchFamily="34" charset="0"/>
                <a:ea typeface="Calibri" pitchFamily="34" charset="-122"/>
                <a:cs typeface="Calibri" pitchFamily="34" charset="-120"/>
              </a:rPr>
              <a:t>CD4 T cell help licenses DCs (CD40L→CD40), provides IL-2 in trans, and prevents exhaustion. Without it, CD8 cells undergo helpless priming. Vaccines must include MHC-II epitopes and Th1-promoting adjuvants.</a:t>
            </a:r>
            <a:endParaRPr lang="en-US" sz="1150" dirty="0"/>
          </a:p>
        </p:txBody>
      </p:sp>
      <p:sp>
        <p:nvSpPr>
          <p:cNvPr id="15" name="Shape 13"/>
          <p:cNvSpPr/>
          <p:nvPr/>
        </p:nvSpPr>
        <p:spPr>
          <a:xfrm>
            <a:off x="411480" y="3931920"/>
            <a:ext cx="475488" cy="475488"/>
          </a:xfrm>
          <a:prstGeom prst="ellipse">
            <a:avLst/>
          </a:prstGeom>
          <a:solidFill>
            <a:srgbClr val="00897B"/>
          </a:solidFill>
          <a:ln/>
        </p:spPr>
        <p:txBody>
          <a:bodyPr/>
          <a:lstStyle/>
          <a:p>
            <a:endParaRPr lang="en-US"/>
          </a:p>
        </p:txBody>
      </p:sp>
      <p:sp>
        <p:nvSpPr>
          <p:cNvPr id="16" name="Text 14"/>
          <p:cNvSpPr/>
          <p:nvPr/>
        </p:nvSpPr>
        <p:spPr>
          <a:xfrm>
            <a:off x="411480" y="3931920"/>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D</a:t>
            </a:r>
            <a:endParaRPr lang="en-US" sz="1700" dirty="0"/>
          </a:p>
        </p:txBody>
      </p:sp>
      <p:sp>
        <p:nvSpPr>
          <p:cNvPr id="17" name="Text 15"/>
          <p:cNvSpPr/>
          <p:nvPr/>
        </p:nvSpPr>
        <p:spPr>
          <a:xfrm>
            <a:off x="1051560" y="3904488"/>
            <a:ext cx="7726680" cy="530352"/>
          </a:xfrm>
          <a:prstGeom prst="rect">
            <a:avLst/>
          </a:prstGeom>
          <a:noFill/>
          <a:ln/>
        </p:spPr>
        <p:txBody>
          <a:bodyPr wrap="square" lIns="0" tIns="0" rIns="0" bIns="0" rtlCol="0" anchor="ctr"/>
          <a:lstStyle/>
          <a:p>
            <a:pPr marL="0" indent="0">
              <a:buNone/>
            </a:pPr>
            <a:r>
              <a:rPr lang="en-US" sz="1150" dirty="0">
                <a:solidFill>
                  <a:srgbClr val="CFD8DC"/>
                </a:solidFill>
                <a:latin typeface="Calibri" pitchFamily="34" charset="0"/>
                <a:ea typeface="Calibri" pitchFamily="34" charset="-122"/>
                <a:cs typeface="Calibri" pitchFamily="34" charset="-120"/>
              </a:rPr>
              <a:t>Lower-affinity TCR clones survive contraction to form memory (avoiding AICD via weaker Fas/Bim signals). This preserves breadth and cross-reactivity — critical for variant pathogens and mutated tumor neoantigens.</a:t>
            </a:r>
            <a:endParaRPr lang="en-US" sz="1150" dirty="0"/>
          </a:p>
        </p:txBody>
      </p:sp>
      <p:sp>
        <p:nvSpPr>
          <p:cNvPr id="18" name="Text 16"/>
          <p:cNvSpPr/>
          <p:nvPr/>
        </p:nvSpPr>
        <p:spPr>
          <a:xfrm>
            <a:off x="411480" y="4773168"/>
            <a:ext cx="8321040" cy="292608"/>
          </a:xfrm>
          <a:prstGeom prst="rect">
            <a:avLst/>
          </a:prstGeom>
          <a:noFill/>
          <a:ln/>
        </p:spPr>
        <p:txBody>
          <a:bodyPr wrap="square" lIns="0" tIns="0" rIns="0" bIns="0" rtlCol="0" anchor="ctr"/>
          <a:lstStyle/>
          <a:p>
            <a:pPr marL="0" indent="0" algn="ctr">
              <a:buNone/>
            </a:pPr>
            <a:r>
              <a:rPr lang="en-US" sz="1100" i="1" dirty="0">
                <a:solidFill>
                  <a:srgbClr val="78909C"/>
                </a:solidFill>
                <a:latin typeface="Calibri" pitchFamily="34" charset="0"/>
                <a:ea typeface="Calibri" pitchFamily="34" charset="-122"/>
                <a:cs typeface="Calibri" pitchFamily="34" charset="-120"/>
              </a:rPr>
              <a:t>"The identity of a T cell is written not just in its genes, but in the history of its encounters with antigen."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9A08FA5C326814F817E4FEB885238B2" ma:contentTypeVersion="12" ma:contentTypeDescription="Create a new document." ma:contentTypeScope="" ma:versionID="bf3de83d642c0e01a64502396fc5c2fa">
  <xsd:schema xmlns:xsd="http://www.w3.org/2001/XMLSchema" xmlns:xs="http://www.w3.org/2001/XMLSchema" xmlns:p="http://schemas.microsoft.com/office/2006/metadata/properties" xmlns:ns2="0a900be4-3466-44f0-8430-116a3d267e47" xmlns:ns3="02cdf11d-2c4d-4823-a6bf-8e5048390f3c" targetNamespace="http://schemas.microsoft.com/office/2006/metadata/properties" ma:root="true" ma:fieldsID="b5ca49283c265a21ee4737c1932731dd" ns2:_="" ns3:_="">
    <xsd:import namespace="0a900be4-3466-44f0-8430-116a3d267e47"/>
    <xsd:import namespace="02cdf11d-2c4d-4823-a6bf-8e5048390f3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900be4-3466-44f0-8430-116a3d267e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0978abb-16d7-43ba-9d2e-4710fb404f9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2cdf11d-2c4d-4823-a6bf-8e5048390f3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61c5a91-7e74-446a-bef2-1aa7614a796c}" ma:internalName="TaxCatchAll" ma:showField="CatchAllData" ma:web="02cdf11d-2c4d-4823-a6bf-8e5048390f3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900be4-3466-44f0-8430-116a3d267e47">
      <Terms xmlns="http://schemas.microsoft.com/office/infopath/2007/PartnerControls"/>
    </lcf76f155ced4ddcb4097134ff3c332f>
    <TaxCatchAll xmlns="02cdf11d-2c4d-4823-a6bf-8e5048390f3c" xsi:nil="true"/>
  </documentManagement>
</p:properties>
</file>

<file path=customXml/itemProps1.xml><?xml version="1.0" encoding="utf-8"?>
<ds:datastoreItem xmlns:ds="http://schemas.openxmlformats.org/officeDocument/2006/customXml" ds:itemID="{B0BF4863-DB9E-49DB-BCAD-178FF20BCF8C}">
  <ds:schemaRefs>
    <ds:schemaRef ds:uri="http://schemas.microsoft.com/sharepoint/v3/contenttype/forms"/>
  </ds:schemaRefs>
</ds:datastoreItem>
</file>

<file path=customXml/itemProps2.xml><?xml version="1.0" encoding="utf-8"?>
<ds:datastoreItem xmlns:ds="http://schemas.openxmlformats.org/officeDocument/2006/customXml" ds:itemID="{0FCE084F-DE23-410E-B959-B59389BB35E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900be4-3466-44f0-8430-116a3d267e47"/>
    <ds:schemaRef ds:uri="02cdf11d-2c4d-4823-a6bf-8e5048390f3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8FC4B3-19A5-4857-8EB1-4FE673B92CB1}">
  <ds:schemaRefs>
    <ds:schemaRef ds:uri="http://schemas.microsoft.com/office/2006/metadata/properties"/>
    <ds:schemaRef ds:uri="http://schemas.microsoft.com/office/infopath/2007/PartnerControls"/>
    <ds:schemaRef ds:uri="0a900be4-3466-44f0-8430-116a3d267e47"/>
    <ds:schemaRef ds:uri="02cdf11d-2c4d-4823-a6bf-8e5048390f3c"/>
  </ds:schemaRefs>
</ds:datastoreItem>
</file>

<file path=docProps/app.xml><?xml version="1.0" encoding="utf-8"?>
<Properties xmlns="http://schemas.openxmlformats.org/officeDocument/2006/extended-properties" xmlns:vt="http://schemas.openxmlformats.org/officeDocument/2006/docPropsVTypes">
  <TotalTime>280</TotalTime>
  <Words>3786</Words>
  <Application>Microsoft Macintosh PowerPoint</Application>
  <PresentationFormat>On-screen Show (16:9)</PresentationFormat>
  <Paragraphs>244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CD8 T Cell Fates &amp; Tumor Immunotherapy</dc:title>
  <dc:subject>PptxGenJS Presentation</dc:subject>
  <dc:creator>PptxGenJS</dc:creator>
  <cp:lastModifiedBy>Om Sanan</cp:lastModifiedBy>
  <cp:revision>7</cp:revision>
  <dcterms:created xsi:type="dcterms:W3CDTF">2026-03-07T17:27:49Z</dcterms:created>
  <dcterms:modified xsi:type="dcterms:W3CDTF">2026-03-16T21:00:05Z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0x01010089A08FA5C326814F817E4FEB885238B2</vt:lpwstr>
  </property>
</Properties>
</file>